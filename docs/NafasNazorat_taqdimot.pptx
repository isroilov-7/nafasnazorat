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uammo" id="{26639e35-27c8-3108-0425-dbc7cdce752a}">
          <p14:sldIdLst>
            <p14:sldId id="256"/>
            <p14:sldId id="257"/>
            <p14:sldId id="258"/>
          </p14:sldIdLst>
        </p14:section>
        <p14:section name="Yechim strategiyasi" id="{eb018d4b-848f-6741-9402-6fda1223f344}">
          <p14:sldIdLst>
            <p14:sldId id="259"/>
          </p14:sldIdLst>
        </p14:section>
        <p14:section name="Asos (MVP)" id="{bd22557c-38ad-dba6-0048-e120fd8bac47}">
          <p14:sldIdLst>
            <p14:sldId id="260"/>
            <p14:sldId id="261"/>
            <p14:sldId id="262"/>
            <p14:sldId id="263"/>
            <p14:sldId id="264"/>
          </p14:sldIdLst>
        </p14:section>
        <p14:section name="Yuksaltirish" id="{60b94468-46b1-4e79-437d-d92803cca4c8}">
          <p14:sldIdLst>
            <p14:sldId id="265"/>
          </p14:sldIdLst>
        </p14:section>
        <p14:section name="Tadqiqot istiqboli" id="{8d25fd51-5ab7-38c9-d563-5698c512de3b}">
          <p14:sldIdLst>
            <p14:sldId id="266"/>
          </p14:sldIdLst>
        </p14:section>
        <p14:section name="Holat va reja" id="{7e8ebf4c-a9af-7f4a-9df5-dec3b7ed1dbe}">
          <p14:sldIdLst>
            <p14:sldId id="267"/>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Assalomu alaykum. NafasNazorat — oʻpkaning surunkali obstruktiv kasalligini, yaʼni OSOKni, birlamchi tibbiyot boʻgʻinida erta aniqlashga yordam beradigan platforma. Asosiy gʻoya: spirometr va tayyorlangan texnik boʻlmagan joyda ham kimni tekshirish kerakligini aniqlash. Taqdimot oxirida jonli prototipni koʻrsataman.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OSOK — oʻpkaning surunkali obstruktiv kasalligi. JSST maʼlumotiga koʻra 2021-yilda 3,5 million kishi shu kasallikdan vafot etgan, bu dunyoda toʻrtinchi oʻrin. Asosiy muammo — kasallik sekin rivojlanadi va koʻpincha kech aniqlanadi. Oʻzbekiston boʻyicha raqamlarni rasmiy manbadan qoʻying.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Muammo faqat qurilmada emas. Birinchi — spirometr kam. Ikkinchi — uni toʻgʻri ishlatadigan texnik kam. Uchinchi — xavf omillari keng tarqalgan: chekish, qishloqda tandir va oʻchoq tutuni, paxta va qurilish changi. Toʻrtinchi — oʻlchov boʻlsa ham, uni toʻgʻri talqin qilish murakkab.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Strategiyamiz uch bosqichli. Birinchisi — asos: hech qanday qurilmasiz, validatsiyalangan savolnoma orqali case-finding va natijani talqin qilish. Bu bugun ishlaydi va GOLD tomonidan qoʻllab-quvvatlanadi. Ikkinchisi — yuksaltirish: arzon portativ spirometrni ulash. Uchinchisi — tadqiqot istiqboli: telefon mikrofoni. Loyihaning qiymati birinchi bosqichda; uchinchisi — ilmiy yoʻnalish, unga bogʻliq emasmiz.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MVPning markazi — oʻlchovsiz case-finding. Shifokor yoki hamshira validatsiyalangan savolnomalarni toʻldiradi: mMRC va CAT, hamda xavf omillari. Qurilma talab qilinmaydi, GOLD tavsiyalariga mos, prototip allaqachon ishlab turibdi. Natija tashxis emas, balki spirometriya yoki pulmonolog koʻrigi kerakligi ehtimoli.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Ish oqimi besh qadamdan iborat va taxminan besh daqiqa oladi: bemor maʼlumotlari, xavf omillari, simptomlar, mMRC va CAT shkalalari, natija. Hammasi bemor kartasida saqlanadi va dinamikada koʻrinadi.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Tizim nafaqat “yuqori ehtimollik” deydi, balki sababini ham koʻrsatadi: masalan, 40 quti-yil chekish va mMRC 3. Har bir omil qancha ball qoʻshgani koʻrinadi. Xavf darajasi doim rang, ikon va matn bilan beriladi. Model vaznlari versiyalangan sozlamada; ular mahalliy maʼlumotlarda tasdiqlanadi.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Spirometriya talqini: shifokor FEV1 va FVC qiymatlarini kiritadi. Tizim nisbatni, GLI-2012 boʻyicha kutilgan qiymatdan foizni hisoblaydi, obstruksiyani qatʼiy nisbat yoki LLN boʻyicha aniqlaydi va GOLD darajasini beradi. Maʼlumot yetishmasa — taxmin qilmaydi, aniq aytadi. Ochiq savol: Oʻzbekiston aholisi uchun qaysi GLI guruhi toʻgʻri — buni klinik mutaxassislar tasdiqlashi kerak.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Tizim tashxis qoʻymaydi, bu har bir natija ekranida yozilgan. Bemorning ismi va telefoni faqat uning kartasida; tadqiqot uchun tasodifiy psevdonim ID. Faqat rozilik bergan bemorlar anonim eksportga kiradi. Audit jurnali kim nimani kiritganini saqlaydi, shaxsiy qiymatlarni emas.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Keyingi bosqich — yuksaltirish. Arzon portativ spirometr Bluetooth yoki USB orqali ulanadi. Oʻlchovni qurilma bajaradi, tizim natijani avtomatik oʻqiydi, talqin qiladi va bemor kartasiga saqlaydi. Bitta qurilma butun punktga xizmat qiladi, chunki savolnoma avval kimni oʻlchash kerakligini saralaydi. Aniq qurilma modeli va narxini qoʻshing.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Telefon mikrofoni orqali oʻpka funksiyasini baholash tadqiqotlarda ishlagan: SpiroSmart taxminan 5 foiz, SpiroSonic 3 foizdan kam xatolik. Lekin bu usullar sertifikatlanmagan va texnikaga juda sezgir. Shuning uchun buni mahsulot emas, ilmiy yoʻnalish sifatida koʻramiz: 2-bosqichdagi spirometr bilan juft oʻlchovlar orqali mahalliy aholida aniqligini tekshiramiz. Loyihaning asosiy qiymati bunga bogʻliq emas.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Loyihaning ilmiy qismi — xavf modelini mahalliy maʼlumotlarda tasdiqlash. Pilotda 40 yoshdan oshgan, rozilik bergan bemorlar savolnomadan oʻtadi; yoʻllanganlar va past xavfli guruhdan tanlanma spirometriyadan oʻtadi. Modelning sezgirligi, oʻziga xosligi va AUC hisoblanadi. Raqamlarni tadqiqot rejangizdan qoʻying.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Prototip ishlab turibdi: xavfni baholash, spirometriya talqini, bemorlar paneli va kartasi, rollar, audit va anonim eksport. 77 ta avtomatik test; sayt HTTPS bilan ishlaydi, har kecha backup olinadi. Shu yerda jonli demoni koʻrsataman. Qolgan ishlar: oʻz domenimiz va uchta klinik tasdiq.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Yoʻl xaritasi uch bosqichdan iborat. Birinchi bosqichda klinik tasdiq, CAT tarjimasi, pilot va oʻqitish. Ikkinchisida portativ spirometr tanlanadi va ulanadi, model validatsiyasi natijalari chiqadi. Uchinchisida mikrofon usulining aniqligi oʻrganiladi va ilmiy maqola tayyorlanadi. Oylarni rejangizga moslang.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Xulosa: loyihaning asosi bugun tayyor va ishlab turibdi. Bizga pilot, oʻqitish va qurilmalar uchun grant; hamkor poliklinikalar; va klinik maslahatchi sifatida pulmonolog kerak. Rahmat, savollaringizga javob beraman.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E2A"/>
        </a:solidFill>
      </p:bgPr>
    </p:bg>
    <p:spTree>
      <p:nvGrpSpPr>
        <p:cNvPr id="1" name=""/>
        <p:cNvGrpSpPr/>
        <p:nvPr/>
      </p:nvGrpSpPr>
      <p:grpSpPr>
        <a:xfrm>
          <a:off x="0" y="0"/>
          <a:ext cx="0" cy="0"/>
          <a:chOff x="0" y="0"/>
          <a:chExt cx="0" cy="0"/>
        </a:xfrm>
      </p:grpSpPr>
      <p:sp>
        <p:nvSpPr>
          <p:cNvPr id="2" name="Shape 0"/>
          <p:cNvSpPr/>
          <p:nvPr/>
        </p:nvSpPr>
        <p:spPr>
          <a:xfrm>
            <a:off x="7863840" y="0"/>
            <a:ext cx="4327855" cy="6858000"/>
          </a:xfrm>
          <a:prstGeom prst="rect">
            <a:avLst/>
          </a:prstGeom>
          <a:solidFill>
            <a:srgbClr val="0B6E7F"/>
          </a:solidFill>
          <a:ln/>
        </p:spPr>
      </p:sp>
      <p:sp>
        <p:nvSpPr>
          <p:cNvPr id="3" name="Shape 1"/>
          <p:cNvSpPr/>
          <p:nvPr/>
        </p:nvSpPr>
        <p:spPr>
          <a:xfrm>
            <a:off x="7863840" y="0"/>
            <a:ext cx="4327855" cy="6858000"/>
          </a:xfrm>
          <a:prstGeom prst="rect">
            <a:avLst/>
          </a:prstGeom>
          <a:solidFill>
            <a:srgbClr val="0F1E2A">
              <a:alpha val="65000"/>
            </a:srgbClr>
          </a:solidFill>
          <a:ln/>
        </p:spPr>
      </p:sp>
      <p:sp>
        <p:nvSpPr>
          <p:cNvPr id="4" name="Shape 2"/>
          <p:cNvSpPr/>
          <p:nvPr/>
        </p:nvSpPr>
        <p:spPr>
          <a:xfrm>
            <a:off x="8321040" y="3429000"/>
            <a:ext cx="3383280" cy="0"/>
          </a:xfrm>
          <a:prstGeom prst="line">
            <a:avLst/>
          </a:prstGeom>
          <a:noFill/>
          <a:ln w="50800">
            <a:solidFill>
              <a:srgbClr val="7FD3DF"/>
            </a:solidFill>
            <a:prstDash val="solid"/>
          </a:ln>
        </p:spPr>
      </p:sp>
      <p:sp>
        <p:nvSpPr>
          <p:cNvPr id="5" name="Text 3"/>
          <p:cNvSpPr txBox="1"/>
          <p:nvPr/>
        </p:nvSpPr>
        <p:spPr>
          <a:xfrm>
            <a:off x="548640" y="914400"/>
            <a:ext cx="6949440" cy="320040"/>
          </a:xfrm>
          <a:prstGeom prst="rect">
            <a:avLst/>
          </a:prstGeom>
          <a:noFill/>
          <a:ln/>
        </p:spPr>
        <p:txBody>
          <a:bodyPr wrap="square" lIns="0" tIns="0" rIns="0" bIns="0" rtlCol="0" anchor="t"/>
          <a:lstStyle/>
          <a:p>
            <a:pPr indent="0" marL="0">
              <a:buNone/>
            </a:pPr>
            <a:r>
              <a:rPr lang="en-US" sz="1400" b="1" spc="400" kern="0" dirty="0">
                <a:solidFill>
                  <a:srgbClr val="7FD3DF"/>
                </a:solidFill>
                <a:latin typeface="Calibri" pitchFamily="34" charset="0"/>
                <a:ea typeface="Calibri" pitchFamily="34" charset="-122"/>
                <a:cs typeface="Calibri" pitchFamily="34" charset="-120"/>
              </a:rPr>
              <a:t>LOYIHA TAQDIMOTI · 2026</a:t>
            </a:r>
            <a:endParaRPr lang="en-US" sz="1400" dirty="0"/>
          </a:p>
        </p:txBody>
      </p:sp>
      <p:sp>
        <p:nvSpPr>
          <p:cNvPr id="6" name="Text 4"/>
          <p:cNvSpPr txBox="1"/>
          <p:nvPr/>
        </p:nvSpPr>
        <p:spPr>
          <a:xfrm>
            <a:off x="548640" y="1371600"/>
            <a:ext cx="7132320" cy="1097280"/>
          </a:xfrm>
          <a:prstGeom prst="rect">
            <a:avLst/>
          </a:prstGeom>
          <a:noFill/>
          <a:ln/>
        </p:spPr>
        <p:txBody>
          <a:bodyPr wrap="square" lIns="0" tIns="0" rIns="0" bIns="0" rtlCol="0" anchor="t"/>
          <a:lstStyle/>
          <a:p>
            <a:pPr indent="0" marL="0">
              <a:buNone/>
            </a:pPr>
            <a:r>
              <a:rPr lang="en-US" sz="6000" b="1" dirty="0">
                <a:solidFill>
                  <a:srgbClr val="F6F8FA"/>
                </a:solidFill>
                <a:latin typeface="Cambria" pitchFamily="34" charset="0"/>
                <a:ea typeface="Cambria" pitchFamily="34" charset="-122"/>
                <a:cs typeface="Cambria" pitchFamily="34" charset="-120"/>
              </a:rPr>
              <a:t>NafasNazorat</a:t>
            </a:r>
            <a:endParaRPr lang="en-US" sz="6000" dirty="0"/>
          </a:p>
        </p:txBody>
      </p:sp>
      <p:sp>
        <p:nvSpPr>
          <p:cNvPr id="7" name="Text 5"/>
          <p:cNvSpPr txBox="1"/>
          <p:nvPr/>
        </p:nvSpPr>
        <p:spPr>
          <a:xfrm>
            <a:off x="548640" y="2606040"/>
            <a:ext cx="6949440" cy="1463040"/>
          </a:xfrm>
          <a:prstGeom prst="rect">
            <a:avLst/>
          </a:prstGeom>
          <a:noFill/>
          <a:ln/>
        </p:spPr>
        <p:txBody>
          <a:bodyPr wrap="square" lIns="0" tIns="0" rIns="0" bIns="0" rtlCol="0" anchor="t"/>
          <a:lstStyle/>
          <a:p>
            <a:pPr indent="0" marL="0">
              <a:buNone/>
            </a:pPr>
            <a:r>
              <a:rPr lang="en-US" sz="2200" dirty="0">
                <a:solidFill>
                  <a:srgbClr val="D6E4EA"/>
                </a:solidFill>
                <a:latin typeface="Calibri" pitchFamily="34" charset="0"/>
                <a:ea typeface="Calibri" pitchFamily="34" charset="-122"/>
                <a:cs typeface="Calibri" pitchFamily="34" charset="-120"/>
              </a:rPr>
              <a:t>OSOKni spirometr boʻlmasa ham erta aniqlash, yoʻllash va spirometriyani toʻgʻri talqin qilish platformasi</a:t>
            </a:r>
            <a:endParaRPr lang="en-US" sz="2200" dirty="0"/>
          </a:p>
        </p:txBody>
      </p:sp>
      <p:sp>
        <p:nvSpPr>
          <p:cNvPr id="8" name="Text 6"/>
          <p:cNvSpPr txBox="1"/>
          <p:nvPr/>
        </p:nvSpPr>
        <p:spPr>
          <a:xfrm>
            <a:off x="548640" y="5486400"/>
            <a:ext cx="6949440" cy="365760"/>
          </a:xfrm>
          <a:prstGeom prst="rect">
            <a:avLst/>
          </a:prstGeom>
          <a:noFill/>
          <a:ln/>
        </p:spPr>
        <p:txBody>
          <a:bodyPr wrap="square" lIns="0" tIns="0" rIns="0" bIns="0" rtlCol="0" anchor="t"/>
          <a:lstStyle/>
          <a:p>
            <a:pPr indent="0" marL="0">
              <a:buNone/>
            </a:pPr>
            <a:r>
              <a:rPr lang="en-US" sz="1600" dirty="0">
                <a:solidFill>
                  <a:srgbClr val="F6F8FA"/>
                </a:solidFill>
                <a:latin typeface="Calibri" pitchFamily="34" charset="0"/>
                <a:ea typeface="Calibri" pitchFamily="34" charset="-122"/>
                <a:cs typeface="Calibri" pitchFamily="34" charset="-120"/>
              </a:rPr>
              <a:t>Oʻzbekiston birlamchi tibbiyot boʻgʻini uchun</a:t>
            </a:r>
            <a:endParaRPr lang="en-US" sz="1600" dirty="0"/>
          </a:p>
        </p:txBody>
      </p:sp>
      <p:sp>
        <p:nvSpPr>
          <p:cNvPr id="9" name="Text 7"/>
          <p:cNvSpPr txBox="1"/>
          <p:nvPr/>
        </p:nvSpPr>
        <p:spPr>
          <a:xfrm>
            <a:off x="548640" y="5897880"/>
            <a:ext cx="6949440" cy="365760"/>
          </a:xfrm>
          <a:prstGeom prst="rect">
            <a:avLst/>
          </a:prstGeom>
          <a:noFill/>
          <a:ln/>
        </p:spPr>
        <p:txBody>
          <a:bodyPr wrap="square" lIns="0" tIns="0" rIns="0" bIns="0" rtlCol="0" anchor="t"/>
          <a:lstStyle/>
          <a:p>
            <a:pPr indent="0" marL="0">
              <a:buNone/>
            </a:pPr>
            <a:r>
              <a:rPr lang="en-US" sz="1400" dirty="0">
                <a:solidFill>
                  <a:srgbClr val="9FB7C2"/>
                </a:solidFill>
                <a:latin typeface="Calibri" pitchFamily="34" charset="0"/>
                <a:ea typeface="Calibri" pitchFamily="34" charset="-122"/>
                <a:cs typeface="Calibri" pitchFamily="34" charset="-120"/>
              </a:rPr>
              <a:t>Jonli prototip: nafas.plagiatx.uz</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8FA"/>
        </a:solidFill>
      </p:bgPr>
    </p:bg>
    <p:spTree>
      <p:nvGrpSpPr>
        <p:cNvPr id="1" name=""/>
        <p:cNvGrpSpPr/>
        <p:nvPr/>
      </p:nvGrpSpPr>
      <p:grpSpPr>
        <a:xfrm>
          <a:off x="0" y="0"/>
          <a:ext cx="0" cy="0"/>
          <a:chOff x="0" y="0"/>
          <a:chExt cx="0" cy="0"/>
        </a:xfrm>
      </p:grpSpPr>
      <p:sp>
        <p:nvSpPr>
          <p:cNvPr id="2" name="Text 0"/>
          <p:cNvSpPr txBox="1"/>
          <p:nvPr/>
        </p:nvSpPr>
        <p:spPr>
          <a:xfrm>
            <a:off x="548640" y="457200"/>
            <a:ext cx="11094415" cy="292608"/>
          </a:xfrm>
          <a:prstGeom prst="rect">
            <a:avLst/>
          </a:prstGeom>
          <a:noFill/>
          <a:ln/>
        </p:spPr>
        <p:txBody>
          <a:bodyPr wrap="square" lIns="0" tIns="0" rIns="0" bIns="0" rtlCol="0" anchor="t"/>
          <a:lstStyle/>
          <a:p>
            <a:pPr indent="0" marL="0">
              <a:buNone/>
            </a:pPr>
            <a:r>
              <a:rPr lang="en-US" sz="1300" b="1" spc="300" kern="0" dirty="0">
                <a:solidFill>
                  <a:srgbClr val="0B6E7F"/>
                </a:solidFill>
                <a:latin typeface="Calibri" pitchFamily="34" charset="0"/>
                <a:ea typeface="Calibri" pitchFamily="34" charset="-122"/>
                <a:cs typeface="Calibri" pitchFamily="34" charset="-120"/>
              </a:rPr>
              <a:t>MUAMMO</a:t>
            </a:r>
            <a:endParaRPr lang="en-US" sz="1300" dirty="0"/>
          </a:p>
        </p:txBody>
      </p:sp>
      <p:sp>
        <p:nvSpPr>
          <p:cNvPr id="3" name="Text 1"/>
          <p:cNvSpPr txBox="1"/>
          <p:nvPr/>
        </p:nvSpPr>
        <p:spPr>
          <a:xfrm>
            <a:off x="548640" y="777240"/>
            <a:ext cx="11094415" cy="960120"/>
          </a:xfrm>
          <a:prstGeom prst="rect">
            <a:avLst/>
          </a:prstGeom>
          <a:noFill/>
          <a:ln/>
        </p:spPr>
        <p:txBody>
          <a:bodyPr wrap="square" lIns="0" tIns="0" rIns="0" bIns="0" rtlCol="0" anchor="t"/>
          <a:lstStyle/>
          <a:p>
            <a:pPr indent="0" marL="0">
              <a:buNone/>
            </a:pPr>
            <a:r>
              <a:rPr lang="en-US" sz="3200" b="1" dirty="0">
                <a:solidFill>
                  <a:srgbClr val="0F1E2A"/>
                </a:solidFill>
                <a:latin typeface="Cambria" pitchFamily="34" charset="0"/>
                <a:ea typeface="Cambria" pitchFamily="34" charset="-122"/>
                <a:cs typeface="Cambria" pitchFamily="34" charset="-120"/>
              </a:rPr>
              <a:t>OSOK — jim, lekin oʻldiradigan kasallik</a:t>
            </a:r>
            <a:endParaRPr lang="en-US" sz="3200" dirty="0"/>
          </a:p>
        </p:txBody>
      </p:sp>
      <p:sp>
        <p:nvSpPr>
          <p:cNvPr id="4" name="Shape 2"/>
          <p:cNvSpPr/>
          <p:nvPr/>
        </p:nvSpPr>
        <p:spPr>
          <a:xfrm>
            <a:off x="548640" y="1920240"/>
            <a:ext cx="5760720" cy="4114800"/>
          </a:xfrm>
          <a:prstGeom prst="roundRect">
            <a:avLst>
              <a:gd name="adj" fmla="val 2667"/>
            </a:avLst>
          </a:prstGeom>
          <a:solidFill>
            <a:srgbClr val="0F1E2A"/>
          </a:solidFill>
          <a:ln/>
        </p:spPr>
      </p:sp>
      <p:sp>
        <p:nvSpPr>
          <p:cNvPr id="5" name="Text 3"/>
          <p:cNvSpPr txBox="1"/>
          <p:nvPr/>
        </p:nvSpPr>
        <p:spPr>
          <a:xfrm>
            <a:off x="914400" y="2240280"/>
            <a:ext cx="5029200" cy="1005840"/>
          </a:xfrm>
          <a:prstGeom prst="rect">
            <a:avLst/>
          </a:prstGeom>
          <a:noFill/>
          <a:ln/>
        </p:spPr>
        <p:txBody>
          <a:bodyPr wrap="square" lIns="0" tIns="0" rIns="0" bIns="0" rtlCol="0" anchor="t"/>
          <a:lstStyle/>
          <a:p>
            <a:pPr indent="0" marL="0">
              <a:buNone/>
            </a:pPr>
            <a:r>
              <a:rPr lang="en-US" sz="6000" b="1" dirty="0">
                <a:solidFill>
                  <a:srgbClr val="7FD3DF"/>
                </a:solidFill>
                <a:latin typeface="Cambria" pitchFamily="34" charset="0"/>
                <a:ea typeface="Cambria" pitchFamily="34" charset="-122"/>
                <a:cs typeface="Cambria" pitchFamily="34" charset="-120"/>
              </a:rPr>
              <a:t>3,5 mln</a:t>
            </a:r>
            <a:endParaRPr lang="en-US" sz="6000" dirty="0"/>
          </a:p>
        </p:txBody>
      </p:sp>
      <p:sp>
        <p:nvSpPr>
          <p:cNvPr id="6" name="Text 4"/>
          <p:cNvSpPr txBox="1"/>
          <p:nvPr/>
        </p:nvSpPr>
        <p:spPr>
          <a:xfrm>
            <a:off x="914400" y="3383280"/>
            <a:ext cx="5029200" cy="1463040"/>
          </a:xfrm>
          <a:prstGeom prst="rect">
            <a:avLst/>
          </a:prstGeom>
          <a:noFill/>
          <a:ln/>
        </p:spPr>
        <p:txBody>
          <a:bodyPr wrap="square" lIns="0" tIns="0" rIns="0" bIns="0" rtlCol="0" anchor="t"/>
          <a:lstStyle/>
          <a:p>
            <a:pPr indent="0" marL="0">
              <a:buNone/>
            </a:pPr>
            <a:r>
              <a:rPr lang="en-US" sz="2000" dirty="0">
                <a:solidFill>
                  <a:srgbClr val="F6F8FA"/>
                </a:solidFill>
                <a:latin typeface="Calibri" pitchFamily="34" charset="0"/>
                <a:ea typeface="Calibri" pitchFamily="34" charset="-122"/>
                <a:cs typeface="Calibri" pitchFamily="34" charset="-120"/>
              </a:rPr>
              <a:t>kishi 2021-yilda OSOK sababli vafot etgan — dunyoda oʻlim sabablari orasida </a:t>
            </a:r>
            <a:pPr indent="0" marL="0">
              <a:buNone/>
            </a:pPr>
            <a:r>
              <a:rPr lang="en-US" sz="2000" b="1" dirty="0">
                <a:solidFill>
                  <a:srgbClr val="F6F8FA"/>
                </a:solidFill>
                <a:latin typeface="Calibri" pitchFamily="34" charset="0"/>
                <a:ea typeface="Calibri" pitchFamily="34" charset="-122"/>
                <a:cs typeface="Calibri" pitchFamily="34" charset="-120"/>
              </a:rPr>
              <a:t>4-oʻrin</a:t>
            </a:r>
            <a:endParaRPr lang="en-US" sz="2000" dirty="0"/>
          </a:p>
        </p:txBody>
      </p:sp>
      <p:sp>
        <p:nvSpPr>
          <p:cNvPr id="7" name="Text 5"/>
          <p:cNvSpPr txBox="1"/>
          <p:nvPr/>
        </p:nvSpPr>
        <p:spPr>
          <a:xfrm>
            <a:off x="914400" y="5303520"/>
            <a:ext cx="5029200" cy="365760"/>
          </a:xfrm>
          <a:prstGeom prst="rect">
            <a:avLst/>
          </a:prstGeom>
          <a:noFill/>
          <a:ln/>
        </p:spPr>
        <p:txBody>
          <a:bodyPr wrap="square" lIns="0" tIns="0" rIns="0" bIns="0" rtlCol="0" anchor="t"/>
          <a:lstStyle/>
          <a:p>
            <a:pPr indent="0" marL="0">
              <a:buNone/>
            </a:pPr>
            <a:r>
              <a:rPr lang="en-US" sz="1200" dirty="0">
                <a:solidFill>
                  <a:srgbClr val="9FB7C2"/>
                </a:solidFill>
                <a:latin typeface="Calibri" pitchFamily="34" charset="0"/>
                <a:ea typeface="Calibri" pitchFamily="34" charset="-122"/>
                <a:cs typeface="Calibri" pitchFamily="34" charset="-120"/>
              </a:rPr>
              <a:t>Manba: JSST (WHO), OSOK boʻyicha maʼlumotnoma</a:t>
            </a:r>
            <a:endParaRPr lang="en-US" sz="1200" dirty="0"/>
          </a:p>
        </p:txBody>
      </p:sp>
      <p:sp>
        <p:nvSpPr>
          <p:cNvPr id="8" name="Shape 6"/>
          <p:cNvSpPr/>
          <p:nvPr/>
        </p:nvSpPr>
        <p:spPr>
          <a:xfrm>
            <a:off x="6583680" y="1920240"/>
            <a:ext cx="5056632" cy="1920240"/>
          </a:xfrm>
          <a:prstGeom prst="roundRect">
            <a:avLst>
              <a:gd name="adj" fmla="val 5714"/>
            </a:avLst>
          </a:prstGeom>
          <a:solidFill>
            <a:srgbClr val="FFFFFF"/>
          </a:solidFill>
          <a:ln w="12700">
            <a:solidFill>
              <a:srgbClr val="DDE4EA"/>
            </a:solidFill>
            <a:prstDash val="solid"/>
          </a:ln>
        </p:spPr>
      </p:sp>
      <p:sp>
        <p:nvSpPr>
          <p:cNvPr id="9" name="Text 7"/>
          <p:cNvSpPr txBox="1"/>
          <p:nvPr/>
        </p:nvSpPr>
        <p:spPr>
          <a:xfrm>
            <a:off x="6858000" y="2148840"/>
            <a:ext cx="4572000" cy="411480"/>
          </a:xfrm>
          <a:prstGeom prst="rect">
            <a:avLst/>
          </a:prstGeom>
          <a:noFill/>
          <a:ln/>
        </p:spPr>
        <p:txBody>
          <a:bodyPr wrap="square" lIns="0" tIns="0" rIns="0" bIns="0" rtlCol="0" anchor="t"/>
          <a:lstStyle/>
          <a:p>
            <a:pPr indent="0" marL="0">
              <a:buNone/>
            </a:pPr>
            <a:r>
              <a:rPr lang="en-US" sz="2000" b="1" dirty="0">
                <a:solidFill>
                  <a:srgbClr val="0F1E2A"/>
                </a:solidFill>
                <a:latin typeface="Calibri" pitchFamily="34" charset="0"/>
                <a:ea typeface="Calibri" pitchFamily="34" charset="-122"/>
                <a:cs typeface="Calibri" pitchFamily="34" charset="-120"/>
              </a:rPr>
              <a:t>Kech aniqlanadi</a:t>
            </a:r>
            <a:endParaRPr lang="en-US" sz="2000" dirty="0"/>
          </a:p>
        </p:txBody>
      </p:sp>
      <p:sp>
        <p:nvSpPr>
          <p:cNvPr id="10" name="Text 8"/>
          <p:cNvSpPr txBox="1"/>
          <p:nvPr/>
        </p:nvSpPr>
        <p:spPr>
          <a:xfrm>
            <a:off x="6858000" y="2606040"/>
            <a:ext cx="4572000" cy="1097280"/>
          </a:xfrm>
          <a:prstGeom prst="rect">
            <a:avLst/>
          </a:prstGeom>
          <a:noFill/>
          <a:ln/>
        </p:spPr>
        <p:txBody>
          <a:bodyPr wrap="square" lIns="0" tIns="0" rIns="0" bIns="0" rtlCol="0" anchor="t"/>
          <a:lstStyle/>
          <a:p>
            <a:pPr indent="0" marL="0">
              <a:buNone/>
            </a:pPr>
            <a:r>
              <a:rPr lang="en-US" sz="1600" dirty="0">
                <a:solidFill>
                  <a:srgbClr val="4A5A67"/>
                </a:solidFill>
                <a:latin typeface="Calibri" pitchFamily="34" charset="0"/>
                <a:ea typeface="Calibri" pitchFamily="34" charset="-122"/>
                <a:cs typeface="Calibri" pitchFamily="34" charset="-120"/>
              </a:rPr>
              <a:t>Koʻpincha oʻpka funksiyasi sezilarli yoʻqolgandan keyin — davolash imkoniyati torayganda.</a:t>
            </a:r>
            <a:endParaRPr lang="en-US" sz="1600" dirty="0"/>
          </a:p>
        </p:txBody>
      </p:sp>
      <p:sp>
        <p:nvSpPr>
          <p:cNvPr id="11" name="Shape 9"/>
          <p:cNvSpPr/>
          <p:nvPr/>
        </p:nvSpPr>
        <p:spPr>
          <a:xfrm>
            <a:off x="6583680" y="4114800"/>
            <a:ext cx="5056632" cy="1920240"/>
          </a:xfrm>
          <a:prstGeom prst="roundRect">
            <a:avLst>
              <a:gd name="adj" fmla="val 5714"/>
            </a:avLst>
          </a:prstGeom>
          <a:solidFill>
            <a:srgbClr val="FFFFFF"/>
          </a:solidFill>
          <a:ln w="12700">
            <a:solidFill>
              <a:srgbClr val="DDE4EA"/>
            </a:solidFill>
            <a:prstDash val="solid"/>
          </a:ln>
        </p:spPr>
      </p:sp>
      <p:sp>
        <p:nvSpPr>
          <p:cNvPr id="12" name="Text 10"/>
          <p:cNvSpPr txBox="1"/>
          <p:nvPr/>
        </p:nvSpPr>
        <p:spPr>
          <a:xfrm>
            <a:off x="6858000" y="4343400"/>
            <a:ext cx="4572000" cy="411480"/>
          </a:xfrm>
          <a:prstGeom prst="rect">
            <a:avLst/>
          </a:prstGeom>
          <a:noFill/>
          <a:ln/>
        </p:spPr>
        <p:txBody>
          <a:bodyPr wrap="square" lIns="0" tIns="0" rIns="0" bIns="0" rtlCol="0" anchor="t"/>
          <a:lstStyle/>
          <a:p>
            <a:pPr indent="0" marL="0">
              <a:buNone/>
            </a:pPr>
            <a:r>
              <a:rPr lang="en-US" sz="2000" b="1" dirty="0">
                <a:solidFill>
                  <a:srgbClr val="0F1E2A"/>
                </a:solidFill>
                <a:latin typeface="Calibri" pitchFamily="34" charset="0"/>
                <a:ea typeface="Calibri" pitchFamily="34" charset="-122"/>
                <a:cs typeface="Calibri" pitchFamily="34" charset="-120"/>
              </a:rPr>
              <a:t>Oʻzbekistonda</a:t>
            </a:r>
            <a:endParaRPr lang="en-US" sz="2000" dirty="0"/>
          </a:p>
        </p:txBody>
      </p:sp>
      <p:sp>
        <p:nvSpPr>
          <p:cNvPr id="13" name="Text 11"/>
          <p:cNvSpPr txBox="1"/>
          <p:nvPr/>
        </p:nvSpPr>
        <p:spPr>
          <a:xfrm>
            <a:off x="6858000" y="4800600"/>
            <a:ext cx="4572000" cy="1097280"/>
          </a:xfrm>
          <a:prstGeom prst="rect">
            <a:avLst/>
          </a:prstGeom>
          <a:noFill/>
          <a:ln/>
        </p:spPr>
        <p:txBody>
          <a:bodyPr wrap="square" lIns="0" tIns="0" rIns="0" bIns="0" rtlCol="0" anchor="t"/>
          <a:lstStyle/>
          <a:p>
            <a:pPr indent="0" marL="0">
              <a:buNone/>
            </a:pPr>
            <a:r>
              <a:rPr lang="en-US" sz="1600" dirty="0">
                <a:solidFill>
                  <a:srgbClr val="4A5A67"/>
                </a:solidFill>
                <a:latin typeface="Calibri" pitchFamily="34" charset="0"/>
                <a:ea typeface="Calibri" pitchFamily="34" charset="-122"/>
                <a:cs typeface="Calibri" pitchFamily="34" charset="-120"/>
              </a:rPr>
              <a:t>Tarqalish: [__]% · roʻyxatga olingan: [__] · manba: [__]</a:t>
            </a:r>
            <a:endParaRPr lang="en-US" sz="1600" dirty="0"/>
          </a:p>
        </p:txBody>
      </p:sp>
      <p:sp>
        <p:nvSpPr>
          <p:cNvPr id="14" name="Text 12"/>
          <p:cNvSpPr txBox="1"/>
          <p:nvPr/>
        </p:nvSpPr>
        <p:spPr>
          <a:xfrm>
            <a:off x="548640" y="6400800"/>
            <a:ext cx="3657600" cy="274320"/>
          </a:xfrm>
          <a:prstGeom prst="rect">
            <a:avLst/>
          </a:prstGeom>
          <a:noFill/>
          <a:ln/>
        </p:spPr>
        <p:txBody>
          <a:bodyPr wrap="square" lIns="0" tIns="0" rIns="0" bIns="0" rtlCol="0" anchor="t"/>
          <a:lstStyle/>
          <a:p>
            <a:pPr indent="0" marL="0">
              <a:buNone/>
            </a:pPr>
            <a:r>
              <a:rPr lang="en-US" sz="1100" dirty="0">
                <a:solidFill>
                  <a:srgbClr val="6B7B87"/>
                </a:solidFill>
                <a:latin typeface="Calibri" pitchFamily="34" charset="0"/>
                <a:ea typeface="Calibri" pitchFamily="34" charset="-122"/>
                <a:cs typeface="Calibri" pitchFamily="34" charset="-120"/>
              </a:rPr>
              <a:t>NafasNazorat · 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8FA"/>
        </a:solidFill>
      </p:bgPr>
    </p:bg>
    <p:spTree>
      <p:nvGrpSpPr>
        <p:cNvPr id="1" name=""/>
        <p:cNvGrpSpPr/>
        <p:nvPr/>
      </p:nvGrpSpPr>
      <p:grpSpPr>
        <a:xfrm>
          <a:off x="0" y="0"/>
          <a:ext cx="0" cy="0"/>
          <a:chOff x="0" y="0"/>
          <a:chExt cx="0" cy="0"/>
        </a:xfrm>
      </p:grpSpPr>
      <p:sp>
        <p:nvSpPr>
          <p:cNvPr id="2" name="Text 0"/>
          <p:cNvSpPr txBox="1"/>
          <p:nvPr/>
        </p:nvSpPr>
        <p:spPr>
          <a:xfrm>
            <a:off x="548640" y="457200"/>
            <a:ext cx="11094415" cy="292608"/>
          </a:xfrm>
          <a:prstGeom prst="rect">
            <a:avLst/>
          </a:prstGeom>
          <a:noFill/>
          <a:ln/>
        </p:spPr>
        <p:txBody>
          <a:bodyPr wrap="square" lIns="0" tIns="0" rIns="0" bIns="0" rtlCol="0" anchor="t"/>
          <a:lstStyle/>
          <a:p>
            <a:pPr indent="0" marL="0">
              <a:buNone/>
            </a:pPr>
            <a:r>
              <a:rPr lang="en-US" sz="1300" b="1" spc="300" kern="0" dirty="0">
                <a:solidFill>
                  <a:srgbClr val="0B6E7F"/>
                </a:solidFill>
                <a:latin typeface="Calibri" pitchFamily="34" charset="0"/>
                <a:ea typeface="Calibri" pitchFamily="34" charset="-122"/>
                <a:cs typeface="Calibri" pitchFamily="34" charset="-120"/>
              </a:rPr>
              <a:t>BOʻSHLIQ</a:t>
            </a:r>
            <a:endParaRPr lang="en-US" sz="1300" dirty="0"/>
          </a:p>
        </p:txBody>
      </p:sp>
      <p:sp>
        <p:nvSpPr>
          <p:cNvPr id="3" name="Text 1"/>
          <p:cNvSpPr txBox="1"/>
          <p:nvPr/>
        </p:nvSpPr>
        <p:spPr>
          <a:xfrm>
            <a:off x="548640" y="777240"/>
            <a:ext cx="11094415" cy="960120"/>
          </a:xfrm>
          <a:prstGeom prst="rect">
            <a:avLst/>
          </a:prstGeom>
          <a:noFill/>
          <a:ln/>
        </p:spPr>
        <p:txBody>
          <a:bodyPr wrap="square" lIns="0" tIns="0" rIns="0" bIns="0" rtlCol="0" anchor="t"/>
          <a:lstStyle/>
          <a:p>
            <a:pPr indent="0" marL="0">
              <a:buNone/>
            </a:pPr>
            <a:r>
              <a:rPr lang="en-US" sz="3200" b="1" dirty="0">
                <a:solidFill>
                  <a:srgbClr val="0F1E2A"/>
                </a:solidFill>
                <a:latin typeface="Cambria" pitchFamily="34" charset="0"/>
                <a:ea typeface="Cambria" pitchFamily="34" charset="-122"/>
                <a:cs typeface="Cambria" pitchFamily="34" charset="-120"/>
              </a:rPr>
              <a:t>Birlamchi boʻgʻinda toʻrtta toʻsiq</a:t>
            </a:r>
            <a:endParaRPr lang="en-US" sz="3200" dirty="0"/>
          </a:p>
        </p:txBody>
      </p:sp>
      <p:sp>
        <p:nvSpPr>
          <p:cNvPr id="4" name="Shape 2"/>
          <p:cNvSpPr/>
          <p:nvPr/>
        </p:nvSpPr>
        <p:spPr>
          <a:xfrm>
            <a:off x="548640" y="1874520"/>
            <a:ext cx="5455768" cy="1508760"/>
          </a:xfrm>
          <a:prstGeom prst="roundRect">
            <a:avLst>
              <a:gd name="adj" fmla="val 7273"/>
            </a:avLst>
          </a:prstGeom>
          <a:solidFill>
            <a:srgbClr val="FFFFFF"/>
          </a:solidFill>
          <a:ln w="12700">
            <a:solidFill>
              <a:srgbClr val="DDE4EA"/>
            </a:solidFill>
            <a:prstDash val="solid"/>
          </a:ln>
        </p:spPr>
      </p:sp>
      <p:pic>
        <p:nvPicPr>
          <p:cNvPr id="5" name="Image 0" descr="preencoded.png">    </p:cNvPr>
          <p:cNvPicPr>
            <a:picLocks noChangeAspect="1"/>
          </p:cNvPicPr>
          <p:nvPr/>
        </p:nvPicPr>
        <p:blipFill>
          <a:blip r:embed="rId1"/>
          <a:stretch>
            <a:fillRect/>
          </a:stretch>
        </p:blipFill>
        <p:spPr>
          <a:xfrm>
            <a:off x="822960" y="2194560"/>
            <a:ext cx="384048" cy="384048"/>
          </a:xfrm>
          <a:prstGeom prst="rect">
            <a:avLst/>
          </a:prstGeom>
        </p:spPr>
      </p:pic>
      <p:sp>
        <p:nvSpPr>
          <p:cNvPr id="6" name="Text 3"/>
          <p:cNvSpPr txBox="1"/>
          <p:nvPr/>
        </p:nvSpPr>
        <p:spPr>
          <a:xfrm>
            <a:off x="1463040" y="2130552"/>
            <a:ext cx="4267048" cy="411480"/>
          </a:xfrm>
          <a:prstGeom prst="rect">
            <a:avLst/>
          </a:prstGeom>
          <a:noFill/>
          <a:ln/>
        </p:spPr>
        <p:txBody>
          <a:bodyPr wrap="square" lIns="0" tIns="0" rIns="0" bIns="0" rtlCol="0" anchor="t"/>
          <a:lstStyle/>
          <a:p>
            <a:pPr indent="0" marL="0">
              <a:buNone/>
            </a:pPr>
            <a:r>
              <a:rPr lang="en-US" sz="2000" b="1" dirty="0">
                <a:solidFill>
                  <a:srgbClr val="0F1E2A"/>
                </a:solidFill>
                <a:latin typeface="Calibri" pitchFamily="34" charset="0"/>
                <a:ea typeface="Calibri" pitchFamily="34" charset="-122"/>
                <a:cs typeface="Calibri" pitchFamily="34" charset="-120"/>
              </a:rPr>
              <a:t>Spirometr kam</a:t>
            </a:r>
            <a:endParaRPr lang="en-US" sz="2000" dirty="0"/>
          </a:p>
        </p:txBody>
      </p:sp>
      <p:sp>
        <p:nvSpPr>
          <p:cNvPr id="7" name="Text 4"/>
          <p:cNvSpPr txBox="1"/>
          <p:nvPr/>
        </p:nvSpPr>
        <p:spPr>
          <a:xfrm>
            <a:off x="1463040" y="2587752"/>
            <a:ext cx="4267048" cy="731520"/>
          </a:xfrm>
          <a:prstGeom prst="rect">
            <a:avLst/>
          </a:prstGeom>
          <a:noFill/>
          <a:ln/>
        </p:spPr>
        <p:txBody>
          <a:bodyPr wrap="square" lIns="0" tIns="0" rIns="0" bIns="0" rtlCol="0" anchor="t"/>
          <a:lstStyle/>
          <a:p>
            <a:pPr indent="0" marL="0">
              <a:buNone/>
            </a:pPr>
            <a:r>
              <a:rPr lang="en-US" sz="1500" dirty="0">
                <a:solidFill>
                  <a:srgbClr val="4A5A67"/>
                </a:solidFill>
                <a:latin typeface="Calibri" pitchFamily="34" charset="0"/>
                <a:ea typeface="Calibri" pitchFamily="34" charset="-122"/>
                <a:cs typeface="Calibri" pitchFamily="34" charset="-120"/>
              </a:rPr>
              <a:t>Oilaviy poliklinika va QVPlarda qurilma yoʻq yoki band.</a:t>
            </a:r>
            <a:endParaRPr lang="en-US" sz="1500" dirty="0"/>
          </a:p>
        </p:txBody>
      </p:sp>
      <p:sp>
        <p:nvSpPr>
          <p:cNvPr id="8" name="Shape 5"/>
          <p:cNvSpPr/>
          <p:nvPr/>
        </p:nvSpPr>
        <p:spPr>
          <a:xfrm>
            <a:off x="6187288" y="1874520"/>
            <a:ext cx="5455768" cy="1508760"/>
          </a:xfrm>
          <a:prstGeom prst="roundRect">
            <a:avLst>
              <a:gd name="adj" fmla="val 7273"/>
            </a:avLst>
          </a:prstGeom>
          <a:solidFill>
            <a:srgbClr val="FFFFFF"/>
          </a:solidFill>
          <a:ln w="12700">
            <a:solidFill>
              <a:srgbClr val="DDE4EA"/>
            </a:solidFill>
            <a:prstDash val="solid"/>
          </a:ln>
        </p:spPr>
      </p:sp>
      <p:pic>
        <p:nvPicPr>
          <p:cNvPr id="9" name="Image 1" descr="preencoded.png">    </p:cNvPr>
          <p:cNvPicPr>
            <a:picLocks noChangeAspect="1"/>
          </p:cNvPicPr>
          <p:nvPr/>
        </p:nvPicPr>
        <p:blipFill>
          <a:blip r:embed="rId2"/>
          <a:stretch>
            <a:fillRect/>
          </a:stretch>
        </p:blipFill>
        <p:spPr>
          <a:xfrm>
            <a:off x="6461608" y="2194560"/>
            <a:ext cx="384048" cy="384048"/>
          </a:xfrm>
          <a:prstGeom prst="rect">
            <a:avLst/>
          </a:prstGeom>
        </p:spPr>
      </p:pic>
      <p:sp>
        <p:nvSpPr>
          <p:cNvPr id="10" name="Text 6"/>
          <p:cNvSpPr txBox="1"/>
          <p:nvPr/>
        </p:nvSpPr>
        <p:spPr>
          <a:xfrm>
            <a:off x="7101688" y="2130552"/>
            <a:ext cx="4267048" cy="411480"/>
          </a:xfrm>
          <a:prstGeom prst="rect">
            <a:avLst/>
          </a:prstGeom>
          <a:noFill/>
          <a:ln/>
        </p:spPr>
        <p:txBody>
          <a:bodyPr wrap="square" lIns="0" tIns="0" rIns="0" bIns="0" rtlCol="0" anchor="t"/>
          <a:lstStyle/>
          <a:p>
            <a:pPr indent="0" marL="0">
              <a:buNone/>
            </a:pPr>
            <a:r>
              <a:rPr lang="en-US" sz="2000" b="1" dirty="0">
                <a:solidFill>
                  <a:srgbClr val="0F1E2A"/>
                </a:solidFill>
                <a:latin typeface="Calibri" pitchFamily="34" charset="0"/>
                <a:ea typeface="Calibri" pitchFamily="34" charset="-122"/>
                <a:cs typeface="Calibri" pitchFamily="34" charset="-120"/>
              </a:rPr>
              <a:t>Texnik tayyorlanmagan</a:t>
            </a:r>
            <a:endParaRPr lang="en-US" sz="2000" dirty="0"/>
          </a:p>
        </p:txBody>
      </p:sp>
      <p:sp>
        <p:nvSpPr>
          <p:cNvPr id="11" name="Text 7"/>
          <p:cNvSpPr txBox="1"/>
          <p:nvPr/>
        </p:nvSpPr>
        <p:spPr>
          <a:xfrm>
            <a:off x="7101688" y="2587752"/>
            <a:ext cx="4267048" cy="731520"/>
          </a:xfrm>
          <a:prstGeom prst="rect">
            <a:avLst/>
          </a:prstGeom>
          <a:noFill/>
          <a:ln/>
        </p:spPr>
        <p:txBody>
          <a:bodyPr wrap="square" lIns="0" tIns="0" rIns="0" bIns="0" rtlCol="0" anchor="t"/>
          <a:lstStyle/>
          <a:p>
            <a:pPr indent="0" marL="0">
              <a:buNone/>
            </a:pPr>
            <a:r>
              <a:rPr lang="en-US" sz="1500" dirty="0">
                <a:solidFill>
                  <a:srgbClr val="4A5A67"/>
                </a:solidFill>
                <a:latin typeface="Calibri" pitchFamily="34" charset="0"/>
                <a:ea typeface="Calibri" pitchFamily="34" charset="-122"/>
                <a:cs typeface="Calibri" pitchFamily="34" charset="-120"/>
              </a:rPr>
              <a:t>Toʻgʻri oʻlchash va sifat nazorati maxsus koʻnikma talab qiladi.</a:t>
            </a:r>
            <a:endParaRPr lang="en-US" sz="1500" dirty="0"/>
          </a:p>
        </p:txBody>
      </p:sp>
      <p:sp>
        <p:nvSpPr>
          <p:cNvPr id="12" name="Shape 8"/>
          <p:cNvSpPr/>
          <p:nvPr/>
        </p:nvSpPr>
        <p:spPr>
          <a:xfrm>
            <a:off x="548640" y="3566160"/>
            <a:ext cx="5455768" cy="1508760"/>
          </a:xfrm>
          <a:prstGeom prst="roundRect">
            <a:avLst>
              <a:gd name="adj" fmla="val 7273"/>
            </a:avLst>
          </a:prstGeom>
          <a:solidFill>
            <a:srgbClr val="FFFFFF"/>
          </a:solidFill>
          <a:ln w="12700">
            <a:solidFill>
              <a:srgbClr val="DDE4EA"/>
            </a:solidFill>
            <a:prstDash val="solid"/>
          </a:ln>
        </p:spPr>
      </p:sp>
      <p:pic>
        <p:nvPicPr>
          <p:cNvPr id="13" name="Image 2" descr="preencoded.png">    </p:cNvPr>
          <p:cNvPicPr>
            <a:picLocks noChangeAspect="1"/>
          </p:cNvPicPr>
          <p:nvPr/>
        </p:nvPicPr>
        <p:blipFill>
          <a:blip r:embed="rId3"/>
          <a:stretch>
            <a:fillRect/>
          </a:stretch>
        </p:blipFill>
        <p:spPr>
          <a:xfrm>
            <a:off x="822960" y="3886200"/>
            <a:ext cx="384048" cy="384048"/>
          </a:xfrm>
          <a:prstGeom prst="rect">
            <a:avLst/>
          </a:prstGeom>
        </p:spPr>
      </p:pic>
      <p:sp>
        <p:nvSpPr>
          <p:cNvPr id="14" name="Text 9"/>
          <p:cNvSpPr txBox="1"/>
          <p:nvPr/>
        </p:nvSpPr>
        <p:spPr>
          <a:xfrm>
            <a:off x="1463040" y="3822192"/>
            <a:ext cx="4267048" cy="411480"/>
          </a:xfrm>
          <a:prstGeom prst="rect">
            <a:avLst/>
          </a:prstGeom>
          <a:noFill/>
          <a:ln/>
        </p:spPr>
        <p:txBody>
          <a:bodyPr wrap="square" lIns="0" tIns="0" rIns="0" bIns="0" rtlCol="0" anchor="t"/>
          <a:lstStyle/>
          <a:p>
            <a:pPr indent="0" marL="0">
              <a:buNone/>
            </a:pPr>
            <a:r>
              <a:rPr lang="en-US" sz="2000" b="1" dirty="0">
                <a:solidFill>
                  <a:srgbClr val="0F1E2A"/>
                </a:solidFill>
                <a:latin typeface="Calibri" pitchFamily="34" charset="0"/>
                <a:ea typeface="Calibri" pitchFamily="34" charset="-122"/>
                <a:cs typeface="Calibri" pitchFamily="34" charset="-120"/>
              </a:rPr>
              <a:t>Xavf omillari keng</a:t>
            </a:r>
            <a:endParaRPr lang="en-US" sz="2000" dirty="0"/>
          </a:p>
        </p:txBody>
      </p:sp>
      <p:sp>
        <p:nvSpPr>
          <p:cNvPr id="15" name="Text 10"/>
          <p:cNvSpPr txBox="1"/>
          <p:nvPr/>
        </p:nvSpPr>
        <p:spPr>
          <a:xfrm>
            <a:off x="1463040" y="4279392"/>
            <a:ext cx="4267048" cy="731520"/>
          </a:xfrm>
          <a:prstGeom prst="rect">
            <a:avLst/>
          </a:prstGeom>
          <a:noFill/>
          <a:ln/>
        </p:spPr>
        <p:txBody>
          <a:bodyPr wrap="square" lIns="0" tIns="0" rIns="0" bIns="0" rtlCol="0" anchor="t"/>
          <a:lstStyle/>
          <a:p>
            <a:pPr indent="0" marL="0">
              <a:buNone/>
            </a:pPr>
            <a:r>
              <a:rPr lang="en-US" sz="1500" dirty="0">
                <a:solidFill>
                  <a:srgbClr val="4A5A67"/>
                </a:solidFill>
                <a:latin typeface="Calibri" pitchFamily="34" charset="0"/>
                <a:ea typeface="Calibri" pitchFamily="34" charset="-122"/>
                <a:cs typeface="Calibri" pitchFamily="34" charset="-120"/>
              </a:rPr>
              <a:t>Tamaki, tandir va oʻchoq tutuni (biomassa), paxta va qurilish changi.</a:t>
            </a:r>
            <a:endParaRPr lang="en-US" sz="1500" dirty="0"/>
          </a:p>
        </p:txBody>
      </p:sp>
      <p:sp>
        <p:nvSpPr>
          <p:cNvPr id="16" name="Shape 11"/>
          <p:cNvSpPr/>
          <p:nvPr/>
        </p:nvSpPr>
        <p:spPr>
          <a:xfrm>
            <a:off x="6187288" y="3566160"/>
            <a:ext cx="5455768" cy="1508760"/>
          </a:xfrm>
          <a:prstGeom prst="roundRect">
            <a:avLst>
              <a:gd name="adj" fmla="val 7273"/>
            </a:avLst>
          </a:prstGeom>
          <a:solidFill>
            <a:srgbClr val="FFFFFF"/>
          </a:solidFill>
          <a:ln w="12700">
            <a:solidFill>
              <a:srgbClr val="DDE4EA"/>
            </a:solidFill>
            <a:prstDash val="solid"/>
          </a:ln>
        </p:spPr>
      </p:sp>
      <p:pic>
        <p:nvPicPr>
          <p:cNvPr id="17" name="Image 3" descr="preencoded.png">    </p:cNvPr>
          <p:cNvPicPr>
            <a:picLocks noChangeAspect="1"/>
          </p:cNvPicPr>
          <p:nvPr/>
        </p:nvPicPr>
        <p:blipFill>
          <a:blip r:embed="rId4"/>
          <a:stretch>
            <a:fillRect/>
          </a:stretch>
        </p:blipFill>
        <p:spPr>
          <a:xfrm>
            <a:off x="6461608" y="3886200"/>
            <a:ext cx="384048" cy="384048"/>
          </a:xfrm>
          <a:prstGeom prst="rect">
            <a:avLst/>
          </a:prstGeom>
        </p:spPr>
      </p:pic>
      <p:sp>
        <p:nvSpPr>
          <p:cNvPr id="18" name="Text 12"/>
          <p:cNvSpPr txBox="1"/>
          <p:nvPr/>
        </p:nvSpPr>
        <p:spPr>
          <a:xfrm>
            <a:off x="7101688" y="3822192"/>
            <a:ext cx="4267048" cy="411480"/>
          </a:xfrm>
          <a:prstGeom prst="rect">
            <a:avLst/>
          </a:prstGeom>
          <a:noFill/>
          <a:ln/>
        </p:spPr>
        <p:txBody>
          <a:bodyPr wrap="square" lIns="0" tIns="0" rIns="0" bIns="0" rtlCol="0" anchor="t"/>
          <a:lstStyle/>
          <a:p>
            <a:pPr indent="0" marL="0">
              <a:buNone/>
            </a:pPr>
            <a:r>
              <a:rPr lang="en-US" sz="2000" b="1" dirty="0">
                <a:solidFill>
                  <a:srgbClr val="0F1E2A"/>
                </a:solidFill>
                <a:latin typeface="Calibri" pitchFamily="34" charset="0"/>
                <a:ea typeface="Calibri" pitchFamily="34" charset="-122"/>
                <a:cs typeface="Calibri" pitchFamily="34" charset="-120"/>
              </a:rPr>
              <a:t>Talqin murakkab</a:t>
            </a:r>
            <a:endParaRPr lang="en-US" sz="2000" dirty="0"/>
          </a:p>
        </p:txBody>
      </p:sp>
      <p:sp>
        <p:nvSpPr>
          <p:cNvPr id="19" name="Text 13"/>
          <p:cNvSpPr txBox="1"/>
          <p:nvPr/>
        </p:nvSpPr>
        <p:spPr>
          <a:xfrm>
            <a:off x="7101688" y="4279392"/>
            <a:ext cx="4267048" cy="731520"/>
          </a:xfrm>
          <a:prstGeom prst="rect">
            <a:avLst/>
          </a:prstGeom>
          <a:noFill/>
          <a:ln/>
        </p:spPr>
        <p:txBody>
          <a:bodyPr wrap="square" lIns="0" tIns="0" rIns="0" bIns="0" rtlCol="0" anchor="t"/>
          <a:lstStyle/>
          <a:p>
            <a:pPr indent="0" marL="0">
              <a:buNone/>
            </a:pPr>
            <a:r>
              <a:rPr lang="en-US" sz="1500" dirty="0">
                <a:solidFill>
                  <a:srgbClr val="4A5A67"/>
                </a:solidFill>
                <a:latin typeface="Calibri" pitchFamily="34" charset="0"/>
                <a:ea typeface="Calibri" pitchFamily="34" charset="-122"/>
                <a:cs typeface="Calibri" pitchFamily="34" charset="-120"/>
              </a:rPr>
              <a:t>Kutilgan qiymat, LLN va GOLD darajasini qoʻlda hisoblash xatoga moyil.</a:t>
            </a:r>
            <a:endParaRPr lang="en-US" sz="1500" dirty="0"/>
          </a:p>
        </p:txBody>
      </p:sp>
      <p:sp>
        <p:nvSpPr>
          <p:cNvPr id="20" name="Text 14"/>
          <p:cNvSpPr txBox="1"/>
          <p:nvPr/>
        </p:nvSpPr>
        <p:spPr>
          <a:xfrm>
            <a:off x="548640" y="5486400"/>
            <a:ext cx="11094415" cy="457200"/>
          </a:xfrm>
          <a:prstGeom prst="rect">
            <a:avLst/>
          </a:prstGeom>
          <a:noFill/>
          <a:ln/>
        </p:spPr>
        <p:txBody>
          <a:bodyPr wrap="square" lIns="0" tIns="0" rIns="0" bIns="0" rtlCol="0" anchor="t"/>
          <a:lstStyle/>
          <a:p>
            <a:pPr indent="0" marL="0">
              <a:buNone/>
            </a:pPr>
            <a:r>
              <a:rPr lang="en-US" sz="2000" b="1" dirty="0">
                <a:solidFill>
                  <a:srgbClr val="0B6E7F"/>
                </a:solidFill>
                <a:latin typeface="Calibri" pitchFamily="34" charset="0"/>
                <a:ea typeface="Calibri" pitchFamily="34" charset="-122"/>
                <a:cs typeface="Calibri" pitchFamily="34" charset="-120"/>
              </a:rPr>
              <a:t>Natija: kimni tekshirish kerakligi aniqlanmaydi → tashxis kechikadi.</a:t>
            </a:r>
            <a:endParaRPr lang="en-US" sz="2000" dirty="0"/>
          </a:p>
        </p:txBody>
      </p:sp>
      <p:sp>
        <p:nvSpPr>
          <p:cNvPr id="21" name="Text 15"/>
          <p:cNvSpPr txBox="1"/>
          <p:nvPr/>
        </p:nvSpPr>
        <p:spPr>
          <a:xfrm>
            <a:off x="548640" y="6400800"/>
            <a:ext cx="3657600" cy="274320"/>
          </a:xfrm>
          <a:prstGeom prst="rect">
            <a:avLst/>
          </a:prstGeom>
          <a:noFill/>
          <a:ln/>
        </p:spPr>
        <p:txBody>
          <a:bodyPr wrap="square" lIns="0" tIns="0" rIns="0" bIns="0" rtlCol="0" anchor="t"/>
          <a:lstStyle/>
          <a:p>
            <a:pPr indent="0" marL="0">
              <a:buNone/>
            </a:pPr>
            <a:r>
              <a:rPr lang="en-US" sz="1100" dirty="0">
                <a:solidFill>
                  <a:srgbClr val="6B7B87"/>
                </a:solidFill>
                <a:latin typeface="Calibri" pitchFamily="34" charset="0"/>
                <a:ea typeface="Calibri" pitchFamily="34" charset="-122"/>
                <a:cs typeface="Calibri" pitchFamily="34" charset="-120"/>
              </a:rPr>
              <a:t>NafasNazorat · 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4415" cy="292608"/>
          </a:xfrm>
          <a:prstGeom prst="rect">
            <a:avLst/>
          </a:prstGeom>
          <a:noFill/>
          <a:ln/>
        </p:spPr>
        <p:txBody>
          <a:bodyPr wrap="square" lIns="0" tIns="0" rIns="0" bIns="0" rtlCol="0" anchor="t"/>
          <a:lstStyle/>
          <a:p>
            <a:pPr indent="0" marL="0">
              <a:buNone/>
            </a:pPr>
            <a:r>
              <a:rPr lang="en-US" sz="1300" b="1" spc="300" kern="0" dirty="0">
                <a:solidFill>
                  <a:srgbClr val="0B6E7F"/>
                </a:solidFill>
                <a:latin typeface="Calibri" pitchFamily="34" charset="0"/>
                <a:ea typeface="Calibri" pitchFamily="34" charset="-122"/>
                <a:cs typeface="Calibri" pitchFamily="34" charset="-120"/>
              </a:rPr>
              <a:t>YECHIM STRATEGIYASI</a:t>
            </a:r>
            <a:endParaRPr lang="en-US" sz="1300" dirty="0"/>
          </a:p>
        </p:txBody>
      </p:sp>
      <p:sp>
        <p:nvSpPr>
          <p:cNvPr id="3" name="Text 1"/>
          <p:cNvSpPr txBox="1"/>
          <p:nvPr/>
        </p:nvSpPr>
        <p:spPr>
          <a:xfrm>
            <a:off x="548640" y="777240"/>
            <a:ext cx="11094415" cy="960120"/>
          </a:xfrm>
          <a:prstGeom prst="rect">
            <a:avLst/>
          </a:prstGeom>
          <a:noFill/>
          <a:ln/>
        </p:spPr>
        <p:txBody>
          <a:bodyPr wrap="square" lIns="0" tIns="0" rIns="0" bIns="0" rtlCol="0" anchor="t"/>
          <a:lstStyle/>
          <a:p>
            <a:pPr indent="0" marL="0">
              <a:buNone/>
            </a:pPr>
            <a:r>
              <a:rPr lang="en-US" sz="3200" b="1" dirty="0">
                <a:solidFill>
                  <a:srgbClr val="0F1E2A"/>
                </a:solidFill>
                <a:latin typeface="Cambria" pitchFamily="34" charset="0"/>
                <a:ea typeface="Cambria" pitchFamily="34" charset="-122"/>
                <a:cs typeface="Cambria" pitchFamily="34" charset="-120"/>
              </a:rPr>
              <a:t>Uch bosqich: bugun ishlaydigan asosdan ilmiy istiqbolgacha</a:t>
            </a:r>
            <a:endParaRPr lang="en-US" sz="3200" dirty="0"/>
          </a:p>
        </p:txBody>
      </p:sp>
      <p:sp>
        <p:nvSpPr>
          <p:cNvPr id="4" name="Shape 2"/>
          <p:cNvSpPr/>
          <p:nvPr/>
        </p:nvSpPr>
        <p:spPr>
          <a:xfrm>
            <a:off x="548640" y="1965960"/>
            <a:ext cx="3362858" cy="3977640"/>
          </a:xfrm>
          <a:prstGeom prst="roundRect">
            <a:avLst>
              <a:gd name="adj" fmla="val 3263"/>
            </a:avLst>
          </a:prstGeom>
          <a:solidFill>
            <a:srgbClr val="0B6E7F"/>
          </a:solidFill>
          <a:ln/>
        </p:spPr>
      </p:sp>
      <p:sp>
        <p:nvSpPr>
          <p:cNvPr id="5" name="Text 3"/>
          <p:cNvSpPr txBox="1"/>
          <p:nvPr/>
        </p:nvSpPr>
        <p:spPr>
          <a:xfrm>
            <a:off x="822960" y="2240280"/>
            <a:ext cx="2814218" cy="320040"/>
          </a:xfrm>
          <a:prstGeom prst="rect">
            <a:avLst/>
          </a:prstGeom>
          <a:noFill/>
          <a:ln/>
        </p:spPr>
        <p:txBody>
          <a:bodyPr wrap="square" lIns="0" tIns="0" rIns="0" bIns="0" rtlCol="0" anchor="t"/>
          <a:lstStyle/>
          <a:p>
            <a:pPr indent="0" marL="0">
              <a:buNone/>
            </a:pPr>
            <a:r>
              <a:rPr lang="en-US" sz="1200" b="1" spc="200" kern="0" dirty="0">
                <a:solidFill>
                  <a:srgbClr val="CDEFF4"/>
                </a:solidFill>
                <a:latin typeface="Calibri" pitchFamily="34" charset="0"/>
                <a:ea typeface="Calibri" pitchFamily="34" charset="-122"/>
                <a:cs typeface="Calibri" pitchFamily="34" charset="-120"/>
              </a:rPr>
              <a:t>1 · ASOS — MVP · HOZIR</a:t>
            </a:r>
            <a:endParaRPr lang="en-US" sz="1200" dirty="0"/>
          </a:p>
        </p:txBody>
      </p:sp>
      <p:sp>
        <p:nvSpPr>
          <p:cNvPr id="6" name="Text 4"/>
          <p:cNvSpPr txBox="1"/>
          <p:nvPr/>
        </p:nvSpPr>
        <p:spPr>
          <a:xfrm>
            <a:off x="822960" y="2651760"/>
            <a:ext cx="2814218" cy="868680"/>
          </a:xfrm>
          <a:prstGeom prst="rect">
            <a:avLst/>
          </a:prstGeom>
          <a:noFill/>
          <a:ln/>
        </p:spPr>
        <p:txBody>
          <a:bodyPr wrap="square" lIns="0" tIns="0" rIns="0" bIns="0" rtlCol="0" anchor="t"/>
          <a:lstStyle/>
          <a:p>
            <a:pPr indent="0" marL="0">
              <a:buNone/>
            </a:pPr>
            <a:r>
              <a:rPr lang="en-US" sz="2100" b="1" dirty="0">
                <a:solidFill>
                  <a:srgbClr val="FFFFFF"/>
                </a:solidFill>
                <a:latin typeface="Cambria" pitchFamily="34" charset="0"/>
                <a:ea typeface="Cambria" pitchFamily="34" charset="-122"/>
                <a:cs typeface="Cambria" pitchFamily="34" charset="-120"/>
              </a:rPr>
              <a:t>Oʻlchovsiz case-finding va talqin</a:t>
            </a:r>
            <a:endParaRPr lang="en-US" sz="2100" dirty="0"/>
          </a:p>
        </p:txBody>
      </p:sp>
      <p:sp>
        <p:nvSpPr>
          <p:cNvPr id="7" name="Text 5"/>
          <p:cNvSpPr txBox="1"/>
          <p:nvPr/>
        </p:nvSpPr>
        <p:spPr>
          <a:xfrm>
            <a:off x="822960" y="3611880"/>
            <a:ext cx="2814218" cy="1463040"/>
          </a:xfrm>
          <a:prstGeom prst="rect">
            <a:avLst/>
          </a:prstGeom>
          <a:noFill/>
          <a:ln/>
        </p:spPr>
        <p:txBody>
          <a:bodyPr wrap="square" lIns="0" tIns="0" rIns="0" bIns="0" rtlCol="0" anchor="t"/>
          <a:lstStyle/>
          <a:p>
            <a:pPr indent="0" marL="0">
              <a:buNone/>
            </a:pPr>
            <a:r>
              <a:rPr lang="en-US" sz="1500" dirty="0">
                <a:solidFill>
                  <a:srgbClr val="E6F5F7"/>
                </a:solidFill>
                <a:latin typeface="Calibri" pitchFamily="34" charset="0"/>
                <a:ea typeface="Calibri" pitchFamily="34" charset="-122"/>
                <a:cs typeface="Calibri" pitchFamily="34" charset="-120"/>
              </a:rPr>
              <a:t>Validatsiyalangan savolnomalar (mMRC, CAT) + xavf omillari. Qurilma kerak emas, GOLD tavsiyasiga mos.</a:t>
            </a:r>
            <a:endParaRPr lang="en-US" sz="1500" dirty="0"/>
          </a:p>
        </p:txBody>
      </p:sp>
      <p:sp>
        <p:nvSpPr>
          <p:cNvPr id="8" name="Text 6"/>
          <p:cNvSpPr txBox="1"/>
          <p:nvPr/>
        </p:nvSpPr>
        <p:spPr>
          <a:xfrm>
            <a:off x="822960" y="5257800"/>
            <a:ext cx="2814218" cy="45720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Qurilma: kerak emas</a:t>
            </a:r>
            <a:endParaRPr lang="en-US" sz="1400" dirty="0"/>
          </a:p>
        </p:txBody>
      </p:sp>
      <p:sp>
        <p:nvSpPr>
          <p:cNvPr id="9" name="Shape 7"/>
          <p:cNvSpPr/>
          <p:nvPr/>
        </p:nvSpPr>
        <p:spPr>
          <a:xfrm>
            <a:off x="4002938" y="3794760"/>
            <a:ext cx="320040" cy="274320"/>
          </a:xfrm>
          <a:prstGeom prst="rightArrow">
            <a:avLst/>
          </a:prstGeom>
          <a:solidFill>
            <a:srgbClr val="B8C4CE"/>
          </a:solidFill>
          <a:ln/>
        </p:spPr>
      </p:sp>
      <p:sp>
        <p:nvSpPr>
          <p:cNvPr id="10" name="Shape 8"/>
          <p:cNvSpPr/>
          <p:nvPr/>
        </p:nvSpPr>
        <p:spPr>
          <a:xfrm>
            <a:off x="4414418" y="1965960"/>
            <a:ext cx="3362858" cy="3977640"/>
          </a:xfrm>
          <a:prstGeom prst="roundRect">
            <a:avLst>
              <a:gd name="adj" fmla="val 3263"/>
            </a:avLst>
          </a:prstGeom>
          <a:solidFill>
            <a:srgbClr val="F6F8FA"/>
          </a:solidFill>
          <a:ln w="12700">
            <a:solidFill>
              <a:srgbClr val="DDE4EA"/>
            </a:solidFill>
            <a:prstDash val="solid"/>
          </a:ln>
        </p:spPr>
      </p:sp>
      <p:sp>
        <p:nvSpPr>
          <p:cNvPr id="11" name="Text 9"/>
          <p:cNvSpPr txBox="1"/>
          <p:nvPr/>
        </p:nvSpPr>
        <p:spPr>
          <a:xfrm>
            <a:off x="4688738" y="2240280"/>
            <a:ext cx="2814218" cy="320040"/>
          </a:xfrm>
          <a:prstGeom prst="rect">
            <a:avLst/>
          </a:prstGeom>
          <a:noFill/>
          <a:ln/>
        </p:spPr>
        <p:txBody>
          <a:bodyPr wrap="square" lIns="0" tIns="0" rIns="0" bIns="0" rtlCol="0" anchor="t"/>
          <a:lstStyle/>
          <a:p>
            <a:pPr indent="0" marL="0">
              <a:buNone/>
            </a:pPr>
            <a:r>
              <a:rPr lang="en-US" sz="1200" b="1" spc="200" kern="0" dirty="0">
                <a:solidFill>
                  <a:srgbClr val="0B6E7F"/>
                </a:solidFill>
                <a:latin typeface="Calibri" pitchFamily="34" charset="0"/>
                <a:ea typeface="Calibri" pitchFamily="34" charset="-122"/>
                <a:cs typeface="Calibri" pitchFamily="34" charset="-120"/>
              </a:rPr>
              <a:t>2 · YUKSALTIRISH</a:t>
            </a:r>
            <a:endParaRPr lang="en-US" sz="1200" dirty="0"/>
          </a:p>
        </p:txBody>
      </p:sp>
      <p:sp>
        <p:nvSpPr>
          <p:cNvPr id="12" name="Text 10"/>
          <p:cNvSpPr txBox="1"/>
          <p:nvPr/>
        </p:nvSpPr>
        <p:spPr>
          <a:xfrm>
            <a:off x="4688738" y="2651760"/>
            <a:ext cx="2814218" cy="868680"/>
          </a:xfrm>
          <a:prstGeom prst="rect">
            <a:avLst/>
          </a:prstGeom>
          <a:noFill/>
          <a:ln/>
        </p:spPr>
        <p:txBody>
          <a:bodyPr wrap="square" lIns="0" tIns="0" rIns="0" bIns="0" rtlCol="0" anchor="t"/>
          <a:lstStyle/>
          <a:p>
            <a:pPr indent="0" marL="0">
              <a:buNone/>
            </a:pPr>
            <a:r>
              <a:rPr lang="en-US" sz="2100" b="1" dirty="0">
                <a:solidFill>
                  <a:srgbClr val="0F1E2A"/>
                </a:solidFill>
                <a:latin typeface="Cambria" pitchFamily="34" charset="0"/>
                <a:ea typeface="Cambria" pitchFamily="34" charset="-122"/>
                <a:cs typeface="Cambria" pitchFamily="34" charset="-120"/>
              </a:rPr>
              <a:t>Portativ spirometr integratsiyasi</a:t>
            </a:r>
            <a:endParaRPr lang="en-US" sz="2100" dirty="0"/>
          </a:p>
        </p:txBody>
      </p:sp>
      <p:sp>
        <p:nvSpPr>
          <p:cNvPr id="13" name="Text 11"/>
          <p:cNvSpPr txBox="1"/>
          <p:nvPr/>
        </p:nvSpPr>
        <p:spPr>
          <a:xfrm>
            <a:off x="4688738" y="3611880"/>
            <a:ext cx="2814218" cy="1463040"/>
          </a:xfrm>
          <a:prstGeom prst="rect">
            <a:avLst/>
          </a:prstGeom>
          <a:noFill/>
          <a:ln/>
        </p:spPr>
        <p:txBody>
          <a:bodyPr wrap="square" lIns="0" tIns="0" rIns="0" bIns="0" rtlCol="0" anchor="t"/>
          <a:lstStyle/>
          <a:p>
            <a:pPr indent="0" marL="0">
              <a:buNone/>
            </a:pPr>
            <a:r>
              <a:rPr lang="en-US" sz="1500" dirty="0">
                <a:solidFill>
                  <a:srgbClr val="4A5A67"/>
                </a:solidFill>
                <a:latin typeface="Calibri" pitchFamily="34" charset="0"/>
                <a:ea typeface="Calibri" pitchFamily="34" charset="-122"/>
                <a:cs typeface="Calibri" pitchFamily="34" charset="-120"/>
              </a:rPr>
              <a:t>Bluetooth/USB qurilma oʻlchaydi — tizim oʻqiydi, talqin qiladi, saqlaydi.</a:t>
            </a:r>
            <a:endParaRPr lang="en-US" sz="1500" dirty="0"/>
          </a:p>
        </p:txBody>
      </p:sp>
      <p:sp>
        <p:nvSpPr>
          <p:cNvPr id="14" name="Text 12"/>
          <p:cNvSpPr txBox="1"/>
          <p:nvPr/>
        </p:nvSpPr>
        <p:spPr>
          <a:xfrm>
            <a:off x="4688738" y="5257800"/>
            <a:ext cx="2814218" cy="457200"/>
          </a:xfrm>
          <a:prstGeom prst="rect">
            <a:avLst/>
          </a:prstGeom>
          <a:noFill/>
          <a:ln/>
        </p:spPr>
        <p:txBody>
          <a:bodyPr wrap="square" lIns="0" tIns="0" rIns="0" bIns="0" rtlCol="0" anchor="t"/>
          <a:lstStyle/>
          <a:p>
            <a:pPr indent="0" marL="0">
              <a:buNone/>
            </a:pPr>
            <a:r>
              <a:rPr lang="en-US" sz="1400" b="1" dirty="0">
                <a:solidFill>
                  <a:srgbClr val="0F1E2A"/>
                </a:solidFill>
                <a:latin typeface="Calibri" pitchFamily="34" charset="0"/>
                <a:ea typeface="Calibri" pitchFamily="34" charset="-122"/>
                <a:cs typeface="Calibri" pitchFamily="34" charset="-120"/>
              </a:rPr>
              <a:t>Qurilma: 1 ta — butun punktga</a:t>
            </a:r>
            <a:endParaRPr lang="en-US" sz="1400" dirty="0"/>
          </a:p>
        </p:txBody>
      </p:sp>
      <p:sp>
        <p:nvSpPr>
          <p:cNvPr id="15" name="Shape 13"/>
          <p:cNvSpPr/>
          <p:nvPr/>
        </p:nvSpPr>
        <p:spPr>
          <a:xfrm>
            <a:off x="7868717" y="3794760"/>
            <a:ext cx="320040" cy="274320"/>
          </a:xfrm>
          <a:prstGeom prst="rightArrow">
            <a:avLst/>
          </a:prstGeom>
          <a:solidFill>
            <a:srgbClr val="B8C4CE"/>
          </a:solidFill>
          <a:ln/>
        </p:spPr>
      </p:sp>
      <p:sp>
        <p:nvSpPr>
          <p:cNvPr id="16" name="Shape 14"/>
          <p:cNvSpPr/>
          <p:nvPr/>
        </p:nvSpPr>
        <p:spPr>
          <a:xfrm>
            <a:off x="8280197" y="1965960"/>
            <a:ext cx="3362858" cy="3977640"/>
          </a:xfrm>
          <a:prstGeom prst="roundRect">
            <a:avLst>
              <a:gd name="adj" fmla="val 3263"/>
            </a:avLst>
          </a:prstGeom>
          <a:solidFill>
            <a:srgbClr val="F6F8FA"/>
          </a:solidFill>
          <a:ln w="12700">
            <a:solidFill>
              <a:srgbClr val="B8C4CE"/>
            </a:solidFill>
            <a:prstDash val="solid"/>
          </a:ln>
        </p:spPr>
      </p:sp>
      <p:sp>
        <p:nvSpPr>
          <p:cNvPr id="17" name="Text 15"/>
          <p:cNvSpPr txBox="1"/>
          <p:nvPr/>
        </p:nvSpPr>
        <p:spPr>
          <a:xfrm>
            <a:off x="8554517" y="2240280"/>
            <a:ext cx="2814218" cy="320040"/>
          </a:xfrm>
          <a:prstGeom prst="rect">
            <a:avLst/>
          </a:prstGeom>
          <a:noFill/>
          <a:ln/>
        </p:spPr>
        <p:txBody>
          <a:bodyPr wrap="square" lIns="0" tIns="0" rIns="0" bIns="0" rtlCol="0" anchor="t"/>
          <a:lstStyle/>
          <a:p>
            <a:pPr indent="0" marL="0">
              <a:buNone/>
            </a:pPr>
            <a:r>
              <a:rPr lang="en-US" sz="1200" b="1" spc="200" kern="0" dirty="0">
                <a:solidFill>
                  <a:srgbClr val="6B5BA8"/>
                </a:solidFill>
                <a:latin typeface="Calibri" pitchFamily="34" charset="0"/>
                <a:ea typeface="Calibri" pitchFamily="34" charset="-122"/>
                <a:cs typeface="Calibri" pitchFamily="34" charset="-120"/>
              </a:rPr>
              <a:t>3 · TADQIQOT ISTIQBOLI</a:t>
            </a:r>
            <a:endParaRPr lang="en-US" sz="1200" dirty="0"/>
          </a:p>
        </p:txBody>
      </p:sp>
      <p:sp>
        <p:nvSpPr>
          <p:cNvPr id="18" name="Text 16"/>
          <p:cNvSpPr txBox="1"/>
          <p:nvPr/>
        </p:nvSpPr>
        <p:spPr>
          <a:xfrm>
            <a:off x="8554517" y="2651760"/>
            <a:ext cx="2814218" cy="868680"/>
          </a:xfrm>
          <a:prstGeom prst="rect">
            <a:avLst/>
          </a:prstGeom>
          <a:noFill/>
          <a:ln/>
        </p:spPr>
        <p:txBody>
          <a:bodyPr wrap="square" lIns="0" tIns="0" rIns="0" bIns="0" rtlCol="0" anchor="t"/>
          <a:lstStyle/>
          <a:p>
            <a:pPr indent="0" marL="0">
              <a:buNone/>
            </a:pPr>
            <a:r>
              <a:rPr lang="en-US" sz="2100" b="1" dirty="0">
                <a:solidFill>
                  <a:srgbClr val="0F1E2A"/>
                </a:solidFill>
                <a:latin typeface="Cambria" pitchFamily="34" charset="0"/>
                <a:ea typeface="Cambria" pitchFamily="34" charset="-122"/>
                <a:cs typeface="Cambria" pitchFamily="34" charset="-120"/>
              </a:rPr>
              <a:t>Telefon mikrofoni orqali baholash</a:t>
            </a:r>
            <a:endParaRPr lang="en-US" sz="2100" dirty="0"/>
          </a:p>
        </p:txBody>
      </p:sp>
      <p:sp>
        <p:nvSpPr>
          <p:cNvPr id="19" name="Text 17"/>
          <p:cNvSpPr txBox="1"/>
          <p:nvPr/>
        </p:nvSpPr>
        <p:spPr>
          <a:xfrm>
            <a:off x="8554517" y="3611880"/>
            <a:ext cx="2814218" cy="1463040"/>
          </a:xfrm>
          <a:prstGeom prst="rect">
            <a:avLst/>
          </a:prstGeom>
          <a:noFill/>
          <a:ln/>
        </p:spPr>
        <p:txBody>
          <a:bodyPr wrap="square" lIns="0" tIns="0" rIns="0" bIns="0" rtlCol="0" anchor="t"/>
          <a:lstStyle/>
          <a:p>
            <a:pPr indent="0" marL="0">
              <a:buNone/>
            </a:pPr>
            <a:r>
              <a:rPr lang="en-US" sz="1500" dirty="0">
                <a:solidFill>
                  <a:srgbClr val="4A5A67"/>
                </a:solidFill>
                <a:latin typeface="Calibri" pitchFamily="34" charset="0"/>
                <a:ea typeface="Calibri" pitchFamily="34" charset="-122"/>
                <a:cs typeface="Calibri" pitchFamily="34" charset="-120"/>
              </a:rPr>
              <a:t>Web Audio asosida ilmiy yoʻnalish — mahsulot emas, tadqiqot savoli.</a:t>
            </a:r>
            <a:endParaRPr lang="en-US" sz="1500" dirty="0"/>
          </a:p>
        </p:txBody>
      </p:sp>
      <p:sp>
        <p:nvSpPr>
          <p:cNvPr id="20" name="Text 18"/>
          <p:cNvSpPr txBox="1"/>
          <p:nvPr/>
        </p:nvSpPr>
        <p:spPr>
          <a:xfrm>
            <a:off x="8554517" y="5257800"/>
            <a:ext cx="2814218" cy="457200"/>
          </a:xfrm>
          <a:prstGeom prst="rect">
            <a:avLst/>
          </a:prstGeom>
          <a:noFill/>
          <a:ln/>
        </p:spPr>
        <p:txBody>
          <a:bodyPr wrap="square" lIns="0" tIns="0" rIns="0" bIns="0" rtlCol="0" anchor="t"/>
          <a:lstStyle/>
          <a:p>
            <a:pPr indent="0" marL="0">
              <a:buNone/>
            </a:pPr>
            <a:r>
              <a:rPr lang="en-US" sz="1400" b="1" dirty="0">
                <a:solidFill>
                  <a:srgbClr val="0F1E2A"/>
                </a:solidFill>
                <a:latin typeface="Calibri" pitchFamily="34" charset="0"/>
                <a:ea typeface="Calibri" pitchFamily="34" charset="-122"/>
                <a:cs typeface="Calibri" pitchFamily="34" charset="-120"/>
              </a:rPr>
              <a:t>Qurilma: telefon</a:t>
            </a:r>
            <a:endParaRPr lang="en-US" sz="1400" dirty="0"/>
          </a:p>
        </p:txBody>
      </p:sp>
      <p:sp>
        <p:nvSpPr>
          <p:cNvPr id="21" name="Text 19"/>
          <p:cNvSpPr txBox="1"/>
          <p:nvPr/>
        </p:nvSpPr>
        <p:spPr>
          <a:xfrm>
            <a:off x="548640" y="6400800"/>
            <a:ext cx="3657600" cy="274320"/>
          </a:xfrm>
          <a:prstGeom prst="rect">
            <a:avLst/>
          </a:prstGeom>
          <a:noFill/>
          <a:ln/>
        </p:spPr>
        <p:txBody>
          <a:bodyPr wrap="square" lIns="0" tIns="0" rIns="0" bIns="0" rtlCol="0" anchor="t"/>
          <a:lstStyle/>
          <a:p>
            <a:pPr indent="0" marL="0">
              <a:buNone/>
            </a:pPr>
            <a:r>
              <a:rPr lang="en-US" sz="1100" dirty="0">
                <a:solidFill>
                  <a:srgbClr val="6B7B87"/>
                </a:solidFill>
                <a:latin typeface="Calibri" pitchFamily="34" charset="0"/>
                <a:ea typeface="Calibri" pitchFamily="34" charset="-122"/>
                <a:cs typeface="Calibri" pitchFamily="34" charset="-120"/>
              </a:rPr>
              <a:t>NafasNazorat · 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E2A"/>
        </a:solidFill>
      </p:bgPr>
    </p:bg>
    <p:spTree>
      <p:nvGrpSpPr>
        <p:cNvPr id="1" name=""/>
        <p:cNvGrpSpPr/>
        <p:nvPr/>
      </p:nvGrpSpPr>
      <p:grpSpPr>
        <a:xfrm>
          <a:off x="0" y="0"/>
          <a:ext cx="0" cy="0"/>
          <a:chOff x="0" y="0"/>
          <a:chExt cx="0" cy="0"/>
        </a:xfrm>
      </p:grpSpPr>
      <p:sp>
        <p:nvSpPr>
          <p:cNvPr id="2" name="Text 0"/>
          <p:cNvSpPr txBox="1"/>
          <p:nvPr/>
        </p:nvSpPr>
        <p:spPr>
          <a:xfrm>
            <a:off x="548640" y="457200"/>
            <a:ext cx="11094415" cy="292608"/>
          </a:xfrm>
          <a:prstGeom prst="rect">
            <a:avLst/>
          </a:prstGeom>
          <a:noFill/>
          <a:ln/>
        </p:spPr>
        <p:txBody>
          <a:bodyPr wrap="square" lIns="0" tIns="0" rIns="0" bIns="0" rtlCol="0" anchor="t"/>
          <a:lstStyle/>
          <a:p>
            <a:pPr indent="0" marL="0">
              <a:buNone/>
            </a:pPr>
            <a:r>
              <a:rPr lang="en-US" sz="1300" b="1" spc="300" kern="0" dirty="0">
                <a:solidFill>
                  <a:srgbClr val="7FD3DF"/>
                </a:solidFill>
                <a:latin typeface="Calibri" pitchFamily="34" charset="0"/>
                <a:ea typeface="Calibri" pitchFamily="34" charset="-122"/>
                <a:cs typeface="Calibri" pitchFamily="34" charset="-120"/>
              </a:rPr>
              <a:t>1-BOSQICH · ASOS (MVP)</a:t>
            </a:r>
            <a:endParaRPr lang="en-US" sz="1300" dirty="0"/>
          </a:p>
        </p:txBody>
      </p:sp>
      <p:sp>
        <p:nvSpPr>
          <p:cNvPr id="3" name="Text 1"/>
          <p:cNvSpPr txBox="1"/>
          <p:nvPr/>
        </p:nvSpPr>
        <p:spPr>
          <a:xfrm>
            <a:off x="548640" y="777240"/>
            <a:ext cx="11094415" cy="960120"/>
          </a:xfrm>
          <a:prstGeom prst="rect">
            <a:avLst/>
          </a:prstGeom>
          <a:noFill/>
          <a:ln/>
        </p:spPr>
        <p:txBody>
          <a:bodyPr wrap="square" lIns="0" tIns="0" rIns="0" bIns="0" rtlCol="0" anchor="t"/>
          <a:lstStyle/>
          <a:p>
            <a:pPr indent="0" marL="0">
              <a:buNone/>
            </a:pPr>
            <a:r>
              <a:rPr lang="en-US" sz="3200" b="1" dirty="0">
                <a:solidFill>
                  <a:srgbClr val="F6F8FA"/>
                </a:solidFill>
                <a:latin typeface="Cambria" pitchFamily="34" charset="0"/>
                <a:ea typeface="Cambria" pitchFamily="34" charset="-122"/>
                <a:cs typeface="Cambria" pitchFamily="34" charset="-120"/>
              </a:rPr>
              <a:t>Oʻlchovsiz case-finding — MVPning markazi</a:t>
            </a:r>
            <a:endParaRPr lang="en-US" sz="3200" dirty="0"/>
          </a:p>
        </p:txBody>
      </p:sp>
      <p:sp>
        <p:nvSpPr>
          <p:cNvPr id="4" name="Shape 2"/>
          <p:cNvSpPr/>
          <p:nvPr/>
        </p:nvSpPr>
        <p:spPr>
          <a:xfrm>
            <a:off x="548640" y="1920240"/>
            <a:ext cx="3515258" cy="2743200"/>
          </a:xfrm>
          <a:prstGeom prst="roundRect">
            <a:avLst>
              <a:gd name="adj" fmla="val 4000"/>
            </a:avLst>
          </a:prstGeom>
          <a:solidFill>
            <a:srgbClr val="16293A"/>
          </a:solidFill>
          <a:ln/>
        </p:spPr>
      </p:sp>
      <p:pic>
        <p:nvPicPr>
          <p:cNvPr id="5" name="Image 0" descr="preencoded.png">    </p:cNvPr>
          <p:cNvPicPr>
            <a:picLocks noChangeAspect="1"/>
          </p:cNvPicPr>
          <p:nvPr/>
        </p:nvPicPr>
        <p:blipFill>
          <a:blip r:embed="rId1"/>
          <a:stretch>
            <a:fillRect/>
          </a:stretch>
        </p:blipFill>
        <p:spPr>
          <a:xfrm>
            <a:off x="868680" y="2240280"/>
            <a:ext cx="457200" cy="457200"/>
          </a:xfrm>
          <a:prstGeom prst="rect">
            <a:avLst/>
          </a:prstGeom>
        </p:spPr>
      </p:pic>
      <p:sp>
        <p:nvSpPr>
          <p:cNvPr id="6" name="Text 3"/>
          <p:cNvSpPr txBox="1"/>
          <p:nvPr/>
        </p:nvSpPr>
        <p:spPr>
          <a:xfrm>
            <a:off x="868680" y="2880360"/>
            <a:ext cx="2875178" cy="45720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Qurilma talab qilmaydi</a:t>
            </a:r>
            <a:endParaRPr lang="en-US" sz="2000" dirty="0"/>
          </a:p>
        </p:txBody>
      </p:sp>
      <p:sp>
        <p:nvSpPr>
          <p:cNvPr id="7" name="Text 4"/>
          <p:cNvSpPr txBox="1"/>
          <p:nvPr/>
        </p:nvSpPr>
        <p:spPr>
          <a:xfrm>
            <a:off x="868680" y="3383280"/>
            <a:ext cx="2875178" cy="1188720"/>
          </a:xfrm>
          <a:prstGeom prst="rect">
            <a:avLst/>
          </a:prstGeom>
          <a:noFill/>
          <a:ln/>
        </p:spPr>
        <p:txBody>
          <a:bodyPr wrap="square" lIns="0" tIns="0" rIns="0" bIns="0" rtlCol="0" anchor="t"/>
          <a:lstStyle/>
          <a:p>
            <a:pPr indent="0" marL="0">
              <a:buNone/>
            </a:pPr>
            <a:r>
              <a:rPr lang="en-US" sz="1500" dirty="0">
                <a:solidFill>
                  <a:srgbClr val="BFD3DB"/>
                </a:solidFill>
                <a:latin typeface="Calibri" pitchFamily="34" charset="0"/>
                <a:ea typeface="Calibri" pitchFamily="34" charset="-122"/>
                <a:cs typeface="Calibri" pitchFamily="34" charset="-120"/>
              </a:rPr>
              <a:t>Har qanday kompyuter, planshet yoki telefonda — bugunoq har bir punktda.</a:t>
            </a:r>
            <a:endParaRPr lang="en-US" sz="1500" dirty="0"/>
          </a:p>
        </p:txBody>
      </p:sp>
      <p:sp>
        <p:nvSpPr>
          <p:cNvPr id="8" name="Shape 5"/>
          <p:cNvSpPr/>
          <p:nvPr/>
        </p:nvSpPr>
        <p:spPr>
          <a:xfrm>
            <a:off x="4338218" y="1920240"/>
            <a:ext cx="3515258" cy="2743200"/>
          </a:xfrm>
          <a:prstGeom prst="roundRect">
            <a:avLst>
              <a:gd name="adj" fmla="val 4000"/>
            </a:avLst>
          </a:prstGeom>
          <a:solidFill>
            <a:srgbClr val="16293A"/>
          </a:solidFill>
          <a:ln/>
        </p:spPr>
      </p:sp>
      <p:pic>
        <p:nvPicPr>
          <p:cNvPr id="9" name="Image 1" descr="preencoded.png">    </p:cNvPr>
          <p:cNvPicPr>
            <a:picLocks noChangeAspect="1"/>
          </p:cNvPicPr>
          <p:nvPr/>
        </p:nvPicPr>
        <p:blipFill>
          <a:blip r:embed="rId2"/>
          <a:stretch>
            <a:fillRect/>
          </a:stretch>
        </p:blipFill>
        <p:spPr>
          <a:xfrm>
            <a:off x="4658258" y="2240280"/>
            <a:ext cx="457200" cy="457200"/>
          </a:xfrm>
          <a:prstGeom prst="rect">
            <a:avLst/>
          </a:prstGeom>
        </p:spPr>
      </p:pic>
      <p:sp>
        <p:nvSpPr>
          <p:cNvPr id="10" name="Text 6"/>
          <p:cNvSpPr txBox="1"/>
          <p:nvPr/>
        </p:nvSpPr>
        <p:spPr>
          <a:xfrm>
            <a:off x="4658258" y="2880360"/>
            <a:ext cx="2875178" cy="45720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GOLD qoʻllab-quvvatlaydi</a:t>
            </a:r>
            <a:endParaRPr lang="en-US" sz="2000" dirty="0"/>
          </a:p>
        </p:txBody>
      </p:sp>
      <p:sp>
        <p:nvSpPr>
          <p:cNvPr id="11" name="Text 7"/>
          <p:cNvSpPr txBox="1"/>
          <p:nvPr/>
        </p:nvSpPr>
        <p:spPr>
          <a:xfrm>
            <a:off x="4658258" y="3383280"/>
            <a:ext cx="2875178" cy="1188720"/>
          </a:xfrm>
          <a:prstGeom prst="rect">
            <a:avLst/>
          </a:prstGeom>
          <a:noFill/>
          <a:ln/>
        </p:spPr>
        <p:txBody>
          <a:bodyPr wrap="square" lIns="0" tIns="0" rIns="0" bIns="0" rtlCol="0" anchor="t"/>
          <a:lstStyle/>
          <a:p>
            <a:pPr indent="0" marL="0">
              <a:buNone/>
            </a:pPr>
            <a:r>
              <a:rPr lang="en-US" sz="1500" dirty="0">
                <a:solidFill>
                  <a:srgbClr val="BFD3DB"/>
                </a:solidFill>
                <a:latin typeface="Calibri" pitchFamily="34" charset="0"/>
                <a:ea typeface="Calibri" pitchFamily="34" charset="-122"/>
                <a:cs typeface="Calibri" pitchFamily="34" charset="-120"/>
              </a:rPr>
              <a:t>Validatsiyalangan mMRC va CAT, GOLD 2025 koʻrsatkichlari: yosh, taʼsir, simptomlar.</a:t>
            </a:r>
            <a:endParaRPr lang="en-US" sz="1500" dirty="0"/>
          </a:p>
        </p:txBody>
      </p:sp>
      <p:sp>
        <p:nvSpPr>
          <p:cNvPr id="12" name="Shape 8"/>
          <p:cNvSpPr/>
          <p:nvPr/>
        </p:nvSpPr>
        <p:spPr>
          <a:xfrm>
            <a:off x="8127797" y="1920240"/>
            <a:ext cx="3515258" cy="2743200"/>
          </a:xfrm>
          <a:prstGeom prst="roundRect">
            <a:avLst>
              <a:gd name="adj" fmla="val 4000"/>
            </a:avLst>
          </a:prstGeom>
          <a:solidFill>
            <a:srgbClr val="16293A"/>
          </a:solidFill>
          <a:ln/>
        </p:spPr>
      </p:sp>
      <p:pic>
        <p:nvPicPr>
          <p:cNvPr id="13" name="Image 2" descr="preencoded.png">    </p:cNvPr>
          <p:cNvPicPr>
            <a:picLocks noChangeAspect="1"/>
          </p:cNvPicPr>
          <p:nvPr/>
        </p:nvPicPr>
        <p:blipFill>
          <a:blip r:embed="rId3"/>
          <a:stretch>
            <a:fillRect/>
          </a:stretch>
        </p:blipFill>
        <p:spPr>
          <a:xfrm>
            <a:off x="8447837" y="2240280"/>
            <a:ext cx="457200" cy="457200"/>
          </a:xfrm>
          <a:prstGeom prst="rect">
            <a:avLst/>
          </a:prstGeom>
        </p:spPr>
      </p:pic>
      <p:sp>
        <p:nvSpPr>
          <p:cNvPr id="14" name="Text 9"/>
          <p:cNvSpPr txBox="1"/>
          <p:nvPr/>
        </p:nvSpPr>
        <p:spPr>
          <a:xfrm>
            <a:off x="8447837" y="2880360"/>
            <a:ext cx="2875178" cy="45720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Bugun ishga tushadi</a:t>
            </a:r>
            <a:endParaRPr lang="en-US" sz="2000" dirty="0"/>
          </a:p>
        </p:txBody>
      </p:sp>
      <p:sp>
        <p:nvSpPr>
          <p:cNvPr id="15" name="Text 10"/>
          <p:cNvSpPr txBox="1"/>
          <p:nvPr/>
        </p:nvSpPr>
        <p:spPr>
          <a:xfrm>
            <a:off x="8447837" y="3383280"/>
            <a:ext cx="2875178" cy="1188720"/>
          </a:xfrm>
          <a:prstGeom prst="rect">
            <a:avLst/>
          </a:prstGeom>
          <a:noFill/>
          <a:ln/>
        </p:spPr>
        <p:txBody>
          <a:bodyPr wrap="square" lIns="0" tIns="0" rIns="0" bIns="0" rtlCol="0" anchor="t"/>
          <a:lstStyle/>
          <a:p>
            <a:pPr indent="0" marL="0">
              <a:buNone/>
            </a:pPr>
            <a:r>
              <a:rPr lang="en-US" sz="1500" dirty="0">
                <a:solidFill>
                  <a:srgbClr val="BFD3DB"/>
                </a:solidFill>
                <a:latin typeface="Calibri" pitchFamily="34" charset="0"/>
                <a:ea typeface="Calibri" pitchFamily="34" charset="-122"/>
                <a:cs typeface="Calibri" pitchFamily="34" charset="-120"/>
              </a:rPr>
              <a:t>Jonli prototip ishlab turibdi: nafas.plagiatx.uz</a:t>
            </a:r>
            <a:endParaRPr lang="en-US" sz="1500" dirty="0"/>
          </a:p>
        </p:txBody>
      </p:sp>
      <p:sp>
        <p:nvSpPr>
          <p:cNvPr id="16" name="Text 11"/>
          <p:cNvSpPr txBox="1"/>
          <p:nvPr/>
        </p:nvSpPr>
        <p:spPr>
          <a:xfrm>
            <a:off x="548640" y="5029200"/>
            <a:ext cx="11094415" cy="822960"/>
          </a:xfrm>
          <a:prstGeom prst="rect">
            <a:avLst/>
          </a:prstGeom>
          <a:noFill/>
          <a:ln/>
        </p:spPr>
        <p:txBody>
          <a:bodyPr wrap="square" lIns="0" tIns="0" rIns="0" bIns="0" rtlCol="0" anchor="t"/>
          <a:lstStyle/>
          <a:p>
            <a:pPr indent="0" marL="0">
              <a:buNone/>
            </a:pPr>
            <a:r>
              <a:rPr lang="en-US" sz="1900" dirty="0">
                <a:solidFill>
                  <a:srgbClr val="F6F8FA"/>
                </a:solidFill>
                <a:latin typeface="Calibri" pitchFamily="34" charset="0"/>
                <a:ea typeface="Calibri" pitchFamily="34" charset="-122"/>
                <a:cs typeface="Calibri" pitchFamily="34" charset="-120"/>
              </a:rPr>
              <a:t>Natija — tashxis emas: </a:t>
            </a:r>
            <a:pPr indent="0" marL="0">
              <a:buNone/>
            </a:pPr>
            <a:r>
              <a:rPr lang="en-US" sz="1900" b="1" dirty="0">
                <a:solidFill>
                  <a:srgbClr val="F6F8FA"/>
                </a:solidFill>
                <a:latin typeface="Calibri" pitchFamily="34" charset="0"/>
                <a:ea typeface="Calibri" pitchFamily="34" charset="-122"/>
                <a:cs typeface="Calibri" pitchFamily="34" charset="-120"/>
              </a:rPr>
              <a:t>“spirometriya / pulmonolog koʻrigi zarurligi ehtimoli”</a:t>
            </a:r>
            <a:pPr indent="0" marL="0">
              <a:buNone/>
            </a:pPr>
            <a:r>
              <a:rPr lang="en-US" sz="1900" dirty="0">
                <a:solidFill>
                  <a:srgbClr val="F6F8FA"/>
                </a:solidFill>
                <a:latin typeface="Calibri" pitchFamily="34" charset="0"/>
                <a:ea typeface="Calibri" pitchFamily="34" charset="-122"/>
                <a:cs typeface="Calibri" pitchFamily="34" charset="-120"/>
              </a:rPr>
              <a:t> va aniq yoʻllanma tavsiyasi.</a:t>
            </a:r>
            <a:endParaRPr lang="en-US" sz="1900" dirty="0"/>
          </a:p>
        </p:txBody>
      </p:sp>
      <p:sp>
        <p:nvSpPr>
          <p:cNvPr id="17" name="Text 12"/>
          <p:cNvSpPr txBox="1"/>
          <p:nvPr/>
        </p:nvSpPr>
        <p:spPr>
          <a:xfrm>
            <a:off x="548640" y="6400800"/>
            <a:ext cx="3657600" cy="274320"/>
          </a:xfrm>
          <a:prstGeom prst="rect">
            <a:avLst/>
          </a:prstGeom>
          <a:noFill/>
          <a:ln/>
        </p:spPr>
        <p:txBody>
          <a:bodyPr wrap="square" lIns="0" tIns="0" rIns="0" bIns="0" rtlCol="0" anchor="t"/>
          <a:lstStyle/>
          <a:p>
            <a:pPr indent="0" marL="0">
              <a:buNone/>
            </a:pPr>
            <a:r>
              <a:rPr lang="en-US" sz="1100" dirty="0">
                <a:solidFill>
                  <a:srgbClr val="9FB7C2"/>
                </a:solidFill>
                <a:latin typeface="Calibri" pitchFamily="34" charset="0"/>
                <a:ea typeface="Calibri" pitchFamily="34" charset="-122"/>
                <a:cs typeface="Calibri" pitchFamily="34" charset="-120"/>
              </a:rPr>
              <a:t>NafasNazorat · 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8FA"/>
        </a:solidFill>
      </p:bgPr>
    </p:bg>
    <p:spTree>
      <p:nvGrpSpPr>
        <p:cNvPr id="1" name=""/>
        <p:cNvGrpSpPr/>
        <p:nvPr/>
      </p:nvGrpSpPr>
      <p:grpSpPr>
        <a:xfrm>
          <a:off x="0" y="0"/>
          <a:ext cx="0" cy="0"/>
          <a:chOff x="0" y="0"/>
          <a:chExt cx="0" cy="0"/>
        </a:xfrm>
      </p:grpSpPr>
      <p:sp>
        <p:nvSpPr>
          <p:cNvPr id="2" name="Text 0"/>
          <p:cNvSpPr txBox="1"/>
          <p:nvPr/>
        </p:nvSpPr>
        <p:spPr>
          <a:xfrm>
            <a:off x="548640" y="457200"/>
            <a:ext cx="11094415" cy="292608"/>
          </a:xfrm>
          <a:prstGeom prst="rect">
            <a:avLst/>
          </a:prstGeom>
          <a:noFill/>
          <a:ln/>
        </p:spPr>
        <p:txBody>
          <a:bodyPr wrap="square" lIns="0" tIns="0" rIns="0" bIns="0" rtlCol="0" anchor="t"/>
          <a:lstStyle/>
          <a:p>
            <a:pPr indent="0" marL="0">
              <a:buNone/>
            </a:pPr>
            <a:r>
              <a:rPr lang="en-US" sz="1300" b="1" spc="300" kern="0" dirty="0">
                <a:solidFill>
                  <a:srgbClr val="0B6E7F"/>
                </a:solidFill>
                <a:latin typeface="Calibri" pitchFamily="34" charset="0"/>
                <a:ea typeface="Calibri" pitchFamily="34" charset="-122"/>
                <a:cs typeface="Calibri" pitchFamily="34" charset="-120"/>
              </a:rPr>
              <a:t>QANDAY ISHLAYDI</a:t>
            </a:r>
            <a:endParaRPr lang="en-US" sz="1300" dirty="0"/>
          </a:p>
        </p:txBody>
      </p:sp>
      <p:sp>
        <p:nvSpPr>
          <p:cNvPr id="3" name="Text 1"/>
          <p:cNvSpPr txBox="1"/>
          <p:nvPr/>
        </p:nvSpPr>
        <p:spPr>
          <a:xfrm>
            <a:off x="548640" y="777240"/>
            <a:ext cx="11094415" cy="960120"/>
          </a:xfrm>
          <a:prstGeom prst="rect">
            <a:avLst/>
          </a:prstGeom>
          <a:noFill/>
          <a:ln/>
        </p:spPr>
        <p:txBody>
          <a:bodyPr wrap="square" lIns="0" tIns="0" rIns="0" bIns="0" rtlCol="0" anchor="t"/>
          <a:lstStyle/>
          <a:p>
            <a:pPr indent="0" marL="0">
              <a:buNone/>
            </a:pPr>
            <a:r>
              <a:rPr lang="en-US" sz="3200" b="1" dirty="0">
                <a:solidFill>
                  <a:srgbClr val="0F1E2A"/>
                </a:solidFill>
                <a:latin typeface="Cambria" pitchFamily="34" charset="0"/>
                <a:ea typeface="Cambria" pitchFamily="34" charset="-122"/>
                <a:cs typeface="Cambria" pitchFamily="34" charset="-120"/>
              </a:rPr>
              <a:t>5 qadam, taxminan 5 daqiqa</a:t>
            </a:r>
            <a:endParaRPr lang="en-US" sz="3200" dirty="0"/>
          </a:p>
        </p:txBody>
      </p:sp>
      <p:sp>
        <p:nvSpPr>
          <p:cNvPr id="4" name="Shape 2"/>
          <p:cNvSpPr/>
          <p:nvPr/>
        </p:nvSpPr>
        <p:spPr>
          <a:xfrm>
            <a:off x="548640" y="1874520"/>
            <a:ext cx="2109155" cy="2377440"/>
          </a:xfrm>
          <a:prstGeom prst="roundRect">
            <a:avLst>
              <a:gd name="adj" fmla="val 5202"/>
            </a:avLst>
          </a:prstGeom>
          <a:solidFill>
            <a:srgbClr val="FFFFFF"/>
          </a:solidFill>
          <a:ln w="12700">
            <a:solidFill>
              <a:srgbClr val="DDE4EA"/>
            </a:solidFill>
            <a:prstDash val="solid"/>
          </a:ln>
        </p:spPr>
      </p:sp>
      <p:sp>
        <p:nvSpPr>
          <p:cNvPr id="5" name="Text 3"/>
          <p:cNvSpPr txBox="1"/>
          <p:nvPr/>
        </p:nvSpPr>
        <p:spPr>
          <a:xfrm>
            <a:off x="777240" y="2103120"/>
            <a:ext cx="914400" cy="640080"/>
          </a:xfrm>
          <a:prstGeom prst="rect">
            <a:avLst/>
          </a:prstGeom>
          <a:noFill/>
          <a:ln/>
        </p:spPr>
        <p:txBody>
          <a:bodyPr wrap="square" lIns="0" tIns="0" rIns="0" bIns="0" rtlCol="0" anchor="t"/>
          <a:lstStyle/>
          <a:p>
            <a:pPr indent="0" marL="0">
              <a:buNone/>
            </a:pPr>
            <a:r>
              <a:rPr lang="en-US" sz="3600" b="1" dirty="0">
                <a:solidFill>
                  <a:srgbClr val="0B6E7F"/>
                </a:solidFill>
                <a:latin typeface="Cambria" pitchFamily="34" charset="0"/>
                <a:ea typeface="Cambria" pitchFamily="34" charset="-122"/>
                <a:cs typeface="Cambria" pitchFamily="34" charset="-120"/>
              </a:rPr>
              <a:t>1</a:t>
            </a:r>
            <a:endParaRPr lang="en-US" sz="3600" dirty="0"/>
          </a:p>
        </p:txBody>
      </p:sp>
      <p:sp>
        <p:nvSpPr>
          <p:cNvPr id="6" name="Text 4"/>
          <p:cNvSpPr txBox="1"/>
          <p:nvPr/>
        </p:nvSpPr>
        <p:spPr>
          <a:xfrm>
            <a:off x="777240" y="2788920"/>
            <a:ext cx="1651955" cy="411480"/>
          </a:xfrm>
          <a:prstGeom prst="rect">
            <a:avLst/>
          </a:prstGeom>
          <a:noFill/>
          <a:ln/>
        </p:spPr>
        <p:txBody>
          <a:bodyPr wrap="square" lIns="0" tIns="0" rIns="0" bIns="0" rtlCol="0" anchor="t"/>
          <a:lstStyle/>
          <a:p>
            <a:pPr indent="0" marL="0">
              <a:buNone/>
            </a:pPr>
            <a:r>
              <a:rPr lang="en-US" sz="1800" b="1" dirty="0">
                <a:solidFill>
                  <a:srgbClr val="0F1E2A"/>
                </a:solidFill>
                <a:latin typeface="Calibri" pitchFamily="34" charset="0"/>
                <a:ea typeface="Calibri" pitchFamily="34" charset="-122"/>
                <a:cs typeface="Calibri" pitchFamily="34" charset="-120"/>
              </a:rPr>
              <a:t>Bemor</a:t>
            </a:r>
            <a:endParaRPr lang="en-US" sz="1800" dirty="0"/>
          </a:p>
        </p:txBody>
      </p:sp>
      <p:sp>
        <p:nvSpPr>
          <p:cNvPr id="7" name="Text 5"/>
          <p:cNvSpPr txBox="1"/>
          <p:nvPr/>
        </p:nvSpPr>
        <p:spPr>
          <a:xfrm>
            <a:off x="777240" y="3246120"/>
            <a:ext cx="1651955" cy="914400"/>
          </a:xfrm>
          <a:prstGeom prst="rect">
            <a:avLst/>
          </a:prstGeom>
          <a:noFill/>
          <a:ln/>
        </p:spPr>
        <p:txBody>
          <a:bodyPr wrap="square" lIns="0" tIns="0" rIns="0" bIns="0" rtlCol="0" anchor="t"/>
          <a:lstStyle/>
          <a:p>
            <a:pPr indent="0" marL="0">
              <a:buNone/>
            </a:pPr>
            <a:r>
              <a:rPr lang="en-US" sz="1400" dirty="0">
                <a:solidFill>
                  <a:srgbClr val="4A5A67"/>
                </a:solidFill>
                <a:latin typeface="Calibri" pitchFamily="34" charset="0"/>
                <a:ea typeface="Calibri" pitchFamily="34" charset="-122"/>
                <a:cs typeface="Calibri" pitchFamily="34" charset="-120"/>
              </a:rPr>
              <a:t>Yosh, jins, boʻy, rozilik</a:t>
            </a:r>
            <a:endParaRPr lang="en-US" sz="1400" dirty="0"/>
          </a:p>
        </p:txBody>
      </p:sp>
      <p:sp>
        <p:nvSpPr>
          <p:cNvPr id="8" name="Shape 6"/>
          <p:cNvSpPr/>
          <p:nvPr/>
        </p:nvSpPr>
        <p:spPr>
          <a:xfrm>
            <a:off x="2794955" y="1874520"/>
            <a:ext cx="2109155" cy="2377440"/>
          </a:xfrm>
          <a:prstGeom prst="roundRect">
            <a:avLst>
              <a:gd name="adj" fmla="val 5202"/>
            </a:avLst>
          </a:prstGeom>
          <a:solidFill>
            <a:srgbClr val="FFFFFF"/>
          </a:solidFill>
          <a:ln w="12700">
            <a:solidFill>
              <a:srgbClr val="DDE4EA"/>
            </a:solidFill>
            <a:prstDash val="solid"/>
          </a:ln>
        </p:spPr>
      </p:sp>
      <p:sp>
        <p:nvSpPr>
          <p:cNvPr id="9" name="Text 7"/>
          <p:cNvSpPr txBox="1"/>
          <p:nvPr/>
        </p:nvSpPr>
        <p:spPr>
          <a:xfrm>
            <a:off x="3023555" y="2103120"/>
            <a:ext cx="914400" cy="640080"/>
          </a:xfrm>
          <a:prstGeom prst="rect">
            <a:avLst/>
          </a:prstGeom>
          <a:noFill/>
          <a:ln/>
        </p:spPr>
        <p:txBody>
          <a:bodyPr wrap="square" lIns="0" tIns="0" rIns="0" bIns="0" rtlCol="0" anchor="t"/>
          <a:lstStyle/>
          <a:p>
            <a:pPr indent="0" marL="0">
              <a:buNone/>
            </a:pPr>
            <a:r>
              <a:rPr lang="en-US" sz="3600" b="1" dirty="0">
                <a:solidFill>
                  <a:srgbClr val="0B6E7F"/>
                </a:solidFill>
                <a:latin typeface="Cambria" pitchFamily="34" charset="0"/>
                <a:ea typeface="Cambria" pitchFamily="34" charset="-122"/>
                <a:cs typeface="Cambria" pitchFamily="34" charset="-120"/>
              </a:rPr>
              <a:t>2</a:t>
            </a:r>
            <a:endParaRPr lang="en-US" sz="3600" dirty="0"/>
          </a:p>
        </p:txBody>
      </p:sp>
      <p:sp>
        <p:nvSpPr>
          <p:cNvPr id="10" name="Text 8"/>
          <p:cNvSpPr txBox="1"/>
          <p:nvPr/>
        </p:nvSpPr>
        <p:spPr>
          <a:xfrm>
            <a:off x="3023555" y="2788920"/>
            <a:ext cx="1651955" cy="411480"/>
          </a:xfrm>
          <a:prstGeom prst="rect">
            <a:avLst/>
          </a:prstGeom>
          <a:noFill/>
          <a:ln/>
        </p:spPr>
        <p:txBody>
          <a:bodyPr wrap="square" lIns="0" tIns="0" rIns="0" bIns="0" rtlCol="0" anchor="t"/>
          <a:lstStyle/>
          <a:p>
            <a:pPr indent="0" marL="0">
              <a:buNone/>
            </a:pPr>
            <a:r>
              <a:rPr lang="en-US" sz="1800" b="1" dirty="0">
                <a:solidFill>
                  <a:srgbClr val="0F1E2A"/>
                </a:solidFill>
                <a:latin typeface="Calibri" pitchFamily="34" charset="0"/>
                <a:ea typeface="Calibri" pitchFamily="34" charset="-122"/>
                <a:cs typeface="Calibri" pitchFamily="34" charset="-120"/>
              </a:rPr>
              <a:t>Xavf omillari</a:t>
            </a:r>
            <a:endParaRPr lang="en-US" sz="1800" dirty="0"/>
          </a:p>
        </p:txBody>
      </p:sp>
      <p:sp>
        <p:nvSpPr>
          <p:cNvPr id="11" name="Text 9"/>
          <p:cNvSpPr txBox="1"/>
          <p:nvPr/>
        </p:nvSpPr>
        <p:spPr>
          <a:xfrm>
            <a:off x="3023555" y="3246120"/>
            <a:ext cx="1651955" cy="914400"/>
          </a:xfrm>
          <a:prstGeom prst="rect">
            <a:avLst/>
          </a:prstGeom>
          <a:noFill/>
          <a:ln/>
        </p:spPr>
        <p:txBody>
          <a:bodyPr wrap="square" lIns="0" tIns="0" rIns="0" bIns="0" rtlCol="0" anchor="t"/>
          <a:lstStyle/>
          <a:p>
            <a:pPr indent="0" marL="0">
              <a:buNone/>
            </a:pPr>
            <a:r>
              <a:rPr lang="en-US" sz="1400" dirty="0">
                <a:solidFill>
                  <a:srgbClr val="4A5A67"/>
                </a:solidFill>
                <a:latin typeface="Calibri" pitchFamily="34" charset="0"/>
                <a:ea typeface="Calibri" pitchFamily="34" charset="-122"/>
                <a:cs typeface="Calibri" pitchFamily="34" charset="-120"/>
              </a:rPr>
              <a:t>Quti-yil, biomassa, kasbiy chang</a:t>
            </a:r>
            <a:endParaRPr lang="en-US" sz="1400" dirty="0"/>
          </a:p>
        </p:txBody>
      </p:sp>
      <p:sp>
        <p:nvSpPr>
          <p:cNvPr id="12" name="Shape 10"/>
          <p:cNvSpPr/>
          <p:nvPr/>
        </p:nvSpPr>
        <p:spPr>
          <a:xfrm>
            <a:off x="5041270" y="1874520"/>
            <a:ext cx="2109155" cy="2377440"/>
          </a:xfrm>
          <a:prstGeom prst="roundRect">
            <a:avLst>
              <a:gd name="adj" fmla="val 5202"/>
            </a:avLst>
          </a:prstGeom>
          <a:solidFill>
            <a:srgbClr val="FFFFFF"/>
          </a:solidFill>
          <a:ln w="12700">
            <a:solidFill>
              <a:srgbClr val="DDE4EA"/>
            </a:solidFill>
            <a:prstDash val="solid"/>
          </a:ln>
        </p:spPr>
      </p:sp>
      <p:sp>
        <p:nvSpPr>
          <p:cNvPr id="13" name="Text 11"/>
          <p:cNvSpPr txBox="1"/>
          <p:nvPr/>
        </p:nvSpPr>
        <p:spPr>
          <a:xfrm>
            <a:off x="5269870" y="2103120"/>
            <a:ext cx="914400" cy="640080"/>
          </a:xfrm>
          <a:prstGeom prst="rect">
            <a:avLst/>
          </a:prstGeom>
          <a:noFill/>
          <a:ln/>
        </p:spPr>
        <p:txBody>
          <a:bodyPr wrap="square" lIns="0" tIns="0" rIns="0" bIns="0" rtlCol="0" anchor="t"/>
          <a:lstStyle/>
          <a:p>
            <a:pPr indent="0" marL="0">
              <a:buNone/>
            </a:pPr>
            <a:r>
              <a:rPr lang="en-US" sz="3600" b="1" dirty="0">
                <a:solidFill>
                  <a:srgbClr val="0B6E7F"/>
                </a:solidFill>
                <a:latin typeface="Cambria" pitchFamily="34" charset="0"/>
                <a:ea typeface="Cambria" pitchFamily="34" charset="-122"/>
                <a:cs typeface="Cambria" pitchFamily="34" charset="-120"/>
              </a:rPr>
              <a:t>3</a:t>
            </a:r>
            <a:endParaRPr lang="en-US" sz="3600" dirty="0"/>
          </a:p>
        </p:txBody>
      </p:sp>
      <p:sp>
        <p:nvSpPr>
          <p:cNvPr id="14" name="Text 12"/>
          <p:cNvSpPr txBox="1"/>
          <p:nvPr/>
        </p:nvSpPr>
        <p:spPr>
          <a:xfrm>
            <a:off x="5269870" y="2788920"/>
            <a:ext cx="1651955" cy="411480"/>
          </a:xfrm>
          <a:prstGeom prst="rect">
            <a:avLst/>
          </a:prstGeom>
          <a:noFill/>
          <a:ln/>
        </p:spPr>
        <p:txBody>
          <a:bodyPr wrap="square" lIns="0" tIns="0" rIns="0" bIns="0" rtlCol="0" anchor="t"/>
          <a:lstStyle/>
          <a:p>
            <a:pPr indent="0" marL="0">
              <a:buNone/>
            </a:pPr>
            <a:r>
              <a:rPr lang="en-US" sz="1800" b="1" dirty="0">
                <a:solidFill>
                  <a:srgbClr val="0F1E2A"/>
                </a:solidFill>
                <a:latin typeface="Calibri" pitchFamily="34" charset="0"/>
                <a:ea typeface="Calibri" pitchFamily="34" charset="-122"/>
                <a:cs typeface="Calibri" pitchFamily="34" charset="-120"/>
              </a:rPr>
              <a:t>Simptomlar</a:t>
            </a:r>
            <a:endParaRPr lang="en-US" sz="1800" dirty="0"/>
          </a:p>
        </p:txBody>
      </p:sp>
      <p:sp>
        <p:nvSpPr>
          <p:cNvPr id="15" name="Text 13"/>
          <p:cNvSpPr txBox="1"/>
          <p:nvPr/>
        </p:nvSpPr>
        <p:spPr>
          <a:xfrm>
            <a:off x="5269870" y="3246120"/>
            <a:ext cx="1651955" cy="914400"/>
          </a:xfrm>
          <a:prstGeom prst="rect">
            <a:avLst/>
          </a:prstGeom>
          <a:noFill/>
          <a:ln/>
        </p:spPr>
        <p:txBody>
          <a:bodyPr wrap="square" lIns="0" tIns="0" rIns="0" bIns="0" rtlCol="0" anchor="t"/>
          <a:lstStyle/>
          <a:p>
            <a:pPr indent="0" marL="0">
              <a:buNone/>
            </a:pPr>
            <a:r>
              <a:rPr lang="en-US" sz="1400" dirty="0">
                <a:solidFill>
                  <a:srgbClr val="4A5A67"/>
                </a:solidFill>
                <a:latin typeface="Calibri" pitchFamily="34" charset="0"/>
                <a:ea typeface="Calibri" pitchFamily="34" charset="-122"/>
                <a:cs typeface="Calibri" pitchFamily="34" charset="-120"/>
              </a:rPr>
              <a:t>Yoʻtal, balgʻam, hansirash</a:t>
            </a:r>
            <a:endParaRPr lang="en-US" sz="1400" dirty="0"/>
          </a:p>
        </p:txBody>
      </p:sp>
      <p:sp>
        <p:nvSpPr>
          <p:cNvPr id="16" name="Shape 14"/>
          <p:cNvSpPr/>
          <p:nvPr/>
        </p:nvSpPr>
        <p:spPr>
          <a:xfrm>
            <a:off x="7287585" y="1874520"/>
            <a:ext cx="2109155" cy="2377440"/>
          </a:xfrm>
          <a:prstGeom prst="roundRect">
            <a:avLst>
              <a:gd name="adj" fmla="val 5202"/>
            </a:avLst>
          </a:prstGeom>
          <a:solidFill>
            <a:srgbClr val="FFFFFF"/>
          </a:solidFill>
          <a:ln w="12700">
            <a:solidFill>
              <a:srgbClr val="DDE4EA"/>
            </a:solidFill>
            <a:prstDash val="solid"/>
          </a:ln>
        </p:spPr>
      </p:sp>
      <p:sp>
        <p:nvSpPr>
          <p:cNvPr id="17" name="Text 15"/>
          <p:cNvSpPr txBox="1"/>
          <p:nvPr/>
        </p:nvSpPr>
        <p:spPr>
          <a:xfrm>
            <a:off x="7516185" y="2103120"/>
            <a:ext cx="914400" cy="640080"/>
          </a:xfrm>
          <a:prstGeom prst="rect">
            <a:avLst/>
          </a:prstGeom>
          <a:noFill/>
          <a:ln/>
        </p:spPr>
        <p:txBody>
          <a:bodyPr wrap="square" lIns="0" tIns="0" rIns="0" bIns="0" rtlCol="0" anchor="t"/>
          <a:lstStyle/>
          <a:p>
            <a:pPr indent="0" marL="0">
              <a:buNone/>
            </a:pPr>
            <a:r>
              <a:rPr lang="en-US" sz="3600" b="1" dirty="0">
                <a:solidFill>
                  <a:srgbClr val="0B6E7F"/>
                </a:solidFill>
                <a:latin typeface="Cambria" pitchFamily="34" charset="0"/>
                <a:ea typeface="Cambria" pitchFamily="34" charset="-122"/>
                <a:cs typeface="Cambria" pitchFamily="34" charset="-120"/>
              </a:rPr>
              <a:t>4</a:t>
            </a:r>
            <a:endParaRPr lang="en-US" sz="3600" dirty="0"/>
          </a:p>
        </p:txBody>
      </p:sp>
      <p:sp>
        <p:nvSpPr>
          <p:cNvPr id="18" name="Text 16"/>
          <p:cNvSpPr txBox="1"/>
          <p:nvPr/>
        </p:nvSpPr>
        <p:spPr>
          <a:xfrm>
            <a:off x="7516185" y="2788920"/>
            <a:ext cx="1651955" cy="411480"/>
          </a:xfrm>
          <a:prstGeom prst="rect">
            <a:avLst/>
          </a:prstGeom>
          <a:noFill/>
          <a:ln/>
        </p:spPr>
        <p:txBody>
          <a:bodyPr wrap="square" lIns="0" tIns="0" rIns="0" bIns="0" rtlCol="0" anchor="t"/>
          <a:lstStyle/>
          <a:p>
            <a:pPr indent="0" marL="0">
              <a:buNone/>
            </a:pPr>
            <a:r>
              <a:rPr lang="en-US" sz="1800" b="1" dirty="0">
                <a:solidFill>
                  <a:srgbClr val="0F1E2A"/>
                </a:solidFill>
                <a:latin typeface="Calibri" pitchFamily="34" charset="0"/>
                <a:ea typeface="Calibri" pitchFamily="34" charset="-122"/>
                <a:cs typeface="Calibri" pitchFamily="34" charset="-120"/>
              </a:rPr>
              <a:t>mMRC va CAT</a:t>
            </a:r>
            <a:endParaRPr lang="en-US" sz="1800" dirty="0"/>
          </a:p>
        </p:txBody>
      </p:sp>
      <p:sp>
        <p:nvSpPr>
          <p:cNvPr id="19" name="Text 17"/>
          <p:cNvSpPr txBox="1"/>
          <p:nvPr/>
        </p:nvSpPr>
        <p:spPr>
          <a:xfrm>
            <a:off x="7516185" y="3246120"/>
            <a:ext cx="1651955" cy="914400"/>
          </a:xfrm>
          <a:prstGeom prst="rect">
            <a:avLst/>
          </a:prstGeom>
          <a:noFill/>
          <a:ln/>
        </p:spPr>
        <p:txBody>
          <a:bodyPr wrap="square" lIns="0" tIns="0" rIns="0" bIns="0" rtlCol="0" anchor="t"/>
          <a:lstStyle/>
          <a:p>
            <a:pPr indent="0" marL="0">
              <a:buNone/>
            </a:pPr>
            <a:r>
              <a:rPr lang="en-US" sz="1400" dirty="0">
                <a:solidFill>
                  <a:srgbClr val="4A5A67"/>
                </a:solidFill>
                <a:latin typeface="Calibri" pitchFamily="34" charset="0"/>
                <a:ea typeface="Calibri" pitchFamily="34" charset="-122"/>
                <a:cs typeface="Calibri" pitchFamily="34" charset="-120"/>
              </a:rPr>
              <a:t>Standart shkalalar, 0–4 va 0–40</a:t>
            </a:r>
            <a:endParaRPr lang="en-US" sz="1400" dirty="0"/>
          </a:p>
        </p:txBody>
      </p:sp>
      <p:sp>
        <p:nvSpPr>
          <p:cNvPr id="20" name="Shape 18"/>
          <p:cNvSpPr/>
          <p:nvPr/>
        </p:nvSpPr>
        <p:spPr>
          <a:xfrm>
            <a:off x="9533900" y="1874520"/>
            <a:ext cx="2109155" cy="2377440"/>
          </a:xfrm>
          <a:prstGeom prst="roundRect">
            <a:avLst>
              <a:gd name="adj" fmla="val 5202"/>
            </a:avLst>
          </a:prstGeom>
          <a:solidFill>
            <a:srgbClr val="0B6E7F"/>
          </a:solidFill>
          <a:ln/>
        </p:spPr>
      </p:sp>
      <p:sp>
        <p:nvSpPr>
          <p:cNvPr id="21" name="Text 19"/>
          <p:cNvSpPr txBox="1"/>
          <p:nvPr/>
        </p:nvSpPr>
        <p:spPr>
          <a:xfrm>
            <a:off x="9762500" y="2103120"/>
            <a:ext cx="914400" cy="640080"/>
          </a:xfrm>
          <a:prstGeom prst="rect">
            <a:avLst/>
          </a:prstGeom>
          <a:noFill/>
          <a:ln/>
        </p:spPr>
        <p:txBody>
          <a:bodyPr wrap="square" lIns="0" tIns="0" rIns="0" bIns="0" rtlCol="0" anchor="t"/>
          <a:lstStyle/>
          <a:p>
            <a:pPr indent="0" marL="0">
              <a:buNone/>
            </a:pPr>
            <a:r>
              <a:rPr lang="en-US" sz="3600" b="1" dirty="0">
                <a:solidFill>
                  <a:srgbClr val="CDEFF4"/>
                </a:solidFill>
                <a:latin typeface="Cambria" pitchFamily="34" charset="0"/>
                <a:ea typeface="Cambria" pitchFamily="34" charset="-122"/>
                <a:cs typeface="Cambria" pitchFamily="34" charset="-120"/>
              </a:rPr>
              <a:t>5</a:t>
            </a:r>
            <a:endParaRPr lang="en-US" sz="3600" dirty="0"/>
          </a:p>
        </p:txBody>
      </p:sp>
      <p:sp>
        <p:nvSpPr>
          <p:cNvPr id="22" name="Text 20"/>
          <p:cNvSpPr txBox="1"/>
          <p:nvPr/>
        </p:nvSpPr>
        <p:spPr>
          <a:xfrm>
            <a:off x="9762500" y="2788920"/>
            <a:ext cx="1651955" cy="4114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Natija</a:t>
            </a:r>
            <a:endParaRPr lang="en-US" sz="1800" dirty="0"/>
          </a:p>
        </p:txBody>
      </p:sp>
      <p:sp>
        <p:nvSpPr>
          <p:cNvPr id="23" name="Text 21"/>
          <p:cNvSpPr txBox="1"/>
          <p:nvPr/>
        </p:nvSpPr>
        <p:spPr>
          <a:xfrm>
            <a:off x="9762500" y="3246120"/>
            <a:ext cx="1651955" cy="914400"/>
          </a:xfrm>
          <a:prstGeom prst="rect">
            <a:avLst/>
          </a:prstGeom>
          <a:noFill/>
          <a:ln/>
        </p:spPr>
        <p:txBody>
          <a:bodyPr wrap="square" lIns="0" tIns="0" rIns="0" bIns="0" rtlCol="0" anchor="t"/>
          <a:lstStyle/>
          <a:p>
            <a:pPr indent="0" marL="0">
              <a:buNone/>
            </a:pPr>
            <a:r>
              <a:rPr lang="en-US" sz="1400" dirty="0">
                <a:solidFill>
                  <a:srgbClr val="E6F5F7"/>
                </a:solidFill>
                <a:latin typeface="Calibri" pitchFamily="34" charset="0"/>
                <a:ea typeface="Calibri" pitchFamily="34" charset="-122"/>
                <a:cs typeface="Calibri" pitchFamily="34" charset="-120"/>
              </a:rPr>
              <a:t>Ehtimollik, sabab, yoʻllanma, keyingi koʻrik</a:t>
            </a:r>
            <a:endParaRPr lang="en-US" sz="1400" dirty="0"/>
          </a:p>
        </p:txBody>
      </p:sp>
      <p:sp>
        <p:nvSpPr>
          <p:cNvPr id="24" name="Text 22"/>
          <p:cNvSpPr txBox="1"/>
          <p:nvPr/>
        </p:nvSpPr>
        <p:spPr>
          <a:xfrm>
            <a:off x="548640" y="4709160"/>
            <a:ext cx="5364328" cy="1097280"/>
          </a:xfrm>
          <a:prstGeom prst="rect">
            <a:avLst/>
          </a:prstGeom>
          <a:noFill/>
          <a:ln/>
        </p:spPr>
        <p:txBody>
          <a:bodyPr wrap="square" lIns="0" tIns="0" rIns="0" bIns="0" rtlCol="0" anchor="t"/>
          <a:lstStyle/>
          <a:p>
            <a:pPr indent="0" marL="0">
              <a:buNone/>
            </a:pPr>
            <a:r>
              <a:rPr lang="en-US" sz="1600" b="1" dirty="0">
                <a:solidFill>
                  <a:srgbClr val="0F1E2A"/>
                </a:solidFill>
                <a:latin typeface="Calibri" pitchFamily="34" charset="0"/>
                <a:ea typeface="Calibri" pitchFamily="34" charset="-122"/>
                <a:cs typeface="Calibri" pitchFamily="34" charset="-120"/>
              </a:rPr>
              <a:t>Planshet va telefonga mos: </a:t>
            </a:r>
            <a:pPr indent="0" marL="0">
              <a:buNone/>
            </a:pPr>
            <a:r>
              <a:rPr lang="en-US" sz="1600" dirty="0">
                <a:solidFill>
                  <a:srgbClr val="4A5A67"/>
                </a:solidFill>
                <a:latin typeface="Calibri" pitchFamily="34" charset="0"/>
                <a:ea typeface="Calibri" pitchFamily="34" charset="-122"/>
                <a:cs typeface="Calibri" pitchFamily="34" charset="-120"/>
              </a:rPr>
              <a:t>katta tugmalar, oʻzbek (lotin) tilida, oddiy brauzerda — ilova oʻrnatish shart emas.</a:t>
            </a:r>
            <a:endParaRPr lang="en-US" sz="1600" dirty="0"/>
          </a:p>
        </p:txBody>
      </p:sp>
      <p:sp>
        <p:nvSpPr>
          <p:cNvPr id="25" name="Text 23"/>
          <p:cNvSpPr txBox="1"/>
          <p:nvPr/>
        </p:nvSpPr>
        <p:spPr>
          <a:xfrm>
            <a:off x="6278728" y="4709160"/>
            <a:ext cx="5364328" cy="1097280"/>
          </a:xfrm>
          <a:prstGeom prst="rect">
            <a:avLst/>
          </a:prstGeom>
          <a:noFill/>
          <a:ln/>
        </p:spPr>
        <p:txBody>
          <a:bodyPr wrap="square" lIns="0" tIns="0" rIns="0" bIns="0" rtlCol="0" anchor="t"/>
          <a:lstStyle/>
          <a:p>
            <a:pPr indent="0" marL="0">
              <a:buNone/>
            </a:pPr>
            <a:r>
              <a:rPr lang="en-US" sz="1600" b="1" dirty="0">
                <a:solidFill>
                  <a:srgbClr val="0F1E2A"/>
                </a:solidFill>
                <a:latin typeface="Calibri" pitchFamily="34" charset="0"/>
                <a:ea typeface="Calibri" pitchFamily="34" charset="-122"/>
                <a:cs typeface="Calibri" pitchFamily="34" charset="-120"/>
              </a:rPr>
              <a:t>Bemor kartasi: </a:t>
            </a:r>
            <a:pPr indent="0" marL="0">
              <a:buNone/>
            </a:pPr>
            <a:r>
              <a:rPr lang="en-US" sz="1600" dirty="0">
                <a:solidFill>
                  <a:srgbClr val="4A5A67"/>
                </a:solidFill>
                <a:latin typeface="Calibri" pitchFamily="34" charset="0"/>
                <a:ea typeface="Calibri" pitchFamily="34" charset="-122"/>
                <a:cs typeface="Calibri" pitchFamily="34" charset="-120"/>
              </a:rPr>
              <a:t>tarix, dinamika grafigi, yoʻllanma holati va muddati oʻtgan koʻrik eslatmasi.</a:t>
            </a:r>
            <a:endParaRPr lang="en-US" sz="1600" dirty="0"/>
          </a:p>
        </p:txBody>
      </p:sp>
      <p:sp>
        <p:nvSpPr>
          <p:cNvPr id="26" name="Text 24"/>
          <p:cNvSpPr txBox="1"/>
          <p:nvPr/>
        </p:nvSpPr>
        <p:spPr>
          <a:xfrm>
            <a:off x="548640" y="6400800"/>
            <a:ext cx="3657600" cy="274320"/>
          </a:xfrm>
          <a:prstGeom prst="rect">
            <a:avLst/>
          </a:prstGeom>
          <a:noFill/>
          <a:ln/>
        </p:spPr>
        <p:txBody>
          <a:bodyPr wrap="square" lIns="0" tIns="0" rIns="0" bIns="0" rtlCol="0" anchor="t"/>
          <a:lstStyle/>
          <a:p>
            <a:pPr indent="0" marL="0">
              <a:buNone/>
            </a:pPr>
            <a:r>
              <a:rPr lang="en-US" sz="1100" dirty="0">
                <a:solidFill>
                  <a:srgbClr val="6B7B87"/>
                </a:solidFill>
                <a:latin typeface="Calibri" pitchFamily="34" charset="0"/>
                <a:ea typeface="Calibri" pitchFamily="34" charset="-122"/>
                <a:cs typeface="Calibri" pitchFamily="34" charset="-120"/>
              </a:rPr>
              <a:t>NafasNazorat · 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4415" cy="292608"/>
          </a:xfrm>
          <a:prstGeom prst="rect">
            <a:avLst/>
          </a:prstGeom>
          <a:noFill/>
          <a:ln/>
        </p:spPr>
        <p:txBody>
          <a:bodyPr wrap="square" lIns="0" tIns="0" rIns="0" bIns="0" rtlCol="0" anchor="t"/>
          <a:lstStyle/>
          <a:p>
            <a:pPr indent="0" marL="0">
              <a:buNone/>
            </a:pPr>
            <a:r>
              <a:rPr lang="en-US" sz="1300" b="1" spc="300" kern="0" dirty="0">
                <a:solidFill>
                  <a:srgbClr val="0B6E7F"/>
                </a:solidFill>
                <a:latin typeface="Calibri" pitchFamily="34" charset="0"/>
                <a:ea typeface="Calibri" pitchFamily="34" charset="-122"/>
                <a:cs typeface="Calibri" pitchFamily="34" charset="-120"/>
              </a:rPr>
              <a:t>TUSHUNTIRILADIGAN NATIJA</a:t>
            </a:r>
            <a:endParaRPr lang="en-US" sz="1300" dirty="0"/>
          </a:p>
        </p:txBody>
      </p:sp>
      <p:sp>
        <p:nvSpPr>
          <p:cNvPr id="3" name="Text 1"/>
          <p:cNvSpPr txBox="1"/>
          <p:nvPr/>
        </p:nvSpPr>
        <p:spPr>
          <a:xfrm>
            <a:off x="548640" y="777240"/>
            <a:ext cx="11094415" cy="960120"/>
          </a:xfrm>
          <a:prstGeom prst="rect">
            <a:avLst/>
          </a:prstGeom>
          <a:noFill/>
          <a:ln/>
        </p:spPr>
        <p:txBody>
          <a:bodyPr wrap="square" lIns="0" tIns="0" rIns="0" bIns="0" rtlCol="0" anchor="t"/>
          <a:lstStyle/>
          <a:p>
            <a:pPr indent="0" marL="0">
              <a:buNone/>
            </a:pPr>
            <a:r>
              <a:rPr lang="en-US" sz="3200" b="1" dirty="0">
                <a:solidFill>
                  <a:srgbClr val="0F1E2A"/>
                </a:solidFill>
                <a:latin typeface="Cambria" pitchFamily="34" charset="0"/>
                <a:ea typeface="Cambria" pitchFamily="34" charset="-122"/>
                <a:cs typeface="Cambria" pitchFamily="34" charset="-120"/>
              </a:rPr>
              <a:t>Shifokor “nima uchun?” ni koʻradi</a:t>
            </a:r>
            <a:endParaRPr lang="en-US" sz="3200" dirty="0"/>
          </a:p>
        </p:txBody>
      </p:sp>
      <p:sp>
        <p:nvSpPr>
          <p:cNvPr id="4" name="Shape 2"/>
          <p:cNvSpPr/>
          <p:nvPr/>
        </p:nvSpPr>
        <p:spPr>
          <a:xfrm>
            <a:off x="548640" y="1874520"/>
            <a:ext cx="5852160" cy="4023360"/>
          </a:xfrm>
          <a:prstGeom prst="roundRect">
            <a:avLst>
              <a:gd name="adj" fmla="val 2727"/>
            </a:avLst>
          </a:prstGeom>
          <a:solidFill>
            <a:srgbClr val="F6F8FA"/>
          </a:solidFill>
          <a:ln w="25400">
            <a:solidFill>
              <a:srgbClr val="F2B1AB"/>
            </a:solidFill>
            <a:prstDash val="solid"/>
          </a:ln>
        </p:spPr>
      </p:sp>
      <p:sp>
        <p:nvSpPr>
          <p:cNvPr id="5" name="Text 3"/>
          <p:cNvSpPr txBox="1"/>
          <p:nvPr/>
        </p:nvSpPr>
        <p:spPr>
          <a:xfrm>
            <a:off x="914400" y="2148840"/>
            <a:ext cx="5120640" cy="365760"/>
          </a:xfrm>
          <a:prstGeom prst="rect">
            <a:avLst/>
          </a:prstGeom>
          <a:noFill/>
          <a:ln/>
        </p:spPr>
        <p:txBody>
          <a:bodyPr wrap="square" lIns="0" tIns="0" rIns="0" bIns="0" rtlCol="0" anchor="t"/>
          <a:lstStyle/>
          <a:p>
            <a:pPr indent="0" marL="0">
              <a:buNone/>
            </a:pPr>
            <a:r>
              <a:rPr lang="en-US" sz="1400" dirty="0">
                <a:solidFill>
                  <a:srgbClr val="4A5A67"/>
                </a:solidFill>
                <a:latin typeface="Calibri" pitchFamily="34" charset="0"/>
                <a:ea typeface="Calibri" pitchFamily="34" charset="-122"/>
                <a:cs typeface="Calibri" pitchFamily="34" charset="-120"/>
              </a:rPr>
              <a:t>Spirometriya / pulmonolog koʻrigi zarurligi ehtimoli</a:t>
            </a:r>
            <a:endParaRPr lang="en-US" sz="1400" dirty="0"/>
          </a:p>
        </p:txBody>
      </p:sp>
      <p:pic>
        <p:nvPicPr>
          <p:cNvPr id="6" name="Image 0" descr="preencoded.png">    </p:cNvPr>
          <p:cNvPicPr>
            <a:picLocks noChangeAspect="1"/>
          </p:cNvPicPr>
          <p:nvPr/>
        </p:nvPicPr>
        <p:blipFill>
          <a:blip r:embed="rId1"/>
          <a:stretch>
            <a:fillRect/>
          </a:stretch>
        </p:blipFill>
        <p:spPr>
          <a:xfrm>
            <a:off x="914400" y="2651760"/>
            <a:ext cx="384048" cy="384048"/>
          </a:xfrm>
          <a:prstGeom prst="rect">
            <a:avLst/>
          </a:prstGeom>
        </p:spPr>
      </p:pic>
      <p:sp>
        <p:nvSpPr>
          <p:cNvPr id="7" name="Text 4"/>
          <p:cNvSpPr txBox="1"/>
          <p:nvPr/>
        </p:nvSpPr>
        <p:spPr>
          <a:xfrm>
            <a:off x="1417320" y="2633472"/>
            <a:ext cx="4572000" cy="457200"/>
          </a:xfrm>
          <a:prstGeom prst="rect">
            <a:avLst/>
          </a:prstGeom>
          <a:noFill/>
          <a:ln/>
        </p:spPr>
        <p:txBody>
          <a:bodyPr wrap="square" lIns="0" tIns="0" rIns="0" bIns="0" rtlCol="0" anchor="t"/>
          <a:lstStyle/>
          <a:p>
            <a:pPr indent="0" marL="0">
              <a:buNone/>
            </a:pPr>
            <a:r>
              <a:rPr lang="en-US" sz="2200" b="1" dirty="0">
                <a:solidFill>
                  <a:srgbClr val="A8231B"/>
                </a:solidFill>
                <a:latin typeface="Calibri" pitchFamily="34" charset="0"/>
                <a:ea typeface="Calibri" pitchFamily="34" charset="-122"/>
                <a:cs typeface="Calibri" pitchFamily="34" charset="-120"/>
              </a:rPr>
              <a:t>Yuqori ehtimollik</a:t>
            </a:r>
            <a:endParaRPr lang="en-US" sz="2200" dirty="0"/>
          </a:p>
        </p:txBody>
      </p:sp>
      <p:sp>
        <p:nvSpPr>
          <p:cNvPr id="8" name="Text 5"/>
          <p:cNvSpPr txBox="1"/>
          <p:nvPr/>
        </p:nvSpPr>
        <p:spPr>
          <a:xfrm>
            <a:off x="914400" y="3291840"/>
            <a:ext cx="5120640" cy="822960"/>
          </a:xfrm>
          <a:prstGeom prst="rect">
            <a:avLst/>
          </a:prstGeom>
          <a:noFill/>
          <a:ln/>
        </p:spPr>
        <p:txBody>
          <a:bodyPr wrap="square" lIns="0" tIns="0" rIns="0" bIns="0" rtlCol="0" anchor="t"/>
          <a:lstStyle/>
          <a:p>
            <a:pPr indent="0" marL="0">
              <a:buNone/>
            </a:pPr>
            <a:r>
              <a:rPr lang="en-US" sz="2400" b="1" dirty="0">
                <a:solidFill>
                  <a:srgbClr val="0F1E2A"/>
                </a:solidFill>
                <a:latin typeface="Calibri" pitchFamily="34" charset="0"/>
                <a:ea typeface="Calibri" pitchFamily="34" charset="-122"/>
                <a:cs typeface="Calibri" pitchFamily="34" charset="-120"/>
              </a:rPr>
              <a:t>40 quti-yil chekish + mMRC 3 → yuqori</a:t>
            </a:r>
            <a:endParaRPr lang="en-US" sz="2400" dirty="0"/>
          </a:p>
        </p:txBody>
      </p:sp>
      <p:sp>
        <p:nvSpPr>
          <p:cNvPr id="9" name="Text 6"/>
          <p:cNvSpPr txBox="1"/>
          <p:nvPr/>
        </p:nvSpPr>
        <p:spPr>
          <a:xfrm>
            <a:off x="914400" y="4206240"/>
            <a:ext cx="5120640" cy="822960"/>
          </a:xfrm>
          <a:prstGeom prst="rect">
            <a:avLst/>
          </a:prstGeom>
          <a:noFill/>
          <a:ln/>
        </p:spPr>
        <p:txBody>
          <a:bodyPr wrap="square" lIns="0" tIns="0" rIns="0" bIns="0" rtlCol="0" anchor="t"/>
          <a:lstStyle/>
          <a:p>
            <a:pPr indent="0" marL="0">
              <a:buNone/>
            </a:pPr>
            <a:r>
              <a:rPr lang="en-US" sz="1500" dirty="0">
                <a:solidFill>
                  <a:srgbClr val="4A5A67"/>
                </a:solidFill>
                <a:latin typeface="Calibri" pitchFamily="34" charset="0"/>
                <a:ea typeface="Calibri" pitchFamily="34" charset="-122"/>
                <a:cs typeface="Calibri" pitchFamily="34" charset="-120"/>
              </a:rPr>
              <a:t>Tavsiya: ustuvor spirometriya va pulmonolog koʻrigi · keyingi koʻrik — 1 oydan keyin</a:t>
            </a:r>
            <a:endParaRPr lang="en-US" sz="1500" dirty="0"/>
          </a:p>
        </p:txBody>
      </p:sp>
      <p:sp>
        <p:nvSpPr>
          <p:cNvPr id="10" name="Text 7"/>
          <p:cNvSpPr txBox="1"/>
          <p:nvPr/>
        </p:nvSpPr>
        <p:spPr>
          <a:xfrm>
            <a:off x="914400" y="5303520"/>
            <a:ext cx="5120640" cy="320040"/>
          </a:xfrm>
          <a:prstGeom prst="rect">
            <a:avLst/>
          </a:prstGeom>
          <a:noFill/>
          <a:ln/>
        </p:spPr>
        <p:txBody>
          <a:bodyPr wrap="square" lIns="0" tIns="0" rIns="0" bIns="0" rtlCol="0" anchor="t"/>
          <a:lstStyle/>
          <a:p>
            <a:pPr indent="0" marL="0">
              <a:buNone/>
            </a:pPr>
            <a:r>
              <a:rPr lang="en-US" sz="1200" dirty="0">
                <a:solidFill>
                  <a:srgbClr val="6B7B87"/>
                </a:solidFill>
                <a:latin typeface="Calibri" pitchFamily="34" charset="0"/>
                <a:ea typeface="Calibri" pitchFamily="34" charset="-122"/>
                <a:cs typeface="Calibri" pitchFamily="34" charset="-120"/>
              </a:rPr>
              <a:t>Namuna (toʻqima maʼlumot)</a:t>
            </a:r>
            <a:endParaRPr lang="en-US" sz="1200" dirty="0"/>
          </a:p>
        </p:txBody>
      </p:sp>
      <p:sp>
        <p:nvSpPr>
          <p:cNvPr id="11" name="Text 8"/>
          <p:cNvSpPr txBox="1"/>
          <p:nvPr/>
        </p:nvSpPr>
        <p:spPr>
          <a:xfrm>
            <a:off x="6858000" y="1920240"/>
            <a:ext cx="4754880" cy="411480"/>
          </a:xfrm>
          <a:prstGeom prst="rect">
            <a:avLst/>
          </a:prstGeom>
          <a:noFill/>
          <a:ln/>
        </p:spPr>
        <p:txBody>
          <a:bodyPr wrap="square" lIns="0" tIns="0" rIns="0" bIns="0" rtlCol="0" anchor="t"/>
          <a:lstStyle/>
          <a:p>
            <a:pPr indent="0" marL="0">
              <a:buNone/>
            </a:pPr>
            <a:r>
              <a:rPr lang="en-US" sz="1900" b="1" dirty="0">
                <a:solidFill>
                  <a:srgbClr val="0F1E2A"/>
                </a:solidFill>
                <a:latin typeface="Calibri" pitchFamily="34" charset="0"/>
                <a:ea typeface="Calibri" pitchFamily="34" charset="-122"/>
                <a:cs typeface="Calibri" pitchFamily="34" charset="-120"/>
              </a:rPr>
              <a:t>Rang + ikon + matn</a:t>
            </a:r>
            <a:endParaRPr lang="en-US" sz="1900" dirty="0"/>
          </a:p>
        </p:txBody>
      </p:sp>
      <p:sp>
        <p:nvSpPr>
          <p:cNvPr id="12" name="Text 9"/>
          <p:cNvSpPr txBox="1"/>
          <p:nvPr/>
        </p:nvSpPr>
        <p:spPr>
          <a:xfrm>
            <a:off x="6858000" y="2331720"/>
            <a:ext cx="4754880" cy="777240"/>
          </a:xfrm>
          <a:prstGeom prst="rect">
            <a:avLst/>
          </a:prstGeom>
          <a:noFill/>
          <a:ln/>
        </p:spPr>
        <p:txBody>
          <a:bodyPr wrap="square" lIns="0" tIns="0" rIns="0" bIns="0" rtlCol="0" anchor="t"/>
          <a:lstStyle/>
          <a:p>
            <a:pPr indent="0" marL="0">
              <a:buNone/>
            </a:pPr>
            <a:r>
              <a:rPr lang="en-US" sz="1500" dirty="0">
                <a:solidFill>
                  <a:srgbClr val="4A5A67"/>
                </a:solidFill>
                <a:latin typeface="Calibri" pitchFamily="34" charset="0"/>
                <a:ea typeface="Calibri" pitchFamily="34" charset="-122"/>
                <a:cs typeface="Calibri" pitchFamily="34" charset="-120"/>
              </a:rPr>
              <a:t>Past / Oʻrta / Yuqori — hech qachon faqat rang bilan emas.</a:t>
            </a:r>
            <a:endParaRPr lang="en-US" sz="1500" dirty="0"/>
          </a:p>
        </p:txBody>
      </p:sp>
      <p:sp>
        <p:nvSpPr>
          <p:cNvPr id="13" name="Text 10"/>
          <p:cNvSpPr txBox="1"/>
          <p:nvPr/>
        </p:nvSpPr>
        <p:spPr>
          <a:xfrm>
            <a:off x="6858000" y="3246120"/>
            <a:ext cx="4754880" cy="411480"/>
          </a:xfrm>
          <a:prstGeom prst="rect">
            <a:avLst/>
          </a:prstGeom>
          <a:noFill/>
          <a:ln/>
        </p:spPr>
        <p:txBody>
          <a:bodyPr wrap="square" lIns="0" tIns="0" rIns="0" bIns="0" rtlCol="0" anchor="t"/>
          <a:lstStyle/>
          <a:p>
            <a:pPr indent="0" marL="0">
              <a:buNone/>
            </a:pPr>
            <a:r>
              <a:rPr lang="en-US" sz="1900" b="1" dirty="0">
                <a:solidFill>
                  <a:srgbClr val="0F1E2A"/>
                </a:solidFill>
                <a:latin typeface="Calibri" pitchFamily="34" charset="0"/>
                <a:ea typeface="Calibri" pitchFamily="34" charset="-122"/>
                <a:cs typeface="Calibri" pitchFamily="34" charset="-120"/>
              </a:rPr>
              <a:t>Har bir ball izohlanadi</a:t>
            </a:r>
            <a:endParaRPr lang="en-US" sz="1900" dirty="0"/>
          </a:p>
        </p:txBody>
      </p:sp>
      <p:sp>
        <p:nvSpPr>
          <p:cNvPr id="14" name="Text 11"/>
          <p:cNvSpPr txBox="1"/>
          <p:nvPr/>
        </p:nvSpPr>
        <p:spPr>
          <a:xfrm>
            <a:off x="6858000" y="3657600"/>
            <a:ext cx="4754880" cy="777240"/>
          </a:xfrm>
          <a:prstGeom prst="rect">
            <a:avLst/>
          </a:prstGeom>
          <a:noFill/>
          <a:ln/>
        </p:spPr>
        <p:txBody>
          <a:bodyPr wrap="square" lIns="0" tIns="0" rIns="0" bIns="0" rtlCol="0" anchor="t"/>
          <a:lstStyle/>
          <a:p>
            <a:pPr indent="0" marL="0">
              <a:buNone/>
            </a:pPr>
            <a:r>
              <a:rPr lang="en-US" sz="1500" dirty="0">
                <a:solidFill>
                  <a:srgbClr val="4A5A67"/>
                </a:solidFill>
                <a:latin typeface="Calibri" pitchFamily="34" charset="0"/>
                <a:ea typeface="Calibri" pitchFamily="34" charset="-122"/>
                <a:cs typeface="Calibri" pitchFamily="34" charset="-120"/>
              </a:rPr>
              <a:t>Qaysi omil qancha qoʻshgani koʻrinadi — “qora quti” yoʻq.</a:t>
            </a:r>
            <a:endParaRPr lang="en-US" sz="1500" dirty="0"/>
          </a:p>
        </p:txBody>
      </p:sp>
      <p:sp>
        <p:nvSpPr>
          <p:cNvPr id="15" name="Text 12"/>
          <p:cNvSpPr txBox="1"/>
          <p:nvPr/>
        </p:nvSpPr>
        <p:spPr>
          <a:xfrm>
            <a:off x="6858000" y="4572000"/>
            <a:ext cx="4754880" cy="411480"/>
          </a:xfrm>
          <a:prstGeom prst="rect">
            <a:avLst/>
          </a:prstGeom>
          <a:noFill/>
          <a:ln/>
        </p:spPr>
        <p:txBody>
          <a:bodyPr wrap="square" lIns="0" tIns="0" rIns="0" bIns="0" rtlCol="0" anchor="t"/>
          <a:lstStyle/>
          <a:p>
            <a:pPr indent="0" marL="0">
              <a:buNone/>
            </a:pPr>
            <a:r>
              <a:rPr lang="en-US" sz="1900" b="1" dirty="0">
                <a:solidFill>
                  <a:srgbClr val="0F1E2A"/>
                </a:solidFill>
                <a:latin typeface="Calibri" pitchFamily="34" charset="0"/>
                <a:ea typeface="Calibri" pitchFamily="34" charset="-122"/>
                <a:cs typeface="Calibri" pitchFamily="34" charset="-120"/>
              </a:rPr>
              <a:t>Sozlanadigan model</a:t>
            </a:r>
            <a:endParaRPr lang="en-US" sz="1900" dirty="0"/>
          </a:p>
        </p:txBody>
      </p:sp>
      <p:sp>
        <p:nvSpPr>
          <p:cNvPr id="16" name="Text 13"/>
          <p:cNvSpPr txBox="1"/>
          <p:nvPr/>
        </p:nvSpPr>
        <p:spPr>
          <a:xfrm>
            <a:off x="6858000" y="4983480"/>
            <a:ext cx="4754880" cy="777240"/>
          </a:xfrm>
          <a:prstGeom prst="rect">
            <a:avLst/>
          </a:prstGeom>
          <a:noFill/>
          <a:ln/>
        </p:spPr>
        <p:txBody>
          <a:bodyPr wrap="square" lIns="0" tIns="0" rIns="0" bIns="0" rtlCol="0" anchor="t"/>
          <a:lstStyle/>
          <a:p>
            <a:pPr indent="0" marL="0">
              <a:buNone/>
            </a:pPr>
            <a:r>
              <a:rPr lang="en-US" sz="1500" dirty="0">
                <a:solidFill>
                  <a:srgbClr val="4A5A67"/>
                </a:solidFill>
                <a:latin typeface="Calibri" pitchFamily="34" charset="0"/>
                <a:ea typeface="Calibri" pitchFamily="34" charset="-122"/>
                <a:cs typeface="Calibri" pitchFamily="34" charset="-120"/>
              </a:rPr>
              <a:t>Vaznlar kodda emas, versiyalangan sozlamada — mahalliy maʼlumotda tasdiqlanadi.</a:t>
            </a:r>
            <a:endParaRPr lang="en-US" sz="1500" dirty="0"/>
          </a:p>
        </p:txBody>
      </p:sp>
      <p:sp>
        <p:nvSpPr>
          <p:cNvPr id="17" name="Text 14"/>
          <p:cNvSpPr txBox="1"/>
          <p:nvPr/>
        </p:nvSpPr>
        <p:spPr>
          <a:xfrm>
            <a:off x="548640" y="6400800"/>
            <a:ext cx="3657600" cy="274320"/>
          </a:xfrm>
          <a:prstGeom prst="rect">
            <a:avLst/>
          </a:prstGeom>
          <a:noFill/>
          <a:ln/>
        </p:spPr>
        <p:txBody>
          <a:bodyPr wrap="square" lIns="0" tIns="0" rIns="0" bIns="0" rtlCol="0" anchor="t"/>
          <a:lstStyle/>
          <a:p>
            <a:pPr indent="0" marL="0">
              <a:buNone/>
            </a:pPr>
            <a:r>
              <a:rPr lang="en-US" sz="1100" dirty="0">
                <a:solidFill>
                  <a:srgbClr val="6B7B87"/>
                </a:solidFill>
                <a:latin typeface="Calibri" pitchFamily="34" charset="0"/>
                <a:ea typeface="Calibri" pitchFamily="34" charset="-122"/>
                <a:cs typeface="Calibri" pitchFamily="34" charset="-120"/>
              </a:rPr>
              <a:t>NafasNazorat · 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8FA"/>
        </a:solidFill>
      </p:bgPr>
    </p:bg>
    <p:spTree>
      <p:nvGrpSpPr>
        <p:cNvPr id="1" name=""/>
        <p:cNvGrpSpPr/>
        <p:nvPr/>
      </p:nvGrpSpPr>
      <p:grpSpPr>
        <a:xfrm>
          <a:off x="0" y="0"/>
          <a:ext cx="0" cy="0"/>
          <a:chOff x="0" y="0"/>
          <a:chExt cx="0" cy="0"/>
        </a:xfrm>
      </p:grpSpPr>
      <p:sp>
        <p:nvSpPr>
          <p:cNvPr id="2" name="Text 0"/>
          <p:cNvSpPr txBox="1"/>
          <p:nvPr/>
        </p:nvSpPr>
        <p:spPr>
          <a:xfrm>
            <a:off x="548640" y="457200"/>
            <a:ext cx="11094415" cy="292608"/>
          </a:xfrm>
          <a:prstGeom prst="rect">
            <a:avLst/>
          </a:prstGeom>
          <a:noFill/>
          <a:ln/>
        </p:spPr>
        <p:txBody>
          <a:bodyPr wrap="square" lIns="0" tIns="0" rIns="0" bIns="0" rtlCol="0" anchor="t"/>
          <a:lstStyle/>
          <a:p>
            <a:pPr indent="0" marL="0">
              <a:buNone/>
            </a:pPr>
            <a:r>
              <a:rPr lang="en-US" sz="1300" b="1" spc="300" kern="0" dirty="0">
                <a:solidFill>
                  <a:srgbClr val="0B6E7F"/>
                </a:solidFill>
                <a:latin typeface="Calibri" pitchFamily="34" charset="0"/>
                <a:ea typeface="Calibri" pitchFamily="34" charset="-122"/>
                <a:cs typeface="Calibri" pitchFamily="34" charset="-120"/>
              </a:rPr>
              <a:t>ASOS · TALQIN MODULI</a:t>
            </a:r>
            <a:endParaRPr lang="en-US" sz="1300" dirty="0"/>
          </a:p>
        </p:txBody>
      </p:sp>
      <p:sp>
        <p:nvSpPr>
          <p:cNvPr id="3" name="Text 1"/>
          <p:cNvSpPr txBox="1"/>
          <p:nvPr/>
        </p:nvSpPr>
        <p:spPr>
          <a:xfrm>
            <a:off x="548640" y="777240"/>
            <a:ext cx="11094415" cy="960120"/>
          </a:xfrm>
          <a:prstGeom prst="rect">
            <a:avLst/>
          </a:prstGeom>
          <a:noFill/>
          <a:ln/>
        </p:spPr>
        <p:txBody>
          <a:bodyPr wrap="square" lIns="0" tIns="0" rIns="0" bIns="0" rtlCol="0" anchor="t"/>
          <a:lstStyle/>
          <a:p>
            <a:pPr indent="0" marL="0">
              <a:buNone/>
            </a:pPr>
            <a:r>
              <a:rPr lang="en-US" sz="3200" b="1" dirty="0">
                <a:solidFill>
                  <a:srgbClr val="0F1E2A"/>
                </a:solidFill>
                <a:latin typeface="Cambria" pitchFamily="34" charset="0"/>
                <a:ea typeface="Cambria" pitchFamily="34" charset="-122"/>
                <a:cs typeface="Cambria" pitchFamily="34" charset="-120"/>
              </a:rPr>
              <a:t>Spirometriya natijasini toʻgʻri talqin qilish</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035040" cy="914400"/>
        </p:xfrm>
        <a:graphic>
          <a:graphicData uri="http://schemas.openxmlformats.org/drawingml/2006/table">
            <a:tbl>
              <a:tblPr/>
              <a:tblGrid>
                <a:gridCol w="2560320"/>
                <a:gridCol w="3474720"/>
              </a:tblGrid>
              <a:tr h="50292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Koʻrsatkich</a:t>
                      </a:r>
                      <a:endParaRPr lang="en-US" sz="1600" dirty="0">
                        <a:latin typeface="Calibri" charset="0"/>
                        <a:ea typeface="Calibri" charset="0"/>
                        <a:cs typeface="Calibri" charset="0"/>
                      </a:endParaRPr>
                    </a:p>
                  </a:txBody>
                  <a:tcPr marL="109728" marR="109728" marT="54864" marB="54864">
                    <a:lnL w="9525" cap="flat" cmpd="sng" algn="ctr">
                      <a:solidFill>
                        <a:srgbClr val="DDE4EA"/>
                      </a:solidFill>
                      <a:prstDash val="solid"/>
                      <a:round/>
                      <a:headEnd type="none" w="med" len="med"/>
                      <a:tailEnd type="none" w="med" len="med"/>
                    </a:lnL>
                    <a:lnR w="9525" cap="flat" cmpd="sng" algn="ctr">
                      <a:solidFill>
                        <a:srgbClr val="DDE4EA"/>
                      </a:solidFill>
                      <a:prstDash val="solid"/>
                      <a:round/>
                      <a:headEnd type="none" w="med" len="med"/>
                      <a:tailEnd type="none" w="med" len="med"/>
                    </a:lnR>
                    <a:lnT w="9525" cap="flat" cmpd="sng" algn="ctr">
                      <a:solidFill>
                        <a:srgbClr val="DDE4EA"/>
                      </a:solidFill>
                      <a:prstDash val="solid"/>
                      <a:round/>
                      <a:headEnd type="none" w="med" len="med"/>
                      <a:tailEnd type="none" w="med" len="med"/>
                    </a:lnT>
                    <a:lnB w="9525" cap="flat" cmpd="sng" algn="ctr">
                      <a:solidFill>
                        <a:srgbClr val="DDE4EA"/>
                      </a:solidFill>
                      <a:prstDash val="solid"/>
                      <a:round/>
                      <a:headEnd type="none" w="med" len="med"/>
                      <a:tailEnd type="none" w="med" len="med"/>
                    </a:lnB>
                    <a:solidFill>
                      <a:srgbClr val="0B6E7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Tizim nima qiladi</a:t>
                      </a:r>
                      <a:endParaRPr lang="en-US" sz="1600" dirty="0">
                        <a:latin typeface="Calibri" charset="0"/>
                        <a:ea typeface="Calibri" charset="0"/>
                        <a:cs typeface="Calibri" charset="0"/>
                      </a:endParaRPr>
                    </a:p>
                  </a:txBody>
                  <a:tcPr marL="109728" marR="109728" marT="54864" marB="54864">
                    <a:lnL w="9525" cap="flat" cmpd="sng" algn="ctr">
                      <a:solidFill>
                        <a:srgbClr val="DDE4EA"/>
                      </a:solidFill>
                      <a:prstDash val="solid"/>
                      <a:round/>
                      <a:headEnd type="none" w="med" len="med"/>
                      <a:tailEnd type="none" w="med" len="med"/>
                    </a:lnL>
                    <a:lnR w="9525" cap="flat" cmpd="sng" algn="ctr">
                      <a:solidFill>
                        <a:srgbClr val="DDE4EA"/>
                      </a:solidFill>
                      <a:prstDash val="solid"/>
                      <a:round/>
                      <a:headEnd type="none" w="med" len="med"/>
                      <a:tailEnd type="none" w="med" len="med"/>
                    </a:lnR>
                    <a:lnT w="9525" cap="flat" cmpd="sng" algn="ctr">
                      <a:solidFill>
                        <a:srgbClr val="DDE4EA"/>
                      </a:solidFill>
                      <a:prstDash val="solid"/>
                      <a:round/>
                      <a:headEnd type="none" w="med" len="med"/>
                      <a:tailEnd type="none" w="med" len="med"/>
                    </a:lnT>
                    <a:lnB w="9525" cap="flat" cmpd="sng" algn="ctr">
                      <a:solidFill>
                        <a:srgbClr val="DDE4EA"/>
                      </a:solidFill>
                      <a:prstDash val="solid"/>
                      <a:round/>
                      <a:headEnd type="none" w="med" len="med"/>
                      <a:tailEnd type="none" w="med" len="med"/>
                    </a:lnB>
                    <a:solidFill>
                      <a:srgbClr val="0B6E7F"/>
                    </a:solidFill>
                  </a:tcPr>
                </a:tc>
              </a:tr>
              <a:tr h="502920">
                <a:tc>
                  <a:txBody>
                    <a:bodyPr/>
                    <a:lstStyle/>
                    <a:p>
                      <a:pPr indent="0" marL="0">
                        <a:buNone/>
                      </a:pPr>
                      <a:r>
                        <a:rPr lang="en-US" sz="1600" dirty="0">
                          <a:solidFill>
                            <a:srgbClr val="0F1E2A"/>
                          </a:solidFill>
                          <a:latin typeface="Calibri" pitchFamily="34" charset="0"/>
                          <a:ea typeface="Calibri" pitchFamily="34" charset="-122"/>
                          <a:cs typeface="Calibri" pitchFamily="34" charset="-120"/>
                        </a:rPr>
                        <a:t>FEV1/FVC</a:t>
                      </a:r>
                      <a:endParaRPr lang="en-US" sz="1600" dirty="0">
                        <a:latin typeface="Calibri" charset="0"/>
                        <a:ea typeface="Calibri" charset="0"/>
                        <a:cs typeface="Calibri" charset="0"/>
                      </a:endParaRPr>
                    </a:p>
                  </a:txBody>
                  <a:tcPr marL="109728" marR="109728" marT="54864" marB="54864">
                    <a:lnL w="9525" cap="flat" cmpd="sng" algn="ctr">
                      <a:solidFill>
                        <a:srgbClr val="DDE4EA"/>
                      </a:solidFill>
                      <a:prstDash val="solid"/>
                      <a:round/>
                      <a:headEnd type="none" w="med" len="med"/>
                      <a:tailEnd type="none" w="med" len="med"/>
                    </a:lnL>
                    <a:lnR w="9525" cap="flat" cmpd="sng" algn="ctr">
                      <a:solidFill>
                        <a:srgbClr val="DDE4EA"/>
                      </a:solidFill>
                      <a:prstDash val="solid"/>
                      <a:round/>
                      <a:headEnd type="none" w="med" len="med"/>
                      <a:tailEnd type="none" w="med" len="med"/>
                    </a:lnR>
                    <a:lnT w="9525" cap="flat" cmpd="sng" algn="ctr">
                      <a:solidFill>
                        <a:srgbClr val="DDE4EA"/>
                      </a:solidFill>
                      <a:prstDash val="solid"/>
                      <a:round/>
                      <a:headEnd type="none" w="med" len="med"/>
                      <a:tailEnd type="none" w="med" len="med"/>
                    </a:lnT>
                    <a:lnB w="9525" cap="flat" cmpd="sng" algn="ctr">
                      <a:solidFill>
                        <a:srgbClr val="DDE4EA"/>
                      </a:solidFill>
                      <a:prstDash val="solid"/>
                      <a:round/>
                      <a:headEnd type="none" w="med" len="med"/>
                      <a:tailEnd type="none" w="med" len="med"/>
                    </a:lnB>
                    <a:solidFill>
                      <a:srgbClr val="FFFFFF"/>
                    </a:solidFill>
                  </a:tcPr>
                </a:tc>
                <a:tc>
                  <a:txBody>
                    <a:bodyPr/>
                    <a:lstStyle/>
                    <a:p>
                      <a:pPr indent="0" marL="0">
                        <a:buNone/>
                      </a:pPr>
                      <a:r>
                        <a:rPr lang="en-US" sz="1600" dirty="0">
                          <a:solidFill>
                            <a:srgbClr val="0F1E2A"/>
                          </a:solidFill>
                          <a:latin typeface="Calibri" pitchFamily="34" charset="0"/>
                          <a:ea typeface="Calibri" pitchFamily="34" charset="-122"/>
                          <a:cs typeface="Calibri" pitchFamily="34" charset="-120"/>
                        </a:rPr>
                        <a:t>Nisbatni hisoblaydi</a:t>
                      </a:r>
                      <a:endParaRPr lang="en-US" sz="1600" dirty="0">
                        <a:latin typeface="Calibri" charset="0"/>
                        <a:ea typeface="Calibri" charset="0"/>
                        <a:cs typeface="Calibri" charset="0"/>
                      </a:endParaRPr>
                    </a:p>
                  </a:txBody>
                  <a:tcPr marL="109728" marR="109728" marT="54864" marB="54864">
                    <a:lnL w="9525" cap="flat" cmpd="sng" algn="ctr">
                      <a:solidFill>
                        <a:srgbClr val="DDE4EA"/>
                      </a:solidFill>
                      <a:prstDash val="solid"/>
                      <a:round/>
                      <a:headEnd type="none" w="med" len="med"/>
                      <a:tailEnd type="none" w="med" len="med"/>
                    </a:lnL>
                    <a:lnR w="9525" cap="flat" cmpd="sng" algn="ctr">
                      <a:solidFill>
                        <a:srgbClr val="DDE4EA"/>
                      </a:solidFill>
                      <a:prstDash val="solid"/>
                      <a:round/>
                      <a:headEnd type="none" w="med" len="med"/>
                      <a:tailEnd type="none" w="med" len="med"/>
                    </a:lnR>
                    <a:lnT w="9525" cap="flat" cmpd="sng" algn="ctr">
                      <a:solidFill>
                        <a:srgbClr val="DDE4EA"/>
                      </a:solidFill>
                      <a:prstDash val="solid"/>
                      <a:round/>
                      <a:headEnd type="none" w="med" len="med"/>
                      <a:tailEnd type="none" w="med" len="med"/>
                    </a:lnT>
                    <a:lnB w="9525" cap="flat" cmpd="sng" algn="ctr">
                      <a:solidFill>
                        <a:srgbClr val="DDE4EA"/>
                      </a:solidFill>
                      <a:prstDash val="solid"/>
                      <a:round/>
                      <a:headEnd type="none" w="med" len="med"/>
                      <a:tailEnd type="none" w="med" len="med"/>
                    </a:lnB>
                    <a:solidFill>
                      <a:srgbClr val="FFFFFF"/>
                    </a:solidFill>
                  </a:tcPr>
                </a:tc>
              </a:tr>
              <a:tr h="502920">
                <a:tc>
                  <a:txBody>
                    <a:bodyPr/>
                    <a:lstStyle/>
                    <a:p>
                      <a:pPr indent="0" marL="0">
                        <a:buNone/>
                      </a:pPr>
                      <a:r>
                        <a:rPr lang="en-US" sz="1600" dirty="0">
                          <a:solidFill>
                            <a:srgbClr val="0F1E2A"/>
                          </a:solidFill>
                          <a:latin typeface="Calibri" pitchFamily="34" charset="0"/>
                          <a:ea typeface="Calibri" pitchFamily="34" charset="-122"/>
                          <a:cs typeface="Calibri" pitchFamily="34" charset="-120"/>
                        </a:rPr>
                        <a:t>% kutilgan</a:t>
                      </a:r>
                      <a:endParaRPr lang="en-US" sz="1600" dirty="0">
                        <a:latin typeface="Calibri" charset="0"/>
                        <a:ea typeface="Calibri" charset="0"/>
                        <a:cs typeface="Calibri" charset="0"/>
                      </a:endParaRPr>
                    </a:p>
                  </a:txBody>
                  <a:tcPr marL="109728" marR="109728" marT="54864" marB="54864">
                    <a:lnL w="9525" cap="flat" cmpd="sng" algn="ctr">
                      <a:solidFill>
                        <a:srgbClr val="DDE4EA"/>
                      </a:solidFill>
                      <a:prstDash val="solid"/>
                      <a:round/>
                      <a:headEnd type="none" w="med" len="med"/>
                      <a:tailEnd type="none" w="med" len="med"/>
                    </a:lnL>
                    <a:lnR w="9525" cap="flat" cmpd="sng" algn="ctr">
                      <a:solidFill>
                        <a:srgbClr val="DDE4EA"/>
                      </a:solidFill>
                      <a:prstDash val="solid"/>
                      <a:round/>
                      <a:headEnd type="none" w="med" len="med"/>
                      <a:tailEnd type="none" w="med" len="med"/>
                    </a:lnR>
                    <a:lnT w="9525" cap="flat" cmpd="sng" algn="ctr">
                      <a:solidFill>
                        <a:srgbClr val="DDE4EA"/>
                      </a:solidFill>
                      <a:prstDash val="solid"/>
                      <a:round/>
                      <a:headEnd type="none" w="med" len="med"/>
                      <a:tailEnd type="none" w="med" len="med"/>
                    </a:lnT>
                    <a:lnB w="9525" cap="flat" cmpd="sng" algn="ctr">
                      <a:solidFill>
                        <a:srgbClr val="DDE4EA"/>
                      </a:solidFill>
                      <a:prstDash val="solid"/>
                      <a:round/>
                      <a:headEnd type="none" w="med" len="med"/>
                      <a:tailEnd type="none" w="med" len="med"/>
                    </a:lnB>
                    <a:solidFill>
                      <a:srgbClr val="FFFFFF"/>
                    </a:solidFill>
                  </a:tcPr>
                </a:tc>
                <a:tc>
                  <a:txBody>
                    <a:bodyPr/>
                    <a:lstStyle/>
                    <a:p>
                      <a:pPr indent="0" marL="0">
                        <a:buNone/>
                      </a:pPr>
                      <a:r>
                        <a:rPr lang="en-US" sz="1600" dirty="0">
                          <a:solidFill>
                            <a:srgbClr val="0F1E2A"/>
                          </a:solidFill>
                          <a:latin typeface="Calibri" pitchFamily="34" charset="0"/>
                          <a:ea typeface="Calibri" pitchFamily="34" charset="-122"/>
                          <a:cs typeface="Calibri" pitchFamily="34" charset="-120"/>
                        </a:rPr>
                        <a:t>GLI-2012 tenglamasi</a:t>
                      </a:r>
                      <a:endParaRPr lang="en-US" sz="1600" dirty="0">
                        <a:latin typeface="Calibri" charset="0"/>
                        <a:ea typeface="Calibri" charset="0"/>
                        <a:cs typeface="Calibri" charset="0"/>
                      </a:endParaRPr>
                    </a:p>
                  </a:txBody>
                  <a:tcPr marL="109728" marR="109728" marT="54864" marB="54864">
                    <a:lnL w="9525" cap="flat" cmpd="sng" algn="ctr">
                      <a:solidFill>
                        <a:srgbClr val="DDE4EA"/>
                      </a:solidFill>
                      <a:prstDash val="solid"/>
                      <a:round/>
                      <a:headEnd type="none" w="med" len="med"/>
                      <a:tailEnd type="none" w="med" len="med"/>
                    </a:lnL>
                    <a:lnR w="9525" cap="flat" cmpd="sng" algn="ctr">
                      <a:solidFill>
                        <a:srgbClr val="DDE4EA"/>
                      </a:solidFill>
                      <a:prstDash val="solid"/>
                      <a:round/>
                      <a:headEnd type="none" w="med" len="med"/>
                      <a:tailEnd type="none" w="med" len="med"/>
                    </a:lnR>
                    <a:lnT w="9525" cap="flat" cmpd="sng" algn="ctr">
                      <a:solidFill>
                        <a:srgbClr val="DDE4EA"/>
                      </a:solidFill>
                      <a:prstDash val="solid"/>
                      <a:round/>
                      <a:headEnd type="none" w="med" len="med"/>
                      <a:tailEnd type="none" w="med" len="med"/>
                    </a:lnT>
                    <a:lnB w="9525" cap="flat" cmpd="sng" algn="ctr">
                      <a:solidFill>
                        <a:srgbClr val="DDE4EA"/>
                      </a:solidFill>
                      <a:prstDash val="solid"/>
                      <a:round/>
                      <a:headEnd type="none" w="med" len="med"/>
                      <a:tailEnd type="none" w="med" len="med"/>
                    </a:lnB>
                    <a:solidFill>
                      <a:srgbClr val="FFFFFF"/>
                    </a:solidFill>
                  </a:tcPr>
                </a:tc>
              </a:tr>
              <a:tr h="502920">
                <a:tc>
                  <a:txBody>
                    <a:bodyPr/>
                    <a:lstStyle/>
                    <a:p>
                      <a:pPr indent="0" marL="0">
                        <a:buNone/>
                      </a:pPr>
                      <a:r>
                        <a:rPr lang="en-US" sz="1600" dirty="0">
                          <a:solidFill>
                            <a:srgbClr val="0F1E2A"/>
                          </a:solidFill>
                          <a:latin typeface="Calibri" pitchFamily="34" charset="0"/>
                          <a:ea typeface="Calibri" pitchFamily="34" charset="-122"/>
                          <a:cs typeface="Calibri" pitchFamily="34" charset="-120"/>
                        </a:rPr>
                        <a:t>Obstruksiya</a:t>
                      </a:r>
                      <a:endParaRPr lang="en-US" sz="1600" dirty="0">
                        <a:latin typeface="Calibri" charset="0"/>
                        <a:ea typeface="Calibri" charset="0"/>
                        <a:cs typeface="Calibri" charset="0"/>
                      </a:endParaRPr>
                    </a:p>
                  </a:txBody>
                  <a:tcPr marL="109728" marR="109728" marT="54864" marB="54864">
                    <a:lnL w="9525" cap="flat" cmpd="sng" algn="ctr">
                      <a:solidFill>
                        <a:srgbClr val="DDE4EA"/>
                      </a:solidFill>
                      <a:prstDash val="solid"/>
                      <a:round/>
                      <a:headEnd type="none" w="med" len="med"/>
                      <a:tailEnd type="none" w="med" len="med"/>
                    </a:lnL>
                    <a:lnR w="9525" cap="flat" cmpd="sng" algn="ctr">
                      <a:solidFill>
                        <a:srgbClr val="DDE4EA"/>
                      </a:solidFill>
                      <a:prstDash val="solid"/>
                      <a:round/>
                      <a:headEnd type="none" w="med" len="med"/>
                      <a:tailEnd type="none" w="med" len="med"/>
                    </a:lnR>
                    <a:lnT w="9525" cap="flat" cmpd="sng" algn="ctr">
                      <a:solidFill>
                        <a:srgbClr val="DDE4EA"/>
                      </a:solidFill>
                      <a:prstDash val="solid"/>
                      <a:round/>
                      <a:headEnd type="none" w="med" len="med"/>
                      <a:tailEnd type="none" w="med" len="med"/>
                    </a:lnT>
                    <a:lnB w="9525" cap="flat" cmpd="sng" algn="ctr">
                      <a:solidFill>
                        <a:srgbClr val="DDE4EA"/>
                      </a:solidFill>
                      <a:prstDash val="solid"/>
                      <a:round/>
                      <a:headEnd type="none" w="med" len="med"/>
                      <a:tailEnd type="none" w="med" len="med"/>
                    </a:lnB>
                    <a:solidFill>
                      <a:srgbClr val="FFFFFF"/>
                    </a:solidFill>
                  </a:tcPr>
                </a:tc>
                <a:tc>
                  <a:txBody>
                    <a:bodyPr/>
                    <a:lstStyle/>
                    <a:p>
                      <a:pPr indent="0" marL="0">
                        <a:buNone/>
                      </a:pPr>
                      <a:r>
                        <a:rPr lang="en-US" sz="1600" dirty="0">
                          <a:solidFill>
                            <a:srgbClr val="0F1E2A"/>
                          </a:solidFill>
                          <a:latin typeface="Calibri" pitchFamily="34" charset="0"/>
                          <a:ea typeface="Calibri" pitchFamily="34" charset="-122"/>
                          <a:cs typeface="Calibri" pitchFamily="34" charset="-120"/>
                        </a:rPr>
                        <a:t>&lt; 0,70 yoki LLN (tanlov)</a:t>
                      </a:r>
                      <a:endParaRPr lang="en-US" sz="1600" dirty="0">
                        <a:latin typeface="Calibri" charset="0"/>
                        <a:ea typeface="Calibri" charset="0"/>
                        <a:cs typeface="Calibri" charset="0"/>
                      </a:endParaRPr>
                    </a:p>
                  </a:txBody>
                  <a:tcPr marL="109728" marR="109728" marT="54864" marB="54864">
                    <a:lnL w="9525" cap="flat" cmpd="sng" algn="ctr">
                      <a:solidFill>
                        <a:srgbClr val="DDE4EA"/>
                      </a:solidFill>
                      <a:prstDash val="solid"/>
                      <a:round/>
                      <a:headEnd type="none" w="med" len="med"/>
                      <a:tailEnd type="none" w="med" len="med"/>
                    </a:lnL>
                    <a:lnR w="9525" cap="flat" cmpd="sng" algn="ctr">
                      <a:solidFill>
                        <a:srgbClr val="DDE4EA"/>
                      </a:solidFill>
                      <a:prstDash val="solid"/>
                      <a:round/>
                      <a:headEnd type="none" w="med" len="med"/>
                      <a:tailEnd type="none" w="med" len="med"/>
                    </a:lnR>
                    <a:lnT w="9525" cap="flat" cmpd="sng" algn="ctr">
                      <a:solidFill>
                        <a:srgbClr val="DDE4EA"/>
                      </a:solidFill>
                      <a:prstDash val="solid"/>
                      <a:round/>
                      <a:headEnd type="none" w="med" len="med"/>
                      <a:tailEnd type="none" w="med" len="med"/>
                    </a:lnT>
                    <a:lnB w="9525" cap="flat" cmpd="sng" algn="ctr">
                      <a:solidFill>
                        <a:srgbClr val="DDE4EA"/>
                      </a:solidFill>
                      <a:prstDash val="solid"/>
                      <a:round/>
                      <a:headEnd type="none" w="med" len="med"/>
                      <a:tailEnd type="none" w="med" len="med"/>
                    </a:lnB>
                    <a:solidFill>
                      <a:srgbClr val="FFFFFF"/>
                    </a:solidFill>
                  </a:tcPr>
                </a:tc>
              </a:tr>
              <a:tr h="502920">
                <a:tc>
                  <a:txBody>
                    <a:bodyPr/>
                    <a:lstStyle/>
                    <a:p>
                      <a:pPr indent="0" marL="0">
                        <a:buNone/>
                      </a:pPr>
                      <a:r>
                        <a:rPr lang="en-US" sz="1600" dirty="0">
                          <a:solidFill>
                            <a:srgbClr val="0F1E2A"/>
                          </a:solidFill>
                          <a:latin typeface="Calibri" pitchFamily="34" charset="0"/>
                          <a:ea typeface="Calibri" pitchFamily="34" charset="-122"/>
                          <a:cs typeface="Calibri" pitchFamily="34" charset="-120"/>
                        </a:rPr>
                        <a:t>GOLD 1–4</a:t>
                      </a:r>
                      <a:endParaRPr lang="en-US" sz="1600" dirty="0">
                        <a:latin typeface="Calibri" charset="0"/>
                        <a:ea typeface="Calibri" charset="0"/>
                        <a:cs typeface="Calibri" charset="0"/>
                      </a:endParaRPr>
                    </a:p>
                  </a:txBody>
                  <a:tcPr marL="109728" marR="109728" marT="54864" marB="54864">
                    <a:lnL w="9525" cap="flat" cmpd="sng" algn="ctr">
                      <a:solidFill>
                        <a:srgbClr val="DDE4EA"/>
                      </a:solidFill>
                      <a:prstDash val="solid"/>
                      <a:round/>
                      <a:headEnd type="none" w="med" len="med"/>
                      <a:tailEnd type="none" w="med" len="med"/>
                    </a:lnL>
                    <a:lnR w="9525" cap="flat" cmpd="sng" algn="ctr">
                      <a:solidFill>
                        <a:srgbClr val="DDE4EA"/>
                      </a:solidFill>
                      <a:prstDash val="solid"/>
                      <a:round/>
                      <a:headEnd type="none" w="med" len="med"/>
                      <a:tailEnd type="none" w="med" len="med"/>
                    </a:lnR>
                    <a:lnT w="9525" cap="flat" cmpd="sng" algn="ctr">
                      <a:solidFill>
                        <a:srgbClr val="DDE4EA"/>
                      </a:solidFill>
                      <a:prstDash val="solid"/>
                      <a:round/>
                      <a:headEnd type="none" w="med" len="med"/>
                      <a:tailEnd type="none" w="med" len="med"/>
                    </a:lnT>
                    <a:lnB w="9525" cap="flat" cmpd="sng" algn="ctr">
                      <a:solidFill>
                        <a:srgbClr val="DDE4EA"/>
                      </a:solidFill>
                      <a:prstDash val="solid"/>
                      <a:round/>
                      <a:headEnd type="none" w="med" len="med"/>
                      <a:tailEnd type="none" w="med" len="med"/>
                    </a:lnB>
                    <a:solidFill>
                      <a:srgbClr val="FFFFFF"/>
                    </a:solidFill>
                  </a:tcPr>
                </a:tc>
                <a:tc>
                  <a:txBody>
                    <a:bodyPr/>
                    <a:lstStyle/>
                    <a:p>
                      <a:pPr indent="0" marL="0">
                        <a:buNone/>
                      </a:pPr>
                      <a:r>
                        <a:rPr lang="en-US" sz="1600" dirty="0">
                          <a:solidFill>
                            <a:srgbClr val="0F1E2A"/>
                          </a:solidFill>
                          <a:latin typeface="Calibri" pitchFamily="34" charset="0"/>
                          <a:ea typeface="Calibri" pitchFamily="34" charset="-122"/>
                          <a:cs typeface="Calibri" pitchFamily="34" charset="-120"/>
                        </a:rPr>
                        <a:t>BD keyingi FEV1 % boʻyicha</a:t>
                      </a:r>
                      <a:endParaRPr lang="en-US" sz="1600" dirty="0">
                        <a:latin typeface="Calibri" charset="0"/>
                        <a:ea typeface="Calibri" charset="0"/>
                        <a:cs typeface="Calibri" charset="0"/>
                      </a:endParaRPr>
                    </a:p>
                  </a:txBody>
                  <a:tcPr marL="109728" marR="109728" marT="54864" marB="54864">
                    <a:lnL w="9525" cap="flat" cmpd="sng" algn="ctr">
                      <a:solidFill>
                        <a:srgbClr val="DDE4EA"/>
                      </a:solidFill>
                      <a:prstDash val="solid"/>
                      <a:round/>
                      <a:headEnd type="none" w="med" len="med"/>
                      <a:tailEnd type="none" w="med" len="med"/>
                    </a:lnL>
                    <a:lnR w="9525" cap="flat" cmpd="sng" algn="ctr">
                      <a:solidFill>
                        <a:srgbClr val="DDE4EA"/>
                      </a:solidFill>
                      <a:prstDash val="solid"/>
                      <a:round/>
                      <a:headEnd type="none" w="med" len="med"/>
                      <a:tailEnd type="none" w="med" len="med"/>
                    </a:lnR>
                    <a:lnT w="9525" cap="flat" cmpd="sng" algn="ctr">
                      <a:solidFill>
                        <a:srgbClr val="DDE4EA"/>
                      </a:solidFill>
                      <a:prstDash val="solid"/>
                      <a:round/>
                      <a:headEnd type="none" w="med" len="med"/>
                      <a:tailEnd type="none" w="med" len="med"/>
                    </a:lnT>
                    <a:lnB w="9525" cap="flat" cmpd="sng" algn="ctr">
                      <a:solidFill>
                        <a:srgbClr val="DDE4EA"/>
                      </a:solidFill>
                      <a:prstDash val="solid"/>
                      <a:round/>
                      <a:headEnd type="none" w="med" len="med"/>
                      <a:tailEnd type="none" w="med" len="med"/>
                    </a:lnB>
                    <a:solidFill>
                      <a:srgbClr val="FFFFFF"/>
                    </a:solidFill>
                  </a:tcPr>
                </a:tc>
              </a:tr>
              <a:tr h="502920">
                <a:tc>
                  <a:txBody>
                    <a:bodyPr/>
                    <a:lstStyle/>
                    <a:p>
                      <a:pPr indent="0" marL="0">
                        <a:buNone/>
                      </a:pPr>
                      <a:r>
                        <a:rPr lang="en-US" sz="1600" dirty="0">
                          <a:solidFill>
                            <a:srgbClr val="0F1E2A"/>
                          </a:solidFill>
                          <a:latin typeface="Calibri" pitchFamily="34" charset="0"/>
                          <a:ea typeface="Calibri" pitchFamily="34" charset="-122"/>
                          <a:cs typeface="Calibri" pitchFamily="34" charset="-120"/>
                        </a:rPr>
                        <a:t>BD javobi, PRISm</a:t>
                      </a:r>
                      <a:endParaRPr lang="en-US" sz="1600" dirty="0">
                        <a:latin typeface="Calibri" charset="0"/>
                        <a:ea typeface="Calibri" charset="0"/>
                        <a:cs typeface="Calibri" charset="0"/>
                      </a:endParaRPr>
                    </a:p>
                  </a:txBody>
                  <a:tcPr marL="109728" marR="109728" marT="54864" marB="54864">
                    <a:lnL w="9525" cap="flat" cmpd="sng" algn="ctr">
                      <a:solidFill>
                        <a:srgbClr val="DDE4EA"/>
                      </a:solidFill>
                      <a:prstDash val="solid"/>
                      <a:round/>
                      <a:headEnd type="none" w="med" len="med"/>
                      <a:tailEnd type="none" w="med" len="med"/>
                    </a:lnL>
                    <a:lnR w="9525" cap="flat" cmpd="sng" algn="ctr">
                      <a:solidFill>
                        <a:srgbClr val="DDE4EA"/>
                      </a:solidFill>
                      <a:prstDash val="solid"/>
                      <a:round/>
                      <a:headEnd type="none" w="med" len="med"/>
                      <a:tailEnd type="none" w="med" len="med"/>
                    </a:lnR>
                    <a:lnT w="9525" cap="flat" cmpd="sng" algn="ctr">
                      <a:solidFill>
                        <a:srgbClr val="DDE4EA"/>
                      </a:solidFill>
                      <a:prstDash val="solid"/>
                      <a:round/>
                      <a:headEnd type="none" w="med" len="med"/>
                      <a:tailEnd type="none" w="med" len="med"/>
                    </a:lnT>
                    <a:lnB w="9525" cap="flat" cmpd="sng" algn="ctr">
                      <a:solidFill>
                        <a:srgbClr val="DDE4EA"/>
                      </a:solidFill>
                      <a:prstDash val="solid"/>
                      <a:round/>
                      <a:headEnd type="none" w="med" len="med"/>
                      <a:tailEnd type="none" w="med" len="med"/>
                    </a:lnB>
                    <a:solidFill>
                      <a:srgbClr val="FFFFFF"/>
                    </a:solidFill>
                  </a:tcPr>
                </a:tc>
                <a:tc>
                  <a:txBody>
                    <a:bodyPr/>
                    <a:lstStyle/>
                    <a:p>
                      <a:pPr indent="0" marL="0">
                        <a:buNone/>
                      </a:pPr>
                      <a:r>
                        <a:rPr lang="en-US" sz="1600" dirty="0">
                          <a:solidFill>
                            <a:srgbClr val="0F1E2A"/>
                          </a:solidFill>
                          <a:latin typeface="Calibri" pitchFamily="34" charset="0"/>
                          <a:ea typeface="Calibri" pitchFamily="34" charset="-122"/>
                          <a:cs typeface="Calibri" pitchFamily="34" charset="-120"/>
                        </a:rPr>
                        <a:t>Avtomatik belgilaydi</a:t>
                      </a:r>
                      <a:endParaRPr lang="en-US" sz="1600" dirty="0">
                        <a:latin typeface="Calibri" charset="0"/>
                        <a:ea typeface="Calibri" charset="0"/>
                        <a:cs typeface="Calibri" charset="0"/>
                      </a:endParaRPr>
                    </a:p>
                  </a:txBody>
                  <a:tcPr marL="109728" marR="109728" marT="54864" marB="54864">
                    <a:lnL w="9525" cap="flat" cmpd="sng" algn="ctr">
                      <a:solidFill>
                        <a:srgbClr val="DDE4EA"/>
                      </a:solidFill>
                      <a:prstDash val="solid"/>
                      <a:round/>
                      <a:headEnd type="none" w="med" len="med"/>
                      <a:tailEnd type="none" w="med" len="med"/>
                    </a:lnL>
                    <a:lnR w="9525" cap="flat" cmpd="sng" algn="ctr">
                      <a:solidFill>
                        <a:srgbClr val="DDE4EA"/>
                      </a:solidFill>
                      <a:prstDash val="solid"/>
                      <a:round/>
                      <a:headEnd type="none" w="med" len="med"/>
                      <a:tailEnd type="none" w="med" len="med"/>
                    </a:lnR>
                    <a:lnT w="9525" cap="flat" cmpd="sng" algn="ctr">
                      <a:solidFill>
                        <a:srgbClr val="DDE4EA"/>
                      </a:solidFill>
                      <a:prstDash val="solid"/>
                      <a:round/>
                      <a:headEnd type="none" w="med" len="med"/>
                      <a:tailEnd type="none" w="med" len="med"/>
                    </a:lnT>
                    <a:lnB w="9525" cap="flat" cmpd="sng" algn="ctr">
                      <a:solidFill>
                        <a:srgbClr val="DDE4EA"/>
                      </a:solidFill>
                      <a:prstDash val="solid"/>
                      <a:round/>
                      <a:headEnd type="none" w="med" len="med"/>
                      <a:tailEnd type="none" w="med" len="med"/>
                    </a:lnB>
                    <a:solidFill>
                      <a:srgbClr val="FFFFFF"/>
                    </a:solidFill>
                  </a:tcPr>
                </a:tc>
              </a:tr>
            </a:tbl>
          </a:graphicData>
        </a:graphic>
      </p:graphicFrame>
      <p:sp>
        <p:nvSpPr>
          <p:cNvPr id="5" name="Shape 2"/>
          <p:cNvSpPr/>
          <p:nvPr/>
        </p:nvSpPr>
        <p:spPr>
          <a:xfrm>
            <a:off x="6949440" y="1920240"/>
            <a:ext cx="4690872" cy="3108960"/>
          </a:xfrm>
          <a:prstGeom prst="roundRect">
            <a:avLst>
              <a:gd name="adj" fmla="val 3529"/>
            </a:avLst>
          </a:prstGeom>
          <a:solidFill>
            <a:srgbClr val="FFFFFF"/>
          </a:solidFill>
          <a:ln w="12700">
            <a:solidFill>
              <a:srgbClr val="DDE4EA"/>
            </a:solidFill>
            <a:prstDash val="solid"/>
          </a:ln>
        </p:spPr>
      </p:sp>
      <p:sp>
        <p:nvSpPr>
          <p:cNvPr id="6" name="Text 3"/>
          <p:cNvSpPr txBox="1"/>
          <p:nvPr/>
        </p:nvSpPr>
        <p:spPr>
          <a:xfrm>
            <a:off x="7223760" y="2148840"/>
            <a:ext cx="4206240" cy="411480"/>
          </a:xfrm>
          <a:prstGeom prst="rect">
            <a:avLst/>
          </a:prstGeom>
          <a:noFill/>
          <a:ln/>
        </p:spPr>
        <p:txBody>
          <a:bodyPr wrap="square" lIns="0" tIns="0" rIns="0" bIns="0" rtlCol="0" anchor="t"/>
          <a:lstStyle/>
          <a:p>
            <a:pPr indent="0" marL="0">
              <a:buNone/>
            </a:pPr>
            <a:r>
              <a:rPr lang="en-US" sz="1900" b="1" dirty="0">
                <a:solidFill>
                  <a:srgbClr val="0F1E2A"/>
                </a:solidFill>
                <a:latin typeface="Calibri" pitchFamily="34" charset="0"/>
                <a:ea typeface="Calibri" pitchFamily="34" charset="-122"/>
                <a:cs typeface="Calibri" pitchFamily="34" charset="-120"/>
              </a:rPr>
              <a:t>Taxmin qilmaydi</a:t>
            </a:r>
            <a:endParaRPr lang="en-US" sz="1900" dirty="0"/>
          </a:p>
        </p:txBody>
      </p:sp>
      <p:sp>
        <p:nvSpPr>
          <p:cNvPr id="7" name="Text 4"/>
          <p:cNvSpPr txBox="1"/>
          <p:nvPr/>
        </p:nvSpPr>
        <p:spPr>
          <a:xfrm>
            <a:off x="7223760" y="2606040"/>
            <a:ext cx="4206240" cy="1280160"/>
          </a:xfrm>
          <a:prstGeom prst="rect">
            <a:avLst/>
          </a:prstGeom>
          <a:noFill/>
          <a:ln/>
        </p:spPr>
        <p:txBody>
          <a:bodyPr wrap="square" lIns="0" tIns="0" rIns="0" bIns="0" rtlCol="0" anchor="t"/>
          <a:lstStyle/>
          <a:p>
            <a:pPr indent="0" marL="0">
              <a:buNone/>
            </a:pPr>
            <a:r>
              <a:rPr lang="en-US" sz="1500" dirty="0">
                <a:solidFill>
                  <a:srgbClr val="4A5A67"/>
                </a:solidFill>
                <a:latin typeface="Calibri" pitchFamily="34" charset="0"/>
                <a:ea typeface="Calibri" pitchFamily="34" charset="-122"/>
                <a:cs typeface="Calibri" pitchFamily="34" charset="-120"/>
              </a:rPr>
              <a:t>Maʼlumot yetishmasa — aniq ogohlantirish: masalan, “bronxodilatatordan keyingi qiymat yoʻq — GOLD darajasi berilmaydi”.</a:t>
            </a:r>
            <a:endParaRPr lang="en-US" sz="1500" dirty="0"/>
          </a:p>
        </p:txBody>
      </p:sp>
      <p:sp>
        <p:nvSpPr>
          <p:cNvPr id="8" name="Text 5"/>
          <p:cNvSpPr txBox="1"/>
          <p:nvPr/>
        </p:nvSpPr>
        <p:spPr>
          <a:xfrm>
            <a:off x="7223760" y="3931920"/>
            <a:ext cx="4206240" cy="822960"/>
          </a:xfrm>
          <a:prstGeom prst="rect">
            <a:avLst/>
          </a:prstGeom>
          <a:noFill/>
          <a:ln/>
        </p:spPr>
        <p:txBody>
          <a:bodyPr wrap="square" lIns="0" tIns="0" rIns="0" bIns="0" rtlCol="0" anchor="t"/>
          <a:lstStyle/>
          <a:p>
            <a:pPr indent="0" marL="0">
              <a:buNone/>
            </a:pPr>
            <a:r>
              <a:rPr lang="en-US" sz="1500" dirty="0">
                <a:solidFill>
                  <a:srgbClr val="4A5A67"/>
                </a:solidFill>
                <a:latin typeface="Calibri" pitchFamily="34" charset="0"/>
                <a:ea typeface="Calibri" pitchFamily="34" charset="-122"/>
                <a:cs typeface="Calibri" pitchFamily="34" charset="-120"/>
              </a:rPr>
              <a:t>Natija doim “klinik kontekstda talqin qilinadi” degan eslatma bilan.</a:t>
            </a:r>
            <a:endParaRPr lang="en-US" sz="1500" dirty="0"/>
          </a:p>
        </p:txBody>
      </p:sp>
      <p:sp>
        <p:nvSpPr>
          <p:cNvPr id="9" name="Text 6"/>
          <p:cNvSpPr txBox="1"/>
          <p:nvPr/>
        </p:nvSpPr>
        <p:spPr>
          <a:xfrm>
            <a:off x="548640" y="5440680"/>
            <a:ext cx="11094415" cy="640080"/>
          </a:xfrm>
          <a:prstGeom prst="rect">
            <a:avLst/>
          </a:prstGeom>
          <a:noFill/>
          <a:ln/>
        </p:spPr>
        <p:txBody>
          <a:bodyPr wrap="square" lIns="0" tIns="0" rIns="0" bIns="0" rtlCol="0" anchor="t"/>
          <a:lstStyle/>
          <a:p>
            <a:pPr indent="0" marL="0">
              <a:buNone/>
            </a:pPr>
            <a:r>
              <a:rPr lang="en-US" sz="1400" dirty="0">
                <a:solidFill>
                  <a:srgbClr val="6B7B87"/>
                </a:solidFill>
                <a:latin typeface="Calibri" pitchFamily="34" charset="0"/>
                <a:ea typeface="Calibri" pitchFamily="34" charset="-122"/>
                <a:cs typeface="Calibri" pitchFamily="34" charset="-120"/>
              </a:rPr>
              <a:t>GLI-2012 hisoblari mustaqil manba (rspiro) bilan solishtirib testlangan · Oʻzbekiston uchun etnik guruh tanlovi klinik tasdiq kutmoqda.</a:t>
            </a:r>
            <a:endParaRPr lang="en-US" sz="1400" dirty="0"/>
          </a:p>
        </p:txBody>
      </p:sp>
      <p:sp>
        <p:nvSpPr>
          <p:cNvPr id="10" name="Text 7"/>
          <p:cNvSpPr txBox="1"/>
          <p:nvPr/>
        </p:nvSpPr>
        <p:spPr>
          <a:xfrm>
            <a:off x="548640" y="6400800"/>
            <a:ext cx="3657600" cy="274320"/>
          </a:xfrm>
          <a:prstGeom prst="rect">
            <a:avLst/>
          </a:prstGeom>
          <a:noFill/>
          <a:ln/>
        </p:spPr>
        <p:txBody>
          <a:bodyPr wrap="square" lIns="0" tIns="0" rIns="0" bIns="0" rtlCol="0" anchor="t"/>
          <a:lstStyle/>
          <a:p>
            <a:pPr indent="0" marL="0">
              <a:buNone/>
            </a:pPr>
            <a:r>
              <a:rPr lang="en-US" sz="1100" dirty="0">
                <a:solidFill>
                  <a:srgbClr val="6B7B87"/>
                </a:solidFill>
                <a:latin typeface="Calibri" pitchFamily="34" charset="0"/>
                <a:ea typeface="Calibri" pitchFamily="34" charset="-122"/>
                <a:cs typeface="Calibri" pitchFamily="34" charset="-120"/>
              </a:rPr>
              <a:t>NafasNazorat · 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4415" cy="292608"/>
          </a:xfrm>
          <a:prstGeom prst="rect">
            <a:avLst/>
          </a:prstGeom>
          <a:noFill/>
          <a:ln/>
        </p:spPr>
        <p:txBody>
          <a:bodyPr wrap="square" lIns="0" tIns="0" rIns="0" bIns="0" rtlCol="0" anchor="t"/>
          <a:lstStyle/>
          <a:p>
            <a:pPr indent="0" marL="0">
              <a:buNone/>
            </a:pPr>
            <a:r>
              <a:rPr lang="en-US" sz="1300" b="1" spc="300" kern="0" dirty="0">
                <a:solidFill>
                  <a:srgbClr val="0B6E7F"/>
                </a:solidFill>
                <a:latin typeface="Calibri" pitchFamily="34" charset="0"/>
                <a:ea typeface="Calibri" pitchFamily="34" charset="-122"/>
                <a:cs typeface="Calibri" pitchFamily="34" charset="-120"/>
              </a:rPr>
              <a:t>XAVFSIZLIK VA MAXFIYLIK</a:t>
            </a:r>
            <a:endParaRPr lang="en-US" sz="1300" dirty="0"/>
          </a:p>
        </p:txBody>
      </p:sp>
      <p:sp>
        <p:nvSpPr>
          <p:cNvPr id="3" name="Text 1"/>
          <p:cNvSpPr txBox="1"/>
          <p:nvPr/>
        </p:nvSpPr>
        <p:spPr>
          <a:xfrm>
            <a:off x="548640" y="777240"/>
            <a:ext cx="11094415" cy="960120"/>
          </a:xfrm>
          <a:prstGeom prst="rect">
            <a:avLst/>
          </a:prstGeom>
          <a:noFill/>
          <a:ln/>
        </p:spPr>
        <p:txBody>
          <a:bodyPr wrap="square" lIns="0" tIns="0" rIns="0" bIns="0" rtlCol="0" anchor="t"/>
          <a:lstStyle/>
          <a:p>
            <a:pPr indent="0" marL="0">
              <a:buNone/>
            </a:pPr>
            <a:r>
              <a:rPr lang="en-US" sz="3200" b="1" dirty="0">
                <a:solidFill>
                  <a:srgbClr val="0F1E2A"/>
                </a:solidFill>
                <a:latin typeface="Cambria" pitchFamily="34" charset="0"/>
                <a:ea typeface="Cambria" pitchFamily="34" charset="-122"/>
                <a:cs typeface="Cambria" pitchFamily="34" charset="-120"/>
              </a:rPr>
              <a:t>Shifokorni qoʻllab-quvvatlaydi — oʻrnini bosmaydi</a:t>
            </a:r>
            <a:endParaRPr lang="en-US" sz="3200" dirty="0"/>
          </a:p>
        </p:txBody>
      </p:sp>
      <p:sp>
        <p:nvSpPr>
          <p:cNvPr id="4" name="Shape 2"/>
          <p:cNvSpPr/>
          <p:nvPr/>
        </p:nvSpPr>
        <p:spPr>
          <a:xfrm>
            <a:off x="548640" y="1874520"/>
            <a:ext cx="5455768" cy="1645920"/>
          </a:xfrm>
          <a:prstGeom prst="roundRect">
            <a:avLst>
              <a:gd name="adj" fmla="val 6667"/>
            </a:avLst>
          </a:prstGeom>
          <a:solidFill>
            <a:srgbClr val="EAF2FB"/>
          </a:solidFill>
          <a:ln w="12700">
            <a:solidFill>
              <a:srgbClr val="B3CDEB"/>
            </a:solidFill>
            <a:prstDash val="solid"/>
          </a:ln>
        </p:spPr>
      </p:sp>
      <p:pic>
        <p:nvPicPr>
          <p:cNvPr id="5" name="Image 0" descr="preencoded.png">    </p:cNvPr>
          <p:cNvPicPr>
            <a:picLocks noChangeAspect="1"/>
          </p:cNvPicPr>
          <p:nvPr/>
        </p:nvPicPr>
        <p:blipFill>
          <a:blip r:embed="rId1"/>
          <a:stretch>
            <a:fillRect/>
          </a:stretch>
        </p:blipFill>
        <p:spPr>
          <a:xfrm>
            <a:off x="822960" y="2194560"/>
            <a:ext cx="384048" cy="384048"/>
          </a:xfrm>
          <a:prstGeom prst="rect">
            <a:avLst/>
          </a:prstGeom>
        </p:spPr>
      </p:pic>
      <p:sp>
        <p:nvSpPr>
          <p:cNvPr id="6" name="Text 3"/>
          <p:cNvSpPr txBox="1"/>
          <p:nvPr/>
        </p:nvSpPr>
        <p:spPr>
          <a:xfrm>
            <a:off x="1463040" y="2130552"/>
            <a:ext cx="4267048" cy="411480"/>
          </a:xfrm>
          <a:prstGeom prst="rect">
            <a:avLst/>
          </a:prstGeom>
          <a:noFill/>
          <a:ln/>
        </p:spPr>
        <p:txBody>
          <a:bodyPr wrap="square" lIns="0" tIns="0" rIns="0" bIns="0" rtlCol="0" anchor="t"/>
          <a:lstStyle/>
          <a:p>
            <a:pPr indent="0" marL="0">
              <a:buNone/>
            </a:pPr>
            <a:r>
              <a:rPr lang="en-US" sz="2000" b="1" dirty="0">
                <a:solidFill>
                  <a:srgbClr val="0F1E2A"/>
                </a:solidFill>
                <a:latin typeface="Calibri" pitchFamily="34" charset="0"/>
                <a:ea typeface="Calibri" pitchFamily="34" charset="-122"/>
                <a:cs typeface="Calibri" pitchFamily="34" charset="-120"/>
              </a:rPr>
              <a:t>Tashxis qoʻymaydi</a:t>
            </a:r>
            <a:endParaRPr lang="en-US" sz="2000" dirty="0"/>
          </a:p>
        </p:txBody>
      </p:sp>
      <p:sp>
        <p:nvSpPr>
          <p:cNvPr id="7" name="Text 4"/>
          <p:cNvSpPr txBox="1"/>
          <p:nvPr/>
        </p:nvSpPr>
        <p:spPr>
          <a:xfrm>
            <a:off x="1463040" y="2587752"/>
            <a:ext cx="4267048" cy="822960"/>
          </a:xfrm>
          <a:prstGeom prst="rect">
            <a:avLst/>
          </a:prstGeom>
          <a:noFill/>
          <a:ln/>
        </p:spPr>
        <p:txBody>
          <a:bodyPr wrap="square" lIns="0" tIns="0" rIns="0" bIns="0" rtlCol="0" anchor="t"/>
          <a:lstStyle/>
          <a:p>
            <a:pPr indent="0" marL="0">
              <a:buNone/>
            </a:pPr>
            <a:r>
              <a:rPr lang="en-US" sz="1500" dirty="0">
                <a:solidFill>
                  <a:srgbClr val="4A5A67"/>
                </a:solidFill>
                <a:latin typeface="Calibri" pitchFamily="34" charset="0"/>
                <a:ea typeface="Calibri" pitchFamily="34" charset="-122"/>
                <a:cs typeface="Calibri" pitchFamily="34" charset="-120"/>
              </a:rPr>
              <a:t>Har bir natija ekranida doimiy eslatma; tashxisni shifokor tasdiqlaydi.</a:t>
            </a:r>
            <a:endParaRPr lang="en-US" sz="1500" dirty="0"/>
          </a:p>
        </p:txBody>
      </p:sp>
      <p:sp>
        <p:nvSpPr>
          <p:cNvPr id="8" name="Shape 5"/>
          <p:cNvSpPr/>
          <p:nvPr/>
        </p:nvSpPr>
        <p:spPr>
          <a:xfrm>
            <a:off x="6187288" y="1874520"/>
            <a:ext cx="5455768" cy="1645920"/>
          </a:xfrm>
          <a:prstGeom prst="roundRect">
            <a:avLst>
              <a:gd name="adj" fmla="val 6667"/>
            </a:avLst>
          </a:prstGeom>
          <a:solidFill>
            <a:srgbClr val="F6F8FA"/>
          </a:solidFill>
          <a:ln w="12700">
            <a:solidFill>
              <a:srgbClr val="DDE4EA"/>
            </a:solidFill>
            <a:prstDash val="solid"/>
          </a:ln>
        </p:spPr>
      </p:sp>
      <p:pic>
        <p:nvPicPr>
          <p:cNvPr id="9" name="Image 1" descr="preencoded.png">    </p:cNvPr>
          <p:cNvPicPr>
            <a:picLocks noChangeAspect="1"/>
          </p:cNvPicPr>
          <p:nvPr/>
        </p:nvPicPr>
        <p:blipFill>
          <a:blip r:embed="rId2"/>
          <a:stretch>
            <a:fillRect/>
          </a:stretch>
        </p:blipFill>
        <p:spPr>
          <a:xfrm>
            <a:off x="6461608" y="2194560"/>
            <a:ext cx="384048" cy="384048"/>
          </a:xfrm>
          <a:prstGeom prst="rect">
            <a:avLst/>
          </a:prstGeom>
        </p:spPr>
      </p:pic>
      <p:sp>
        <p:nvSpPr>
          <p:cNvPr id="10" name="Text 6"/>
          <p:cNvSpPr txBox="1"/>
          <p:nvPr/>
        </p:nvSpPr>
        <p:spPr>
          <a:xfrm>
            <a:off x="7101688" y="2130552"/>
            <a:ext cx="4267048" cy="411480"/>
          </a:xfrm>
          <a:prstGeom prst="rect">
            <a:avLst/>
          </a:prstGeom>
          <a:noFill/>
          <a:ln/>
        </p:spPr>
        <p:txBody>
          <a:bodyPr wrap="square" lIns="0" tIns="0" rIns="0" bIns="0" rtlCol="0" anchor="t"/>
          <a:lstStyle/>
          <a:p>
            <a:pPr indent="0" marL="0">
              <a:buNone/>
            </a:pPr>
            <a:r>
              <a:rPr lang="en-US" sz="2000" b="1" dirty="0">
                <a:solidFill>
                  <a:srgbClr val="0F1E2A"/>
                </a:solidFill>
                <a:latin typeface="Calibri" pitchFamily="34" charset="0"/>
                <a:ea typeface="Calibri" pitchFamily="34" charset="-122"/>
                <a:cs typeface="Calibri" pitchFamily="34" charset="-120"/>
              </a:rPr>
              <a:t>Psevdonim ID</a:t>
            </a:r>
            <a:endParaRPr lang="en-US" sz="2000" dirty="0"/>
          </a:p>
        </p:txBody>
      </p:sp>
      <p:sp>
        <p:nvSpPr>
          <p:cNvPr id="11" name="Text 7"/>
          <p:cNvSpPr txBox="1"/>
          <p:nvPr/>
        </p:nvSpPr>
        <p:spPr>
          <a:xfrm>
            <a:off x="7101688" y="2587752"/>
            <a:ext cx="4267048" cy="822960"/>
          </a:xfrm>
          <a:prstGeom prst="rect">
            <a:avLst/>
          </a:prstGeom>
          <a:noFill/>
          <a:ln/>
        </p:spPr>
        <p:txBody>
          <a:bodyPr wrap="square" lIns="0" tIns="0" rIns="0" bIns="0" rtlCol="0" anchor="t"/>
          <a:lstStyle/>
          <a:p>
            <a:pPr indent="0" marL="0">
              <a:buNone/>
            </a:pPr>
            <a:r>
              <a:rPr lang="en-US" sz="1500" dirty="0">
                <a:solidFill>
                  <a:srgbClr val="4A5A67"/>
                </a:solidFill>
                <a:latin typeface="Calibri" pitchFamily="34" charset="0"/>
                <a:ea typeface="Calibri" pitchFamily="34" charset="-122"/>
                <a:cs typeface="Calibri" pitchFamily="34" charset="-120"/>
              </a:rPr>
              <a:t>Ism va telefon faqat bemor kartasida; tadqiqotga — NN-XXXX-XXXX.</a:t>
            </a:r>
            <a:endParaRPr lang="en-US" sz="1500" dirty="0"/>
          </a:p>
        </p:txBody>
      </p:sp>
      <p:sp>
        <p:nvSpPr>
          <p:cNvPr id="12" name="Shape 8"/>
          <p:cNvSpPr/>
          <p:nvPr/>
        </p:nvSpPr>
        <p:spPr>
          <a:xfrm>
            <a:off x="548640" y="3703320"/>
            <a:ext cx="5455768" cy="1645920"/>
          </a:xfrm>
          <a:prstGeom prst="roundRect">
            <a:avLst>
              <a:gd name="adj" fmla="val 6667"/>
            </a:avLst>
          </a:prstGeom>
          <a:solidFill>
            <a:srgbClr val="F6F8FA"/>
          </a:solidFill>
          <a:ln w="12700">
            <a:solidFill>
              <a:srgbClr val="DDE4EA"/>
            </a:solidFill>
            <a:prstDash val="solid"/>
          </a:ln>
        </p:spPr>
      </p:sp>
      <p:pic>
        <p:nvPicPr>
          <p:cNvPr id="13" name="Image 2" descr="preencoded.png">    </p:cNvPr>
          <p:cNvPicPr>
            <a:picLocks noChangeAspect="1"/>
          </p:cNvPicPr>
          <p:nvPr/>
        </p:nvPicPr>
        <p:blipFill>
          <a:blip r:embed="rId3"/>
          <a:stretch>
            <a:fillRect/>
          </a:stretch>
        </p:blipFill>
        <p:spPr>
          <a:xfrm>
            <a:off x="822960" y="4023360"/>
            <a:ext cx="384048" cy="384048"/>
          </a:xfrm>
          <a:prstGeom prst="rect">
            <a:avLst/>
          </a:prstGeom>
        </p:spPr>
      </p:pic>
      <p:sp>
        <p:nvSpPr>
          <p:cNvPr id="14" name="Text 9"/>
          <p:cNvSpPr txBox="1"/>
          <p:nvPr/>
        </p:nvSpPr>
        <p:spPr>
          <a:xfrm>
            <a:off x="1463040" y="3959352"/>
            <a:ext cx="4267048" cy="411480"/>
          </a:xfrm>
          <a:prstGeom prst="rect">
            <a:avLst/>
          </a:prstGeom>
          <a:noFill/>
          <a:ln/>
        </p:spPr>
        <p:txBody>
          <a:bodyPr wrap="square" lIns="0" tIns="0" rIns="0" bIns="0" rtlCol="0" anchor="t"/>
          <a:lstStyle/>
          <a:p>
            <a:pPr indent="0" marL="0">
              <a:buNone/>
            </a:pPr>
            <a:r>
              <a:rPr lang="en-US" sz="2000" b="1" dirty="0">
                <a:solidFill>
                  <a:srgbClr val="0F1E2A"/>
                </a:solidFill>
                <a:latin typeface="Calibri" pitchFamily="34" charset="0"/>
                <a:ea typeface="Calibri" pitchFamily="34" charset="-122"/>
                <a:cs typeface="Calibri" pitchFamily="34" charset="-120"/>
              </a:rPr>
              <a:t>Rozilik asosida</a:t>
            </a:r>
            <a:endParaRPr lang="en-US" sz="2000" dirty="0"/>
          </a:p>
        </p:txBody>
      </p:sp>
      <p:sp>
        <p:nvSpPr>
          <p:cNvPr id="15" name="Text 10"/>
          <p:cNvSpPr txBox="1"/>
          <p:nvPr/>
        </p:nvSpPr>
        <p:spPr>
          <a:xfrm>
            <a:off x="1463040" y="4416552"/>
            <a:ext cx="4267048" cy="822960"/>
          </a:xfrm>
          <a:prstGeom prst="rect">
            <a:avLst/>
          </a:prstGeom>
          <a:noFill/>
          <a:ln/>
        </p:spPr>
        <p:txBody>
          <a:bodyPr wrap="square" lIns="0" tIns="0" rIns="0" bIns="0" rtlCol="0" anchor="t"/>
          <a:lstStyle/>
          <a:p>
            <a:pPr indent="0" marL="0">
              <a:buNone/>
            </a:pPr>
            <a:r>
              <a:rPr lang="en-US" sz="1500" dirty="0">
                <a:solidFill>
                  <a:srgbClr val="4A5A67"/>
                </a:solidFill>
                <a:latin typeface="Calibri" pitchFamily="34" charset="0"/>
                <a:ea typeface="Calibri" pitchFamily="34" charset="-122"/>
                <a:cs typeface="Calibri" pitchFamily="34" charset="-120"/>
              </a:rPr>
              <a:t>Faqat rozilik bergan bemorlar anonim eksportga kiradi.</a:t>
            </a:r>
            <a:endParaRPr lang="en-US" sz="1500" dirty="0"/>
          </a:p>
        </p:txBody>
      </p:sp>
      <p:sp>
        <p:nvSpPr>
          <p:cNvPr id="16" name="Shape 11"/>
          <p:cNvSpPr/>
          <p:nvPr/>
        </p:nvSpPr>
        <p:spPr>
          <a:xfrm>
            <a:off x="6187288" y="3703320"/>
            <a:ext cx="5455768" cy="1645920"/>
          </a:xfrm>
          <a:prstGeom prst="roundRect">
            <a:avLst>
              <a:gd name="adj" fmla="val 6667"/>
            </a:avLst>
          </a:prstGeom>
          <a:solidFill>
            <a:srgbClr val="F6F8FA"/>
          </a:solidFill>
          <a:ln w="12700">
            <a:solidFill>
              <a:srgbClr val="DDE4EA"/>
            </a:solidFill>
            <a:prstDash val="solid"/>
          </a:ln>
        </p:spPr>
      </p:sp>
      <p:pic>
        <p:nvPicPr>
          <p:cNvPr id="17" name="Image 3" descr="preencoded.png">    </p:cNvPr>
          <p:cNvPicPr>
            <a:picLocks noChangeAspect="1"/>
          </p:cNvPicPr>
          <p:nvPr/>
        </p:nvPicPr>
        <p:blipFill>
          <a:blip r:embed="rId4"/>
          <a:stretch>
            <a:fillRect/>
          </a:stretch>
        </p:blipFill>
        <p:spPr>
          <a:xfrm>
            <a:off x="6461608" y="4023360"/>
            <a:ext cx="384048" cy="384048"/>
          </a:xfrm>
          <a:prstGeom prst="rect">
            <a:avLst/>
          </a:prstGeom>
        </p:spPr>
      </p:pic>
      <p:sp>
        <p:nvSpPr>
          <p:cNvPr id="18" name="Text 12"/>
          <p:cNvSpPr txBox="1"/>
          <p:nvPr/>
        </p:nvSpPr>
        <p:spPr>
          <a:xfrm>
            <a:off x="7101688" y="3959352"/>
            <a:ext cx="4267048" cy="411480"/>
          </a:xfrm>
          <a:prstGeom prst="rect">
            <a:avLst/>
          </a:prstGeom>
          <a:noFill/>
          <a:ln/>
        </p:spPr>
        <p:txBody>
          <a:bodyPr wrap="square" lIns="0" tIns="0" rIns="0" bIns="0" rtlCol="0" anchor="t"/>
          <a:lstStyle/>
          <a:p>
            <a:pPr indent="0" marL="0">
              <a:buNone/>
            </a:pPr>
            <a:r>
              <a:rPr lang="en-US" sz="2000" b="1" dirty="0">
                <a:solidFill>
                  <a:srgbClr val="0F1E2A"/>
                </a:solidFill>
                <a:latin typeface="Calibri" pitchFamily="34" charset="0"/>
                <a:ea typeface="Calibri" pitchFamily="34" charset="-122"/>
                <a:cs typeface="Calibri" pitchFamily="34" charset="-120"/>
              </a:rPr>
              <a:t>Audit jurnali</a:t>
            </a:r>
            <a:endParaRPr lang="en-US" sz="2000" dirty="0"/>
          </a:p>
        </p:txBody>
      </p:sp>
      <p:sp>
        <p:nvSpPr>
          <p:cNvPr id="19" name="Text 13"/>
          <p:cNvSpPr txBox="1"/>
          <p:nvPr/>
        </p:nvSpPr>
        <p:spPr>
          <a:xfrm>
            <a:off x="7101688" y="4416552"/>
            <a:ext cx="4267048" cy="822960"/>
          </a:xfrm>
          <a:prstGeom prst="rect">
            <a:avLst/>
          </a:prstGeom>
          <a:noFill/>
          <a:ln/>
        </p:spPr>
        <p:txBody>
          <a:bodyPr wrap="square" lIns="0" tIns="0" rIns="0" bIns="0" rtlCol="0" anchor="t"/>
          <a:lstStyle/>
          <a:p>
            <a:pPr indent="0" marL="0">
              <a:buNone/>
            </a:pPr>
            <a:r>
              <a:rPr lang="en-US" sz="1500" dirty="0">
                <a:solidFill>
                  <a:srgbClr val="4A5A67"/>
                </a:solidFill>
                <a:latin typeface="Calibri" pitchFamily="34" charset="0"/>
                <a:ea typeface="Calibri" pitchFamily="34" charset="-122"/>
                <a:cs typeface="Calibri" pitchFamily="34" charset="-120"/>
              </a:rPr>
              <a:t>Kim, qachon, nimani kiritgan — qiymatlarsiz, shaxsiy maʼlumotsiz.</a:t>
            </a:r>
            <a:endParaRPr lang="en-US" sz="1500" dirty="0"/>
          </a:p>
        </p:txBody>
      </p:sp>
      <p:sp>
        <p:nvSpPr>
          <p:cNvPr id="20" name="Text 14"/>
          <p:cNvSpPr txBox="1"/>
          <p:nvPr/>
        </p:nvSpPr>
        <p:spPr>
          <a:xfrm>
            <a:off x="548640" y="6400800"/>
            <a:ext cx="3657600" cy="274320"/>
          </a:xfrm>
          <a:prstGeom prst="rect">
            <a:avLst/>
          </a:prstGeom>
          <a:noFill/>
          <a:ln/>
        </p:spPr>
        <p:txBody>
          <a:bodyPr wrap="square" lIns="0" tIns="0" rIns="0" bIns="0" rtlCol="0" anchor="t"/>
          <a:lstStyle/>
          <a:p>
            <a:pPr indent="0" marL="0">
              <a:buNone/>
            </a:pPr>
            <a:r>
              <a:rPr lang="en-US" sz="1100" dirty="0">
                <a:solidFill>
                  <a:srgbClr val="6B7B87"/>
                </a:solidFill>
                <a:latin typeface="Calibri" pitchFamily="34" charset="0"/>
                <a:ea typeface="Calibri" pitchFamily="34" charset="-122"/>
                <a:cs typeface="Calibri" pitchFamily="34" charset="-120"/>
              </a:rPr>
              <a:t>NafasNazorat · 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8FA"/>
        </a:solidFill>
      </p:bgPr>
    </p:bg>
    <p:spTree>
      <p:nvGrpSpPr>
        <p:cNvPr id="1" name=""/>
        <p:cNvGrpSpPr/>
        <p:nvPr/>
      </p:nvGrpSpPr>
      <p:grpSpPr>
        <a:xfrm>
          <a:off x="0" y="0"/>
          <a:ext cx="0" cy="0"/>
          <a:chOff x="0" y="0"/>
          <a:chExt cx="0" cy="0"/>
        </a:xfrm>
      </p:grpSpPr>
      <p:sp>
        <p:nvSpPr>
          <p:cNvPr id="2" name="Text 0"/>
          <p:cNvSpPr txBox="1"/>
          <p:nvPr/>
        </p:nvSpPr>
        <p:spPr>
          <a:xfrm>
            <a:off x="548640" y="457200"/>
            <a:ext cx="11094415" cy="292608"/>
          </a:xfrm>
          <a:prstGeom prst="rect">
            <a:avLst/>
          </a:prstGeom>
          <a:noFill/>
          <a:ln/>
        </p:spPr>
        <p:txBody>
          <a:bodyPr wrap="square" lIns="0" tIns="0" rIns="0" bIns="0" rtlCol="0" anchor="t"/>
          <a:lstStyle/>
          <a:p>
            <a:pPr indent="0" marL="0">
              <a:buNone/>
            </a:pPr>
            <a:r>
              <a:rPr lang="en-US" sz="1300" b="1" spc="300" kern="0" dirty="0">
                <a:solidFill>
                  <a:srgbClr val="0B6E7F"/>
                </a:solidFill>
                <a:latin typeface="Calibri" pitchFamily="34" charset="0"/>
                <a:ea typeface="Calibri" pitchFamily="34" charset="-122"/>
                <a:cs typeface="Calibri" pitchFamily="34" charset="-120"/>
              </a:rPr>
              <a:t>2-BOSQICH · YUKSALTIRISH</a:t>
            </a:r>
            <a:endParaRPr lang="en-US" sz="1300" dirty="0"/>
          </a:p>
        </p:txBody>
      </p:sp>
      <p:sp>
        <p:nvSpPr>
          <p:cNvPr id="3" name="Text 1"/>
          <p:cNvSpPr txBox="1"/>
          <p:nvPr/>
        </p:nvSpPr>
        <p:spPr>
          <a:xfrm>
            <a:off x="548640" y="777240"/>
            <a:ext cx="11094415" cy="960120"/>
          </a:xfrm>
          <a:prstGeom prst="rect">
            <a:avLst/>
          </a:prstGeom>
          <a:noFill/>
          <a:ln/>
        </p:spPr>
        <p:txBody>
          <a:bodyPr wrap="square" lIns="0" tIns="0" rIns="0" bIns="0" rtlCol="0" anchor="t"/>
          <a:lstStyle/>
          <a:p>
            <a:pPr indent="0" marL="0">
              <a:buNone/>
            </a:pPr>
            <a:r>
              <a:rPr lang="en-US" sz="3200" b="1" dirty="0">
                <a:solidFill>
                  <a:srgbClr val="0F1E2A"/>
                </a:solidFill>
                <a:latin typeface="Cambria" pitchFamily="34" charset="0"/>
                <a:ea typeface="Cambria" pitchFamily="34" charset="-122"/>
                <a:cs typeface="Cambria" pitchFamily="34" charset="-120"/>
              </a:rPr>
              <a:t>Arzon portativ spirometr — eng ishonchli oʻlchov manbai</a:t>
            </a:r>
            <a:endParaRPr lang="en-US" sz="3200" dirty="0"/>
          </a:p>
        </p:txBody>
      </p:sp>
      <p:sp>
        <p:nvSpPr>
          <p:cNvPr id="4" name="Shape 2"/>
          <p:cNvSpPr/>
          <p:nvPr/>
        </p:nvSpPr>
        <p:spPr>
          <a:xfrm>
            <a:off x="548640" y="1965960"/>
            <a:ext cx="3332378" cy="2103120"/>
          </a:xfrm>
          <a:prstGeom prst="roundRect">
            <a:avLst>
              <a:gd name="adj" fmla="val 5217"/>
            </a:avLst>
          </a:prstGeom>
          <a:solidFill>
            <a:srgbClr val="FFFFFF"/>
          </a:solidFill>
          <a:ln w="12700">
            <a:solidFill>
              <a:srgbClr val="DDE4EA"/>
            </a:solidFill>
            <a:prstDash val="solid"/>
          </a:ln>
        </p:spPr>
      </p:sp>
      <p:pic>
        <p:nvPicPr>
          <p:cNvPr id="5" name="Image 0" descr="preencoded.png">    </p:cNvPr>
          <p:cNvPicPr>
            <a:picLocks noChangeAspect="1"/>
          </p:cNvPicPr>
          <p:nvPr/>
        </p:nvPicPr>
        <p:blipFill>
          <a:blip r:embed="rId1"/>
          <a:stretch>
            <a:fillRect/>
          </a:stretch>
        </p:blipFill>
        <p:spPr>
          <a:xfrm>
            <a:off x="822960" y="2240280"/>
            <a:ext cx="438912" cy="438912"/>
          </a:xfrm>
          <a:prstGeom prst="rect">
            <a:avLst/>
          </a:prstGeom>
        </p:spPr>
      </p:pic>
      <p:sp>
        <p:nvSpPr>
          <p:cNvPr id="6" name="Text 3"/>
          <p:cNvSpPr txBox="1"/>
          <p:nvPr/>
        </p:nvSpPr>
        <p:spPr>
          <a:xfrm>
            <a:off x="822960" y="2834640"/>
            <a:ext cx="2783738" cy="411480"/>
          </a:xfrm>
          <a:prstGeom prst="rect">
            <a:avLst/>
          </a:prstGeom>
          <a:noFill/>
          <a:ln/>
        </p:spPr>
        <p:txBody>
          <a:bodyPr wrap="square" lIns="0" tIns="0" rIns="0" bIns="0" rtlCol="0" anchor="t"/>
          <a:lstStyle/>
          <a:p>
            <a:pPr indent="0" marL="0">
              <a:buNone/>
            </a:pPr>
            <a:r>
              <a:rPr lang="en-US" sz="1900" b="1" dirty="0">
                <a:solidFill>
                  <a:srgbClr val="0F1E2A"/>
                </a:solidFill>
                <a:latin typeface="Calibri" pitchFamily="34" charset="0"/>
                <a:ea typeface="Calibri" pitchFamily="34" charset="-122"/>
                <a:cs typeface="Calibri" pitchFamily="34" charset="-120"/>
              </a:rPr>
              <a:t>Qurilma oʻlchaydi</a:t>
            </a:r>
            <a:endParaRPr lang="en-US" sz="1900" dirty="0"/>
          </a:p>
        </p:txBody>
      </p:sp>
      <p:sp>
        <p:nvSpPr>
          <p:cNvPr id="7" name="Text 4"/>
          <p:cNvSpPr txBox="1"/>
          <p:nvPr/>
        </p:nvSpPr>
        <p:spPr>
          <a:xfrm>
            <a:off x="822960" y="3291840"/>
            <a:ext cx="2783738" cy="731520"/>
          </a:xfrm>
          <a:prstGeom prst="rect">
            <a:avLst/>
          </a:prstGeom>
          <a:noFill/>
          <a:ln/>
        </p:spPr>
        <p:txBody>
          <a:bodyPr wrap="square" lIns="0" tIns="0" rIns="0" bIns="0" rtlCol="0" anchor="t"/>
          <a:lstStyle/>
          <a:p>
            <a:pPr indent="0" marL="0">
              <a:buNone/>
            </a:pPr>
            <a:r>
              <a:rPr lang="en-US" sz="1500" dirty="0">
                <a:solidFill>
                  <a:srgbClr val="4A5A67"/>
                </a:solidFill>
                <a:latin typeface="Calibri" pitchFamily="34" charset="0"/>
                <a:ea typeface="Calibri" pitchFamily="34" charset="-122"/>
                <a:cs typeface="Calibri" pitchFamily="34" charset="-120"/>
              </a:rPr>
              <a:t>Bluetooth/USB portativ spirometr: FEV1, FVC</a:t>
            </a:r>
            <a:endParaRPr lang="en-US" sz="1500" dirty="0"/>
          </a:p>
        </p:txBody>
      </p:sp>
      <p:sp>
        <p:nvSpPr>
          <p:cNvPr id="8" name="Shape 5"/>
          <p:cNvSpPr/>
          <p:nvPr/>
        </p:nvSpPr>
        <p:spPr>
          <a:xfrm>
            <a:off x="3990746" y="2880360"/>
            <a:ext cx="329184" cy="274320"/>
          </a:xfrm>
          <a:prstGeom prst="rightArrow">
            <a:avLst/>
          </a:prstGeom>
          <a:solidFill>
            <a:srgbClr val="0B6E7F"/>
          </a:solidFill>
          <a:ln/>
        </p:spPr>
      </p:sp>
      <p:sp>
        <p:nvSpPr>
          <p:cNvPr id="9" name="Shape 6"/>
          <p:cNvSpPr/>
          <p:nvPr/>
        </p:nvSpPr>
        <p:spPr>
          <a:xfrm>
            <a:off x="4429658" y="1965960"/>
            <a:ext cx="3332378" cy="2103120"/>
          </a:xfrm>
          <a:prstGeom prst="roundRect">
            <a:avLst>
              <a:gd name="adj" fmla="val 5217"/>
            </a:avLst>
          </a:prstGeom>
          <a:solidFill>
            <a:srgbClr val="FFFFFF"/>
          </a:solidFill>
          <a:ln w="12700">
            <a:solidFill>
              <a:srgbClr val="DDE4EA"/>
            </a:solidFill>
            <a:prstDash val="solid"/>
          </a:ln>
        </p:spPr>
      </p:sp>
      <p:pic>
        <p:nvPicPr>
          <p:cNvPr id="10" name="Image 1" descr="preencoded.png">    </p:cNvPr>
          <p:cNvPicPr>
            <a:picLocks noChangeAspect="1"/>
          </p:cNvPicPr>
          <p:nvPr/>
        </p:nvPicPr>
        <p:blipFill>
          <a:blip r:embed="rId2"/>
          <a:stretch>
            <a:fillRect/>
          </a:stretch>
        </p:blipFill>
        <p:spPr>
          <a:xfrm>
            <a:off x="4703978" y="2240280"/>
            <a:ext cx="438912" cy="438912"/>
          </a:xfrm>
          <a:prstGeom prst="rect">
            <a:avLst/>
          </a:prstGeom>
        </p:spPr>
      </p:pic>
      <p:sp>
        <p:nvSpPr>
          <p:cNvPr id="11" name="Text 7"/>
          <p:cNvSpPr txBox="1"/>
          <p:nvPr/>
        </p:nvSpPr>
        <p:spPr>
          <a:xfrm>
            <a:off x="4703978" y="2834640"/>
            <a:ext cx="2783738" cy="411480"/>
          </a:xfrm>
          <a:prstGeom prst="rect">
            <a:avLst/>
          </a:prstGeom>
          <a:noFill/>
          <a:ln/>
        </p:spPr>
        <p:txBody>
          <a:bodyPr wrap="square" lIns="0" tIns="0" rIns="0" bIns="0" rtlCol="0" anchor="t"/>
          <a:lstStyle/>
          <a:p>
            <a:pPr indent="0" marL="0">
              <a:buNone/>
            </a:pPr>
            <a:r>
              <a:rPr lang="en-US" sz="1900" b="1" dirty="0">
                <a:solidFill>
                  <a:srgbClr val="0F1E2A"/>
                </a:solidFill>
                <a:latin typeface="Calibri" pitchFamily="34" charset="0"/>
                <a:ea typeface="Calibri" pitchFamily="34" charset="-122"/>
                <a:cs typeface="Calibri" pitchFamily="34" charset="-120"/>
              </a:rPr>
              <a:t>Tizim oʻqiydi</a:t>
            </a:r>
            <a:endParaRPr lang="en-US" sz="1900" dirty="0"/>
          </a:p>
        </p:txBody>
      </p:sp>
      <p:sp>
        <p:nvSpPr>
          <p:cNvPr id="12" name="Text 8"/>
          <p:cNvSpPr txBox="1"/>
          <p:nvPr/>
        </p:nvSpPr>
        <p:spPr>
          <a:xfrm>
            <a:off x="4703978" y="3291840"/>
            <a:ext cx="2783738" cy="731520"/>
          </a:xfrm>
          <a:prstGeom prst="rect">
            <a:avLst/>
          </a:prstGeom>
          <a:noFill/>
          <a:ln/>
        </p:spPr>
        <p:txBody>
          <a:bodyPr wrap="square" lIns="0" tIns="0" rIns="0" bIns="0" rtlCol="0" anchor="t"/>
          <a:lstStyle/>
          <a:p>
            <a:pPr indent="0" marL="0">
              <a:buNone/>
            </a:pPr>
            <a:r>
              <a:rPr lang="en-US" sz="1500" dirty="0">
                <a:solidFill>
                  <a:srgbClr val="4A5A67"/>
                </a:solidFill>
                <a:latin typeface="Calibri" pitchFamily="34" charset="0"/>
                <a:ea typeface="Calibri" pitchFamily="34" charset="-122"/>
                <a:cs typeface="Calibri" pitchFamily="34" charset="-120"/>
              </a:rPr>
              <a:t>Qoʻlda kiritish xatosi yoʻq, bemor kartasiga bogʻlanadi</a:t>
            </a:r>
            <a:endParaRPr lang="en-US" sz="1500" dirty="0"/>
          </a:p>
        </p:txBody>
      </p:sp>
      <p:sp>
        <p:nvSpPr>
          <p:cNvPr id="13" name="Shape 9"/>
          <p:cNvSpPr/>
          <p:nvPr/>
        </p:nvSpPr>
        <p:spPr>
          <a:xfrm>
            <a:off x="7871765" y="2880360"/>
            <a:ext cx="329184" cy="274320"/>
          </a:xfrm>
          <a:prstGeom prst="rightArrow">
            <a:avLst/>
          </a:prstGeom>
          <a:solidFill>
            <a:srgbClr val="0B6E7F"/>
          </a:solidFill>
          <a:ln/>
        </p:spPr>
      </p:sp>
      <p:sp>
        <p:nvSpPr>
          <p:cNvPr id="14" name="Shape 10"/>
          <p:cNvSpPr/>
          <p:nvPr/>
        </p:nvSpPr>
        <p:spPr>
          <a:xfrm>
            <a:off x="8310677" y="1965960"/>
            <a:ext cx="3332378" cy="2103120"/>
          </a:xfrm>
          <a:prstGeom prst="roundRect">
            <a:avLst>
              <a:gd name="adj" fmla="val 5217"/>
            </a:avLst>
          </a:prstGeom>
          <a:solidFill>
            <a:srgbClr val="0B6E7F"/>
          </a:solidFill>
          <a:ln/>
        </p:spPr>
      </p:sp>
      <p:pic>
        <p:nvPicPr>
          <p:cNvPr id="15" name="Image 2" descr="preencoded.png">    </p:cNvPr>
          <p:cNvPicPr>
            <a:picLocks noChangeAspect="1"/>
          </p:cNvPicPr>
          <p:nvPr/>
        </p:nvPicPr>
        <p:blipFill>
          <a:blip r:embed="rId3"/>
          <a:stretch>
            <a:fillRect/>
          </a:stretch>
        </p:blipFill>
        <p:spPr>
          <a:xfrm>
            <a:off x="8584997" y="2240280"/>
            <a:ext cx="438912" cy="438912"/>
          </a:xfrm>
          <a:prstGeom prst="rect">
            <a:avLst/>
          </a:prstGeom>
        </p:spPr>
      </p:pic>
      <p:sp>
        <p:nvSpPr>
          <p:cNvPr id="16" name="Text 11"/>
          <p:cNvSpPr txBox="1"/>
          <p:nvPr/>
        </p:nvSpPr>
        <p:spPr>
          <a:xfrm>
            <a:off x="8584997" y="2834640"/>
            <a:ext cx="2783738" cy="411480"/>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Talqin va saqlash</a:t>
            </a:r>
            <a:endParaRPr lang="en-US" sz="1900" dirty="0"/>
          </a:p>
        </p:txBody>
      </p:sp>
      <p:sp>
        <p:nvSpPr>
          <p:cNvPr id="17" name="Text 12"/>
          <p:cNvSpPr txBox="1"/>
          <p:nvPr/>
        </p:nvSpPr>
        <p:spPr>
          <a:xfrm>
            <a:off x="8584997" y="3291840"/>
            <a:ext cx="2783738" cy="731520"/>
          </a:xfrm>
          <a:prstGeom prst="rect">
            <a:avLst/>
          </a:prstGeom>
          <a:noFill/>
          <a:ln/>
        </p:spPr>
        <p:txBody>
          <a:bodyPr wrap="square" lIns="0" tIns="0" rIns="0" bIns="0" rtlCol="0" anchor="t"/>
          <a:lstStyle/>
          <a:p>
            <a:pPr indent="0" marL="0">
              <a:buNone/>
            </a:pPr>
            <a:r>
              <a:rPr lang="en-US" sz="1500" dirty="0">
                <a:solidFill>
                  <a:srgbClr val="E6F5F7"/>
                </a:solidFill>
                <a:latin typeface="Calibri" pitchFamily="34" charset="0"/>
                <a:ea typeface="Calibri" pitchFamily="34" charset="-122"/>
                <a:cs typeface="Calibri" pitchFamily="34" charset="-120"/>
              </a:rPr>
              <a:t>Mavjud talqin moduli — GLI, LLN, GOLD</a:t>
            </a:r>
            <a:endParaRPr lang="en-US" sz="1500" dirty="0"/>
          </a:p>
        </p:txBody>
      </p:sp>
      <p:sp>
        <p:nvSpPr>
          <p:cNvPr id="18" name="Text 13"/>
          <p:cNvSpPr txBox="1"/>
          <p:nvPr/>
        </p:nvSpPr>
        <p:spPr>
          <a:xfrm>
            <a:off x="548640" y="4526280"/>
            <a:ext cx="5364328" cy="1280160"/>
          </a:xfrm>
          <a:prstGeom prst="rect">
            <a:avLst/>
          </a:prstGeom>
          <a:noFill/>
          <a:ln/>
        </p:spPr>
        <p:txBody>
          <a:bodyPr wrap="square" lIns="0" tIns="0" rIns="0" bIns="0" rtlCol="0" anchor="t"/>
          <a:lstStyle/>
          <a:p>
            <a:pPr indent="0" marL="0">
              <a:buNone/>
            </a:pPr>
            <a:r>
              <a:rPr lang="en-US" sz="1700" b="1" dirty="0">
                <a:solidFill>
                  <a:srgbClr val="0F1E2A"/>
                </a:solidFill>
                <a:latin typeface="Calibri" pitchFamily="34" charset="0"/>
                <a:ea typeface="Calibri" pitchFamily="34" charset="-122"/>
                <a:cs typeface="Calibri" pitchFamily="34" charset="-120"/>
              </a:rPr>
              <a:t>Bitta qurilma — butun punktga. </a:t>
            </a:r>
            <a:pPr indent="0" marL="0">
              <a:buNone/>
            </a:pPr>
            <a:r>
              <a:rPr lang="en-US" sz="1700" dirty="0">
                <a:solidFill>
                  <a:srgbClr val="4A5A67"/>
                </a:solidFill>
                <a:latin typeface="Calibri" pitchFamily="34" charset="0"/>
                <a:ea typeface="Calibri" pitchFamily="34" charset="-122"/>
                <a:cs typeface="Calibri" pitchFamily="34" charset="-120"/>
              </a:rPr>
              <a:t>Savolnoma kimni oʻlchash kerakligini saralaydi; qurilma faqat ularga ishlatiladi.</a:t>
            </a:r>
            <a:endParaRPr lang="en-US" sz="1700" dirty="0"/>
          </a:p>
        </p:txBody>
      </p:sp>
      <p:sp>
        <p:nvSpPr>
          <p:cNvPr id="19" name="Text 14"/>
          <p:cNvSpPr txBox="1"/>
          <p:nvPr/>
        </p:nvSpPr>
        <p:spPr>
          <a:xfrm>
            <a:off x="6278728" y="4526280"/>
            <a:ext cx="5364328" cy="1280160"/>
          </a:xfrm>
          <a:prstGeom prst="rect">
            <a:avLst/>
          </a:prstGeom>
          <a:noFill/>
          <a:ln/>
        </p:spPr>
        <p:txBody>
          <a:bodyPr wrap="square" lIns="0" tIns="0" rIns="0" bIns="0" rtlCol="0" anchor="t"/>
          <a:lstStyle/>
          <a:p>
            <a:pPr indent="0" marL="0">
              <a:buNone/>
            </a:pPr>
            <a:r>
              <a:rPr lang="en-US" sz="1700" b="1" dirty="0">
                <a:solidFill>
                  <a:srgbClr val="0F1E2A"/>
                </a:solidFill>
                <a:latin typeface="Calibri" pitchFamily="34" charset="0"/>
                <a:ea typeface="Calibri" pitchFamily="34" charset="-122"/>
                <a:cs typeface="Calibri" pitchFamily="34" charset="-120"/>
              </a:rPr>
              <a:t>Talqin qismi tayyor. </a:t>
            </a:r>
            <a:pPr indent="0" marL="0">
              <a:buNone/>
            </a:pPr>
            <a:r>
              <a:rPr lang="en-US" sz="1700" dirty="0">
                <a:solidFill>
                  <a:srgbClr val="4A5A67"/>
                </a:solidFill>
                <a:latin typeface="Calibri" pitchFamily="34" charset="0"/>
                <a:ea typeface="Calibri" pitchFamily="34" charset="-122"/>
                <a:cs typeface="Calibri" pitchFamily="34" charset="-120"/>
              </a:rPr>
              <a:t>Bu bosqichda faqat qurilmadan oʻqish qoʻshiladi. Qurilma tanlovi va narxi: </a:t>
            </a:r>
            <a:pPr indent="0" marL="0">
              <a:buNone/>
            </a:pPr>
            <a:r>
              <a:rPr lang="en-US" sz="1700" b="1" dirty="0">
                <a:solidFill>
                  <a:srgbClr val="4A5A67"/>
                </a:solidFill>
                <a:latin typeface="Calibri" pitchFamily="34" charset="0"/>
                <a:ea typeface="Calibri" pitchFamily="34" charset="-122"/>
                <a:cs typeface="Calibri" pitchFamily="34" charset="-120"/>
              </a:rPr>
              <a:t>[__]</a:t>
            </a:r>
            <a:endParaRPr lang="en-US" sz="1700" dirty="0"/>
          </a:p>
        </p:txBody>
      </p:sp>
      <p:sp>
        <p:nvSpPr>
          <p:cNvPr id="20" name="Text 15"/>
          <p:cNvSpPr txBox="1"/>
          <p:nvPr/>
        </p:nvSpPr>
        <p:spPr>
          <a:xfrm>
            <a:off x="548640" y="6400800"/>
            <a:ext cx="3657600" cy="274320"/>
          </a:xfrm>
          <a:prstGeom prst="rect">
            <a:avLst/>
          </a:prstGeom>
          <a:noFill/>
          <a:ln/>
        </p:spPr>
        <p:txBody>
          <a:bodyPr wrap="square" lIns="0" tIns="0" rIns="0" bIns="0" rtlCol="0" anchor="t"/>
          <a:lstStyle/>
          <a:p>
            <a:pPr indent="0" marL="0">
              <a:buNone/>
            </a:pPr>
            <a:r>
              <a:rPr lang="en-US" sz="1100" dirty="0">
                <a:solidFill>
                  <a:srgbClr val="6B7B87"/>
                </a:solidFill>
                <a:latin typeface="Calibri" pitchFamily="34" charset="0"/>
                <a:ea typeface="Calibri" pitchFamily="34" charset="-122"/>
                <a:cs typeface="Calibri" pitchFamily="34" charset="-120"/>
              </a:rPr>
              <a:t>NafasNazorat · 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B1830"/>
        </a:solidFill>
      </p:bgPr>
    </p:bg>
    <p:spTree>
      <p:nvGrpSpPr>
        <p:cNvPr id="1" name=""/>
        <p:cNvGrpSpPr/>
        <p:nvPr/>
      </p:nvGrpSpPr>
      <p:grpSpPr>
        <a:xfrm>
          <a:off x="0" y="0"/>
          <a:ext cx="0" cy="0"/>
          <a:chOff x="0" y="0"/>
          <a:chExt cx="0" cy="0"/>
        </a:xfrm>
      </p:grpSpPr>
      <p:sp>
        <p:nvSpPr>
          <p:cNvPr id="2" name="Text 0"/>
          <p:cNvSpPr txBox="1"/>
          <p:nvPr/>
        </p:nvSpPr>
        <p:spPr>
          <a:xfrm>
            <a:off x="548640" y="457200"/>
            <a:ext cx="11094415" cy="292608"/>
          </a:xfrm>
          <a:prstGeom prst="rect">
            <a:avLst/>
          </a:prstGeom>
          <a:noFill/>
          <a:ln/>
        </p:spPr>
        <p:txBody>
          <a:bodyPr wrap="square" lIns="0" tIns="0" rIns="0" bIns="0" rtlCol="0" anchor="t"/>
          <a:lstStyle/>
          <a:p>
            <a:pPr indent="0" marL="0">
              <a:buNone/>
            </a:pPr>
            <a:r>
              <a:rPr lang="en-US" sz="1300" b="1" spc="300" kern="0" dirty="0">
                <a:solidFill>
                  <a:srgbClr val="B9AEF0"/>
                </a:solidFill>
                <a:latin typeface="Calibri" pitchFamily="34" charset="0"/>
                <a:ea typeface="Calibri" pitchFamily="34" charset="-122"/>
                <a:cs typeface="Calibri" pitchFamily="34" charset="-120"/>
              </a:rPr>
              <a:t>3-BOSQICH · TADQIQOT ISTIQBOLI</a:t>
            </a:r>
            <a:endParaRPr lang="en-US" sz="1300" dirty="0"/>
          </a:p>
        </p:txBody>
      </p:sp>
      <p:sp>
        <p:nvSpPr>
          <p:cNvPr id="3" name="Text 1"/>
          <p:cNvSpPr txBox="1"/>
          <p:nvPr/>
        </p:nvSpPr>
        <p:spPr>
          <a:xfrm>
            <a:off x="548640" y="777240"/>
            <a:ext cx="11094415" cy="960120"/>
          </a:xfrm>
          <a:prstGeom prst="rect">
            <a:avLst/>
          </a:prstGeom>
          <a:noFill/>
          <a:ln/>
        </p:spPr>
        <p:txBody>
          <a:bodyPr wrap="square" lIns="0" tIns="0" rIns="0" bIns="0" rtlCol="0" anchor="t"/>
          <a:lstStyle/>
          <a:p>
            <a:pPr indent="0" marL="0">
              <a:buNone/>
            </a:pPr>
            <a:r>
              <a:rPr lang="en-US" sz="3200" b="1" dirty="0">
                <a:solidFill>
                  <a:srgbClr val="F4F2FA"/>
                </a:solidFill>
                <a:latin typeface="Cambria" pitchFamily="34" charset="0"/>
                <a:ea typeface="Cambria" pitchFamily="34" charset="-122"/>
                <a:cs typeface="Cambria" pitchFamily="34" charset="-120"/>
              </a:rPr>
              <a:t>Telefon mikrofoni — oʻpka funksiyasini baholay oladimi?</a:t>
            </a:r>
            <a:endParaRPr lang="en-US" sz="3200" dirty="0"/>
          </a:p>
        </p:txBody>
      </p:sp>
      <p:sp>
        <p:nvSpPr>
          <p:cNvPr id="4" name="Text 2"/>
          <p:cNvSpPr txBox="1"/>
          <p:nvPr/>
        </p:nvSpPr>
        <p:spPr>
          <a:xfrm>
            <a:off x="548640" y="1874520"/>
            <a:ext cx="5943600" cy="868680"/>
          </a:xfrm>
          <a:prstGeom prst="rect">
            <a:avLst/>
          </a:prstGeom>
          <a:noFill/>
          <a:ln/>
        </p:spPr>
        <p:txBody>
          <a:bodyPr wrap="square" lIns="0" tIns="0" rIns="0" bIns="0" rtlCol="0" anchor="t"/>
          <a:lstStyle/>
          <a:p>
            <a:pPr indent="0" marL="0">
              <a:buNone/>
            </a:pPr>
            <a:r>
              <a:rPr lang="en-US" sz="1700" dirty="0">
                <a:solidFill>
                  <a:srgbClr val="D9D4EE"/>
                </a:solidFill>
                <a:latin typeface="Calibri" pitchFamily="34" charset="0"/>
                <a:ea typeface="Calibri" pitchFamily="34" charset="-122"/>
                <a:cs typeface="Calibri" pitchFamily="34" charset="-120"/>
              </a:rPr>
              <a:t>Bemor telefonga kuchli nafas chiqaradi; ovoz (Web Audio) tahlilidan oqim va hajm baholanadi.</a:t>
            </a:r>
            <a:endParaRPr lang="en-US" sz="1700" dirty="0"/>
          </a:p>
        </p:txBody>
      </p:sp>
      <p:sp>
        <p:nvSpPr>
          <p:cNvPr id="5" name="Shape 3"/>
          <p:cNvSpPr/>
          <p:nvPr/>
        </p:nvSpPr>
        <p:spPr>
          <a:xfrm>
            <a:off x="548640" y="2926080"/>
            <a:ext cx="2880360" cy="2103120"/>
          </a:xfrm>
          <a:prstGeom prst="roundRect">
            <a:avLst>
              <a:gd name="adj" fmla="val 5217"/>
            </a:avLst>
          </a:prstGeom>
          <a:solidFill>
            <a:srgbClr val="28233F"/>
          </a:solidFill>
          <a:ln/>
        </p:spPr>
      </p:sp>
      <p:sp>
        <p:nvSpPr>
          <p:cNvPr id="6" name="Text 4"/>
          <p:cNvSpPr txBox="1"/>
          <p:nvPr/>
        </p:nvSpPr>
        <p:spPr>
          <a:xfrm>
            <a:off x="822960" y="3154680"/>
            <a:ext cx="2377440" cy="82296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~5%</a:t>
            </a:r>
            <a:endParaRPr lang="en-US" sz="4400" dirty="0"/>
          </a:p>
        </p:txBody>
      </p:sp>
      <p:sp>
        <p:nvSpPr>
          <p:cNvPr id="7" name="Text 5"/>
          <p:cNvSpPr txBox="1"/>
          <p:nvPr/>
        </p:nvSpPr>
        <p:spPr>
          <a:xfrm>
            <a:off x="822960" y="4069080"/>
            <a:ext cx="2377440" cy="822960"/>
          </a:xfrm>
          <a:prstGeom prst="rect">
            <a:avLst/>
          </a:prstGeom>
          <a:noFill/>
          <a:ln/>
        </p:spPr>
        <p:txBody>
          <a:bodyPr wrap="square" lIns="0" tIns="0" rIns="0" bIns="0" rtlCol="0" anchor="t"/>
          <a:lstStyle/>
          <a:p>
            <a:pPr indent="0" marL="0">
              <a:buNone/>
            </a:pPr>
            <a:r>
              <a:rPr lang="en-US" sz="1400" dirty="0">
                <a:solidFill>
                  <a:srgbClr val="D9D4EE"/>
                </a:solidFill>
                <a:latin typeface="Calibri" pitchFamily="34" charset="0"/>
                <a:ea typeface="Calibri" pitchFamily="34" charset="-122"/>
                <a:cs typeface="Calibri" pitchFamily="34" charset="-120"/>
              </a:rPr>
              <a:t>SpiroSmart — tadqiqotdagi xatolik</a:t>
            </a:r>
            <a:endParaRPr lang="en-US" sz="1400" dirty="0"/>
          </a:p>
        </p:txBody>
      </p:sp>
      <p:sp>
        <p:nvSpPr>
          <p:cNvPr id="8" name="Shape 6"/>
          <p:cNvSpPr/>
          <p:nvPr/>
        </p:nvSpPr>
        <p:spPr>
          <a:xfrm>
            <a:off x="3611880" y="2926080"/>
            <a:ext cx="2880360" cy="2103120"/>
          </a:xfrm>
          <a:prstGeom prst="roundRect">
            <a:avLst>
              <a:gd name="adj" fmla="val 5217"/>
            </a:avLst>
          </a:prstGeom>
          <a:solidFill>
            <a:srgbClr val="28233F"/>
          </a:solidFill>
          <a:ln/>
        </p:spPr>
      </p:sp>
      <p:sp>
        <p:nvSpPr>
          <p:cNvPr id="9" name="Text 7"/>
          <p:cNvSpPr txBox="1"/>
          <p:nvPr/>
        </p:nvSpPr>
        <p:spPr>
          <a:xfrm>
            <a:off x="3886200" y="3154680"/>
            <a:ext cx="2377440" cy="82296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&lt;3%</a:t>
            </a:r>
            <a:endParaRPr lang="en-US" sz="4400" dirty="0"/>
          </a:p>
        </p:txBody>
      </p:sp>
      <p:sp>
        <p:nvSpPr>
          <p:cNvPr id="10" name="Text 8"/>
          <p:cNvSpPr txBox="1"/>
          <p:nvPr/>
        </p:nvSpPr>
        <p:spPr>
          <a:xfrm>
            <a:off x="3886200" y="4069080"/>
            <a:ext cx="2377440" cy="822960"/>
          </a:xfrm>
          <a:prstGeom prst="rect">
            <a:avLst/>
          </a:prstGeom>
          <a:noFill/>
          <a:ln/>
        </p:spPr>
        <p:txBody>
          <a:bodyPr wrap="square" lIns="0" tIns="0" rIns="0" bIns="0" rtlCol="0" anchor="t"/>
          <a:lstStyle/>
          <a:p>
            <a:pPr indent="0" marL="0">
              <a:buNone/>
            </a:pPr>
            <a:r>
              <a:rPr lang="en-US" sz="1400" dirty="0">
                <a:solidFill>
                  <a:srgbClr val="D9D4EE"/>
                </a:solidFill>
                <a:latin typeface="Calibri" pitchFamily="34" charset="0"/>
                <a:ea typeface="Calibri" pitchFamily="34" charset="-122"/>
                <a:cs typeface="Calibri" pitchFamily="34" charset="-120"/>
              </a:rPr>
              <a:t>SpiroSonic — tadqiqotdagi xatolik</a:t>
            </a:r>
            <a:endParaRPr lang="en-US" sz="1400" dirty="0"/>
          </a:p>
        </p:txBody>
      </p:sp>
      <p:sp>
        <p:nvSpPr>
          <p:cNvPr id="11" name="Shape 9"/>
          <p:cNvSpPr/>
          <p:nvPr/>
        </p:nvSpPr>
        <p:spPr>
          <a:xfrm>
            <a:off x="6949440" y="1874520"/>
            <a:ext cx="4690872" cy="3154680"/>
          </a:xfrm>
          <a:prstGeom prst="roundRect">
            <a:avLst>
              <a:gd name="adj" fmla="val 3478"/>
            </a:avLst>
          </a:prstGeom>
          <a:solidFill>
            <a:srgbClr val="F4F2FA"/>
          </a:solidFill>
          <a:ln/>
        </p:spPr>
      </p:sp>
      <p:sp>
        <p:nvSpPr>
          <p:cNvPr id="12" name="Text 10"/>
          <p:cNvSpPr txBox="1"/>
          <p:nvPr/>
        </p:nvSpPr>
        <p:spPr>
          <a:xfrm>
            <a:off x="7223760" y="2103120"/>
            <a:ext cx="4206240" cy="411480"/>
          </a:xfrm>
          <a:prstGeom prst="rect">
            <a:avLst/>
          </a:prstGeom>
          <a:noFill/>
          <a:ln/>
        </p:spPr>
        <p:txBody>
          <a:bodyPr wrap="square" lIns="0" tIns="0" rIns="0" bIns="0" rtlCol="0" anchor="t"/>
          <a:lstStyle/>
          <a:p>
            <a:pPr indent="0" marL="0">
              <a:buNone/>
            </a:pPr>
            <a:r>
              <a:rPr lang="en-US" sz="1900" b="1" dirty="0">
                <a:solidFill>
                  <a:srgbClr val="1B1830"/>
                </a:solidFill>
                <a:latin typeface="Calibri" pitchFamily="34" charset="0"/>
                <a:ea typeface="Calibri" pitchFamily="34" charset="-122"/>
                <a:cs typeface="Calibri" pitchFamily="34" charset="-120"/>
              </a:rPr>
              <a:t>Halol chegaralar</a:t>
            </a:r>
            <a:endParaRPr lang="en-US" sz="1900" dirty="0"/>
          </a:p>
        </p:txBody>
      </p:sp>
      <p:sp>
        <p:nvSpPr>
          <p:cNvPr id="13" name="Text 11"/>
          <p:cNvSpPr txBox="1"/>
          <p:nvPr/>
        </p:nvSpPr>
        <p:spPr>
          <a:xfrm>
            <a:off x="7223760" y="2606040"/>
            <a:ext cx="4206240" cy="22860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3B3655"/>
                </a:solidFill>
                <a:latin typeface="Calibri" pitchFamily="34" charset="0"/>
                <a:ea typeface="Calibri" pitchFamily="34" charset="-122"/>
                <a:cs typeface="Calibri" pitchFamily="34" charset="-120"/>
              </a:rPr>
              <a:t>Sertifikatlanmagan — klinik qaror uchun emas</a:t>
            </a:r>
            <a:endParaRPr lang="en-US" sz="1500" dirty="0"/>
          </a:p>
          <a:p>
            <a:pPr marL="342900" indent="-342900">
              <a:spcAft>
                <a:spcPts val="800"/>
              </a:spcAft>
              <a:buSzPct val="100000"/>
              <a:buChar char="•"/>
            </a:pPr>
            <a:r>
              <a:rPr lang="en-US" sz="1500" dirty="0">
                <a:solidFill>
                  <a:srgbClr val="3B3655"/>
                </a:solidFill>
                <a:latin typeface="Calibri" pitchFamily="34" charset="0"/>
                <a:ea typeface="Calibri" pitchFamily="34" charset="-122"/>
                <a:cs typeface="Calibri" pitchFamily="34" charset="-120"/>
              </a:rPr>
              <a:t>Texnikaga sezgir: masofa, shovqin, telefon modeli</a:t>
            </a:r>
            <a:endParaRPr lang="en-US" sz="1500" dirty="0"/>
          </a:p>
          <a:p>
            <a:pPr marL="342900" indent="-342900">
              <a:spcAft>
                <a:spcPts val="800"/>
              </a:spcAft>
              <a:buSzPct val="100000"/>
              <a:buChar char="•"/>
            </a:pPr>
            <a:r>
              <a:rPr lang="en-US" sz="1500" dirty="0">
                <a:solidFill>
                  <a:srgbClr val="3B3655"/>
                </a:solidFill>
                <a:latin typeface="Calibri" pitchFamily="34" charset="0"/>
                <a:ea typeface="Calibri" pitchFamily="34" charset="-122"/>
                <a:cs typeface="Calibri" pitchFamily="34" charset="-120"/>
              </a:rPr>
              <a:t>Shuning uchun — mahsulot emas, ilmiy yoʻnalish</a:t>
            </a:r>
            <a:endParaRPr lang="en-US" sz="1500" dirty="0"/>
          </a:p>
        </p:txBody>
      </p:sp>
      <p:sp>
        <p:nvSpPr>
          <p:cNvPr id="14" name="Text 12"/>
          <p:cNvSpPr txBox="1"/>
          <p:nvPr/>
        </p:nvSpPr>
        <p:spPr>
          <a:xfrm>
            <a:off x="548640" y="5349240"/>
            <a:ext cx="11094415" cy="640080"/>
          </a:xfrm>
          <a:prstGeom prst="rect">
            <a:avLst/>
          </a:prstGeom>
          <a:noFill/>
          <a:ln/>
        </p:spPr>
        <p:txBody>
          <a:bodyPr wrap="square" lIns="0" tIns="0" rIns="0" bIns="0" rtlCol="0" anchor="t"/>
          <a:lstStyle/>
          <a:p>
            <a:pPr indent="0" marL="0">
              <a:buNone/>
            </a:pPr>
            <a:r>
              <a:rPr lang="en-US" sz="1800" b="1" dirty="0">
                <a:solidFill>
                  <a:srgbClr val="B9AEF0"/>
                </a:solidFill>
                <a:latin typeface="Calibri" pitchFamily="34" charset="0"/>
                <a:ea typeface="Calibri" pitchFamily="34" charset="-122"/>
                <a:cs typeface="Calibri" pitchFamily="34" charset="-120"/>
              </a:rPr>
              <a:t>Tadqiqot savoli: spirometr bilan juft oʻlchovda mahalliy aholida qanday aniqlik beradi?</a:t>
            </a:r>
            <a:endParaRPr lang="en-US" sz="1800" dirty="0"/>
          </a:p>
        </p:txBody>
      </p:sp>
      <p:sp>
        <p:nvSpPr>
          <p:cNvPr id="15" name="Text 13"/>
          <p:cNvSpPr txBox="1"/>
          <p:nvPr/>
        </p:nvSpPr>
        <p:spPr>
          <a:xfrm>
            <a:off x="548640" y="6400800"/>
            <a:ext cx="3657600" cy="274320"/>
          </a:xfrm>
          <a:prstGeom prst="rect">
            <a:avLst/>
          </a:prstGeom>
          <a:noFill/>
          <a:ln/>
        </p:spPr>
        <p:txBody>
          <a:bodyPr wrap="square" lIns="0" tIns="0" rIns="0" bIns="0" rtlCol="0" anchor="t"/>
          <a:lstStyle/>
          <a:p>
            <a:pPr indent="0" marL="0">
              <a:buNone/>
            </a:pPr>
            <a:r>
              <a:rPr lang="en-US" sz="1100" dirty="0">
                <a:solidFill>
                  <a:srgbClr val="9C95BE"/>
                </a:solidFill>
                <a:latin typeface="Calibri" pitchFamily="34" charset="0"/>
                <a:ea typeface="Calibri" pitchFamily="34" charset="-122"/>
                <a:cs typeface="Calibri" pitchFamily="34" charset="-120"/>
              </a:rPr>
              <a:t>NafasNazorat · 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4415" cy="292608"/>
          </a:xfrm>
          <a:prstGeom prst="rect">
            <a:avLst/>
          </a:prstGeom>
          <a:noFill/>
          <a:ln/>
        </p:spPr>
        <p:txBody>
          <a:bodyPr wrap="square" lIns="0" tIns="0" rIns="0" bIns="0" rtlCol="0" anchor="t"/>
          <a:lstStyle/>
          <a:p>
            <a:pPr indent="0" marL="0">
              <a:buNone/>
            </a:pPr>
            <a:r>
              <a:rPr lang="en-US" sz="1300" b="1" spc="300" kern="0" dirty="0">
                <a:solidFill>
                  <a:srgbClr val="0B6E7F"/>
                </a:solidFill>
                <a:latin typeface="Calibri" pitchFamily="34" charset="0"/>
                <a:ea typeface="Calibri" pitchFamily="34" charset="-122"/>
                <a:cs typeface="Calibri" pitchFamily="34" charset="-120"/>
              </a:rPr>
              <a:t>ILMIY TOMON</a:t>
            </a:r>
            <a:endParaRPr lang="en-US" sz="1300" dirty="0"/>
          </a:p>
        </p:txBody>
      </p:sp>
      <p:sp>
        <p:nvSpPr>
          <p:cNvPr id="3" name="Text 1"/>
          <p:cNvSpPr txBox="1"/>
          <p:nvPr/>
        </p:nvSpPr>
        <p:spPr>
          <a:xfrm>
            <a:off x="548640" y="777240"/>
            <a:ext cx="11094415" cy="960120"/>
          </a:xfrm>
          <a:prstGeom prst="rect">
            <a:avLst/>
          </a:prstGeom>
          <a:noFill/>
          <a:ln/>
        </p:spPr>
        <p:txBody>
          <a:bodyPr wrap="square" lIns="0" tIns="0" rIns="0" bIns="0" rtlCol="0" anchor="t"/>
          <a:lstStyle/>
          <a:p>
            <a:pPr indent="0" marL="0">
              <a:buNone/>
            </a:pPr>
            <a:r>
              <a:rPr lang="en-US" sz="3200" b="1" dirty="0">
                <a:solidFill>
                  <a:srgbClr val="0F1E2A"/>
                </a:solidFill>
                <a:latin typeface="Cambria" pitchFamily="34" charset="0"/>
                <a:ea typeface="Cambria" pitchFamily="34" charset="-122"/>
                <a:cs typeface="Cambria" pitchFamily="34" charset="-120"/>
              </a:rPr>
              <a:t>Modelni mahalliy maʼlumotda tasdiqlash</a:t>
            </a:r>
            <a:endParaRPr lang="en-US" sz="3200" dirty="0"/>
          </a:p>
        </p:txBody>
      </p:sp>
      <p:sp>
        <p:nvSpPr>
          <p:cNvPr id="4" name="Shape 2"/>
          <p:cNvSpPr/>
          <p:nvPr/>
        </p:nvSpPr>
        <p:spPr>
          <a:xfrm>
            <a:off x="548640" y="1920240"/>
            <a:ext cx="3515258" cy="2468880"/>
          </a:xfrm>
          <a:prstGeom prst="roundRect">
            <a:avLst>
              <a:gd name="adj" fmla="val 4444"/>
            </a:avLst>
          </a:prstGeom>
          <a:solidFill>
            <a:srgbClr val="F6F8FA"/>
          </a:solidFill>
          <a:ln w="12700">
            <a:solidFill>
              <a:srgbClr val="DDE4EA"/>
            </a:solidFill>
            <a:prstDash val="solid"/>
          </a:ln>
        </p:spPr>
      </p:sp>
      <p:sp>
        <p:nvSpPr>
          <p:cNvPr id="5" name="Text 3"/>
          <p:cNvSpPr txBox="1"/>
          <p:nvPr/>
        </p:nvSpPr>
        <p:spPr>
          <a:xfrm>
            <a:off x="822960" y="2194560"/>
            <a:ext cx="2966618" cy="320040"/>
          </a:xfrm>
          <a:prstGeom prst="rect">
            <a:avLst/>
          </a:prstGeom>
          <a:noFill/>
          <a:ln/>
        </p:spPr>
        <p:txBody>
          <a:bodyPr wrap="square" lIns="0" tIns="0" rIns="0" bIns="0" rtlCol="0" anchor="t"/>
          <a:lstStyle/>
          <a:p>
            <a:pPr indent="0" marL="0">
              <a:buNone/>
            </a:pPr>
            <a:r>
              <a:rPr lang="en-US" sz="1200" b="1" spc="200" kern="0" dirty="0">
                <a:solidFill>
                  <a:srgbClr val="0B6E7F"/>
                </a:solidFill>
                <a:latin typeface="Calibri" pitchFamily="34" charset="0"/>
                <a:ea typeface="Calibri" pitchFamily="34" charset="-122"/>
                <a:cs typeface="Calibri" pitchFamily="34" charset="-120"/>
              </a:rPr>
              <a:t>PILOT</a:t>
            </a:r>
            <a:endParaRPr lang="en-US" sz="1200" dirty="0"/>
          </a:p>
        </p:txBody>
      </p:sp>
      <p:sp>
        <p:nvSpPr>
          <p:cNvPr id="6" name="Text 4"/>
          <p:cNvSpPr txBox="1"/>
          <p:nvPr/>
        </p:nvSpPr>
        <p:spPr>
          <a:xfrm>
            <a:off x="822960" y="2606040"/>
            <a:ext cx="2966618" cy="822960"/>
          </a:xfrm>
          <a:prstGeom prst="rect">
            <a:avLst/>
          </a:prstGeom>
          <a:noFill/>
          <a:ln/>
        </p:spPr>
        <p:txBody>
          <a:bodyPr wrap="square" lIns="0" tIns="0" rIns="0" bIns="0" rtlCol="0" anchor="t"/>
          <a:lstStyle/>
          <a:p>
            <a:pPr indent="0" marL="0">
              <a:buNone/>
            </a:pPr>
            <a:r>
              <a:rPr lang="en-US" sz="1900" b="1" dirty="0">
                <a:solidFill>
                  <a:srgbClr val="0F1E2A"/>
                </a:solidFill>
                <a:latin typeface="Calibri" pitchFamily="34" charset="0"/>
                <a:ea typeface="Calibri" pitchFamily="34" charset="-122"/>
                <a:cs typeface="Calibri" pitchFamily="34" charset="-120"/>
              </a:rPr>
              <a:t>[__] ta punkt, [__] ta bemor</a:t>
            </a:r>
            <a:endParaRPr lang="en-US" sz="1900" dirty="0"/>
          </a:p>
        </p:txBody>
      </p:sp>
      <p:sp>
        <p:nvSpPr>
          <p:cNvPr id="7" name="Text 5"/>
          <p:cNvSpPr txBox="1"/>
          <p:nvPr/>
        </p:nvSpPr>
        <p:spPr>
          <a:xfrm>
            <a:off x="822960" y="3474720"/>
            <a:ext cx="2966618" cy="822960"/>
          </a:xfrm>
          <a:prstGeom prst="rect">
            <a:avLst/>
          </a:prstGeom>
          <a:noFill/>
          <a:ln/>
        </p:spPr>
        <p:txBody>
          <a:bodyPr wrap="square" lIns="0" tIns="0" rIns="0" bIns="0" rtlCol="0" anchor="t"/>
          <a:lstStyle/>
          <a:p>
            <a:pPr indent="0" marL="0">
              <a:buNone/>
            </a:pPr>
            <a:r>
              <a:rPr lang="en-US" sz="1500" dirty="0">
                <a:solidFill>
                  <a:srgbClr val="4A5A67"/>
                </a:solidFill>
                <a:latin typeface="Calibri" pitchFamily="34" charset="0"/>
                <a:ea typeface="Calibri" pitchFamily="34" charset="-122"/>
                <a:cs typeface="Calibri" pitchFamily="34" charset="-120"/>
              </a:rPr>
              <a:t>≥ 40 yosh, rozilik bilan; hammasi savolnomadan oʻtadi</a:t>
            </a:r>
            <a:endParaRPr lang="en-US" sz="1500" dirty="0"/>
          </a:p>
        </p:txBody>
      </p:sp>
      <p:sp>
        <p:nvSpPr>
          <p:cNvPr id="8" name="Shape 6"/>
          <p:cNvSpPr/>
          <p:nvPr/>
        </p:nvSpPr>
        <p:spPr>
          <a:xfrm>
            <a:off x="4338218" y="1920240"/>
            <a:ext cx="3515258" cy="2468880"/>
          </a:xfrm>
          <a:prstGeom prst="roundRect">
            <a:avLst>
              <a:gd name="adj" fmla="val 4444"/>
            </a:avLst>
          </a:prstGeom>
          <a:solidFill>
            <a:srgbClr val="F6F8FA"/>
          </a:solidFill>
          <a:ln w="12700">
            <a:solidFill>
              <a:srgbClr val="DDE4EA"/>
            </a:solidFill>
            <a:prstDash val="solid"/>
          </a:ln>
        </p:spPr>
      </p:sp>
      <p:sp>
        <p:nvSpPr>
          <p:cNvPr id="9" name="Text 7"/>
          <p:cNvSpPr txBox="1"/>
          <p:nvPr/>
        </p:nvSpPr>
        <p:spPr>
          <a:xfrm>
            <a:off x="4612538" y="2194560"/>
            <a:ext cx="2966618" cy="320040"/>
          </a:xfrm>
          <a:prstGeom prst="rect">
            <a:avLst/>
          </a:prstGeom>
          <a:noFill/>
          <a:ln/>
        </p:spPr>
        <p:txBody>
          <a:bodyPr wrap="square" lIns="0" tIns="0" rIns="0" bIns="0" rtlCol="0" anchor="t"/>
          <a:lstStyle/>
          <a:p>
            <a:pPr indent="0" marL="0">
              <a:buNone/>
            </a:pPr>
            <a:r>
              <a:rPr lang="en-US" sz="1200" b="1" spc="200" kern="0" dirty="0">
                <a:solidFill>
                  <a:srgbClr val="0B6E7F"/>
                </a:solidFill>
                <a:latin typeface="Calibri" pitchFamily="34" charset="0"/>
                <a:ea typeface="Calibri" pitchFamily="34" charset="-122"/>
                <a:cs typeface="Calibri" pitchFamily="34" charset="-120"/>
              </a:rPr>
              <a:t>OLTIN STANDART</a:t>
            </a:r>
            <a:endParaRPr lang="en-US" sz="1200" dirty="0"/>
          </a:p>
        </p:txBody>
      </p:sp>
      <p:sp>
        <p:nvSpPr>
          <p:cNvPr id="10" name="Text 8"/>
          <p:cNvSpPr txBox="1"/>
          <p:nvPr/>
        </p:nvSpPr>
        <p:spPr>
          <a:xfrm>
            <a:off x="4612538" y="2606040"/>
            <a:ext cx="2966618" cy="822960"/>
          </a:xfrm>
          <a:prstGeom prst="rect">
            <a:avLst/>
          </a:prstGeom>
          <a:noFill/>
          <a:ln/>
        </p:spPr>
        <p:txBody>
          <a:bodyPr wrap="square" lIns="0" tIns="0" rIns="0" bIns="0" rtlCol="0" anchor="t"/>
          <a:lstStyle/>
          <a:p>
            <a:pPr indent="0" marL="0">
              <a:buNone/>
            </a:pPr>
            <a:r>
              <a:rPr lang="en-US" sz="1900" b="1" dirty="0">
                <a:solidFill>
                  <a:srgbClr val="0F1E2A"/>
                </a:solidFill>
                <a:latin typeface="Calibri" pitchFamily="34" charset="0"/>
                <a:ea typeface="Calibri" pitchFamily="34" charset="-122"/>
                <a:cs typeface="Calibri" pitchFamily="34" charset="-120"/>
              </a:rPr>
              <a:t>BD keyingi spirometriya</a:t>
            </a:r>
            <a:endParaRPr lang="en-US" sz="1900" dirty="0"/>
          </a:p>
        </p:txBody>
      </p:sp>
      <p:sp>
        <p:nvSpPr>
          <p:cNvPr id="11" name="Text 9"/>
          <p:cNvSpPr txBox="1"/>
          <p:nvPr/>
        </p:nvSpPr>
        <p:spPr>
          <a:xfrm>
            <a:off x="4612538" y="3474720"/>
            <a:ext cx="2966618" cy="822960"/>
          </a:xfrm>
          <a:prstGeom prst="rect">
            <a:avLst/>
          </a:prstGeom>
          <a:noFill/>
          <a:ln/>
        </p:spPr>
        <p:txBody>
          <a:bodyPr wrap="square" lIns="0" tIns="0" rIns="0" bIns="0" rtlCol="0" anchor="t"/>
          <a:lstStyle/>
          <a:p>
            <a:pPr indent="0" marL="0">
              <a:buNone/>
            </a:pPr>
            <a:r>
              <a:rPr lang="en-US" sz="1500" dirty="0">
                <a:solidFill>
                  <a:srgbClr val="4A5A67"/>
                </a:solidFill>
                <a:latin typeface="Calibri" pitchFamily="34" charset="0"/>
                <a:ea typeface="Calibri" pitchFamily="34" charset="-122"/>
                <a:cs typeface="Calibri" pitchFamily="34" charset="-120"/>
              </a:rPr>
              <a:t>Yoʻllanganlar va past xavfli guruhdan tanlanma</a:t>
            </a:r>
            <a:endParaRPr lang="en-US" sz="1500" dirty="0"/>
          </a:p>
        </p:txBody>
      </p:sp>
      <p:sp>
        <p:nvSpPr>
          <p:cNvPr id="12" name="Shape 10"/>
          <p:cNvSpPr/>
          <p:nvPr/>
        </p:nvSpPr>
        <p:spPr>
          <a:xfrm>
            <a:off x="8127797" y="1920240"/>
            <a:ext cx="3515258" cy="2468880"/>
          </a:xfrm>
          <a:prstGeom prst="roundRect">
            <a:avLst>
              <a:gd name="adj" fmla="val 4444"/>
            </a:avLst>
          </a:prstGeom>
          <a:solidFill>
            <a:srgbClr val="F6F8FA"/>
          </a:solidFill>
          <a:ln w="12700">
            <a:solidFill>
              <a:srgbClr val="DDE4EA"/>
            </a:solidFill>
            <a:prstDash val="solid"/>
          </a:ln>
        </p:spPr>
      </p:sp>
      <p:sp>
        <p:nvSpPr>
          <p:cNvPr id="13" name="Text 11"/>
          <p:cNvSpPr txBox="1"/>
          <p:nvPr/>
        </p:nvSpPr>
        <p:spPr>
          <a:xfrm>
            <a:off x="8402117" y="2194560"/>
            <a:ext cx="2966618" cy="320040"/>
          </a:xfrm>
          <a:prstGeom prst="rect">
            <a:avLst/>
          </a:prstGeom>
          <a:noFill/>
          <a:ln/>
        </p:spPr>
        <p:txBody>
          <a:bodyPr wrap="square" lIns="0" tIns="0" rIns="0" bIns="0" rtlCol="0" anchor="t"/>
          <a:lstStyle/>
          <a:p>
            <a:pPr indent="0" marL="0">
              <a:buNone/>
            </a:pPr>
            <a:r>
              <a:rPr lang="en-US" sz="1200" b="1" spc="200" kern="0" dirty="0">
                <a:solidFill>
                  <a:srgbClr val="0B6E7F"/>
                </a:solidFill>
                <a:latin typeface="Calibri" pitchFamily="34" charset="0"/>
                <a:ea typeface="Calibri" pitchFamily="34" charset="-122"/>
                <a:cs typeface="Calibri" pitchFamily="34" charset="-120"/>
              </a:rPr>
              <a:t>NATIJA</a:t>
            </a:r>
            <a:endParaRPr lang="en-US" sz="1200" dirty="0"/>
          </a:p>
        </p:txBody>
      </p:sp>
      <p:sp>
        <p:nvSpPr>
          <p:cNvPr id="14" name="Text 12"/>
          <p:cNvSpPr txBox="1"/>
          <p:nvPr/>
        </p:nvSpPr>
        <p:spPr>
          <a:xfrm>
            <a:off x="8402117" y="2606040"/>
            <a:ext cx="2966618" cy="822960"/>
          </a:xfrm>
          <a:prstGeom prst="rect">
            <a:avLst/>
          </a:prstGeom>
          <a:noFill/>
          <a:ln/>
        </p:spPr>
        <p:txBody>
          <a:bodyPr wrap="square" lIns="0" tIns="0" rIns="0" bIns="0" rtlCol="0" anchor="t"/>
          <a:lstStyle/>
          <a:p>
            <a:pPr indent="0" marL="0">
              <a:buNone/>
            </a:pPr>
            <a:r>
              <a:rPr lang="en-US" sz="1900" b="1" dirty="0">
                <a:solidFill>
                  <a:srgbClr val="0F1E2A"/>
                </a:solidFill>
                <a:latin typeface="Calibri" pitchFamily="34" charset="0"/>
                <a:ea typeface="Calibri" pitchFamily="34" charset="-122"/>
                <a:cs typeface="Calibri" pitchFamily="34" charset="-120"/>
              </a:rPr>
              <a:t>Sezgirlik, oʻziga xoslik, AUC</a:t>
            </a:r>
            <a:endParaRPr lang="en-US" sz="1900" dirty="0"/>
          </a:p>
        </p:txBody>
      </p:sp>
      <p:sp>
        <p:nvSpPr>
          <p:cNvPr id="15" name="Text 13"/>
          <p:cNvSpPr txBox="1"/>
          <p:nvPr/>
        </p:nvSpPr>
        <p:spPr>
          <a:xfrm>
            <a:off x="8402117" y="3474720"/>
            <a:ext cx="2966618" cy="822960"/>
          </a:xfrm>
          <a:prstGeom prst="rect">
            <a:avLst/>
          </a:prstGeom>
          <a:noFill/>
          <a:ln/>
        </p:spPr>
        <p:txBody>
          <a:bodyPr wrap="square" lIns="0" tIns="0" rIns="0" bIns="0" rtlCol="0" anchor="t"/>
          <a:lstStyle/>
          <a:p>
            <a:pPr indent="0" marL="0">
              <a:buNone/>
            </a:pPr>
            <a:r>
              <a:rPr lang="en-US" sz="1500" dirty="0">
                <a:solidFill>
                  <a:srgbClr val="4A5A67"/>
                </a:solidFill>
                <a:latin typeface="Calibri" pitchFamily="34" charset="0"/>
                <a:ea typeface="Calibri" pitchFamily="34" charset="-122"/>
                <a:cs typeface="Calibri" pitchFamily="34" charset="-120"/>
              </a:rPr>
              <a:t>Vaznlar qayta sozlanadi, yangi versiya chiqariladi</a:t>
            </a:r>
            <a:endParaRPr lang="en-US" sz="1500" dirty="0"/>
          </a:p>
        </p:txBody>
      </p:sp>
      <p:sp>
        <p:nvSpPr>
          <p:cNvPr id="16" name="Text 14"/>
          <p:cNvSpPr txBox="1"/>
          <p:nvPr/>
        </p:nvSpPr>
        <p:spPr>
          <a:xfrm>
            <a:off x="548640" y="4800600"/>
            <a:ext cx="11094415" cy="914400"/>
          </a:xfrm>
          <a:prstGeom prst="rect">
            <a:avLst/>
          </a:prstGeom>
          <a:noFill/>
          <a:ln/>
        </p:spPr>
        <p:txBody>
          <a:bodyPr wrap="square" lIns="0" tIns="0" rIns="0" bIns="0" rtlCol="0" anchor="t"/>
          <a:lstStyle/>
          <a:p>
            <a:pPr indent="0" marL="0">
              <a:buNone/>
            </a:pPr>
            <a:r>
              <a:rPr lang="en-US" sz="1700" b="1" dirty="0">
                <a:solidFill>
                  <a:srgbClr val="0F1E2A"/>
                </a:solidFill>
                <a:latin typeface="Calibri" pitchFamily="34" charset="0"/>
                <a:ea typeface="Calibri" pitchFamily="34" charset="-122"/>
                <a:cs typeface="Calibri" pitchFamily="34" charset="-120"/>
              </a:rPr>
              <a:t>Infratuzilma tayyor: </a:t>
            </a:r>
            <a:pPr indent="0" marL="0">
              <a:buNone/>
            </a:pPr>
            <a:r>
              <a:rPr lang="en-US" sz="1700" dirty="0">
                <a:solidFill>
                  <a:srgbClr val="4A5A67"/>
                </a:solidFill>
                <a:latin typeface="Calibri" pitchFamily="34" charset="0"/>
                <a:ea typeface="Calibri" pitchFamily="34" charset="-122"/>
                <a:cs typeface="Calibri" pitchFamily="34" charset="-120"/>
              </a:rPr>
              <a:t>har bir natija model versiyasi bilan saqlanadi, anonim eksport (CSV/JSON) bor — tahlil uchun alohida tizim kerak emas.</a:t>
            </a:r>
            <a:endParaRPr lang="en-US" sz="1700" dirty="0"/>
          </a:p>
        </p:txBody>
      </p:sp>
      <p:sp>
        <p:nvSpPr>
          <p:cNvPr id="17" name="Text 15"/>
          <p:cNvSpPr txBox="1"/>
          <p:nvPr/>
        </p:nvSpPr>
        <p:spPr>
          <a:xfrm>
            <a:off x="548640" y="6400800"/>
            <a:ext cx="3657600" cy="274320"/>
          </a:xfrm>
          <a:prstGeom prst="rect">
            <a:avLst/>
          </a:prstGeom>
          <a:noFill/>
          <a:ln/>
        </p:spPr>
        <p:txBody>
          <a:bodyPr wrap="square" lIns="0" tIns="0" rIns="0" bIns="0" rtlCol="0" anchor="t"/>
          <a:lstStyle/>
          <a:p>
            <a:pPr indent="0" marL="0">
              <a:buNone/>
            </a:pPr>
            <a:r>
              <a:rPr lang="en-US" sz="1100" dirty="0">
                <a:solidFill>
                  <a:srgbClr val="6B7B87"/>
                </a:solidFill>
                <a:latin typeface="Calibri" pitchFamily="34" charset="0"/>
                <a:ea typeface="Calibri" pitchFamily="34" charset="-122"/>
                <a:cs typeface="Calibri" pitchFamily="34" charset="-120"/>
              </a:rPr>
              <a:t>NafasNazorat · 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8FA"/>
        </a:solidFill>
      </p:bgPr>
    </p:bg>
    <p:spTree>
      <p:nvGrpSpPr>
        <p:cNvPr id="1" name=""/>
        <p:cNvGrpSpPr/>
        <p:nvPr/>
      </p:nvGrpSpPr>
      <p:grpSpPr>
        <a:xfrm>
          <a:off x="0" y="0"/>
          <a:ext cx="0" cy="0"/>
          <a:chOff x="0" y="0"/>
          <a:chExt cx="0" cy="0"/>
        </a:xfrm>
      </p:grpSpPr>
      <p:sp>
        <p:nvSpPr>
          <p:cNvPr id="2" name="Text 0"/>
          <p:cNvSpPr txBox="1"/>
          <p:nvPr/>
        </p:nvSpPr>
        <p:spPr>
          <a:xfrm>
            <a:off x="548640" y="457200"/>
            <a:ext cx="11094415" cy="292608"/>
          </a:xfrm>
          <a:prstGeom prst="rect">
            <a:avLst/>
          </a:prstGeom>
          <a:noFill/>
          <a:ln/>
        </p:spPr>
        <p:txBody>
          <a:bodyPr wrap="square" lIns="0" tIns="0" rIns="0" bIns="0" rtlCol="0" anchor="t"/>
          <a:lstStyle/>
          <a:p>
            <a:pPr indent="0" marL="0">
              <a:buNone/>
            </a:pPr>
            <a:r>
              <a:rPr lang="en-US" sz="1300" b="1" spc="300" kern="0" dirty="0">
                <a:solidFill>
                  <a:srgbClr val="0B6E7F"/>
                </a:solidFill>
                <a:latin typeface="Calibri" pitchFamily="34" charset="0"/>
                <a:ea typeface="Calibri" pitchFamily="34" charset="-122"/>
                <a:cs typeface="Calibri" pitchFamily="34" charset="-120"/>
              </a:rPr>
              <a:t>TAYYORLIK</a:t>
            </a:r>
            <a:endParaRPr lang="en-US" sz="1300" dirty="0"/>
          </a:p>
        </p:txBody>
      </p:sp>
      <p:sp>
        <p:nvSpPr>
          <p:cNvPr id="3" name="Text 1"/>
          <p:cNvSpPr txBox="1"/>
          <p:nvPr/>
        </p:nvSpPr>
        <p:spPr>
          <a:xfrm>
            <a:off x="548640" y="777240"/>
            <a:ext cx="11094415" cy="960120"/>
          </a:xfrm>
          <a:prstGeom prst="rect">
            <a:avLst/>
          </a:prstGeom>
          <a:noFill/>
          <a:ln/>
        </p:spPr>
        <p:txBody>
          <a:bodyPr wrap="square" lIns="0" tIns="0" rIns="0" bIns="0" rtlCol="0" anchor="t"/>
          <a:lstStyle/>
          <a:p>
            <a:pPr indent="0" marL="0">
              <a:buNone/>
            </a:pPr>
            <a:r>
              <a:rPr lang="en-US" sz="3200" b="1" dirty="0">
                <a:solidFill>
                  <a:srgbClr val="0F1E2A"/>
                </a:solidFill>
                <a:latin typeface="Cambria" pitchFamily="34" charset="0"/>
                <a:ea typeface="Cambria" pitchFamily="34" charset="-122"/>
                <a:cs typeface="Cambria" pitchFamily="34" charset="-120"/>
              </a:rPr>
              <a:t>Prototip ishlab turibdi</a:t>
            </a:r>
            <a:endParaRPr lang="en-US" sz="3200" dirty="0"/>
          </a:p>
        </p:txBody>
      </p:sp>
      <p:pic>
        <p:nvPicPr>
          <p:cNvPr id="4" name="Image 0" descr="preencoded.png">    </p:cNvPr>
          <p:cNvPicPr>
            <a:picLocks noChangeAspect="1"/>
          </p:cNvPicPr>
          <p:nvPr/>
        </p:nvPicPr>
        <p:blipFill>
          <a:blip r:embed="rId1"/>
          <a:stretch>
            <a:fillRect/>
          </a:stretch>
        </p:blipFill>
        <p:spPr>
          <a:xfrm>
            <a:off x="548640" y="1984248"/>
            <a:ext cx="329184" cy="329184"/>
          </a:xfrm>
          <a:prstGeom prst="rect">
            <a:avLst/>
          </a:prstGeom>
        </p:spPr>
      </p:pic>
      <p:sp>
        <p:nvSpPr>
          <p:cNvPr id="5" name="Text 2"/>
          <p:cNvSpPr txBox="1"/>
          <p:nvPr/>
        </p:nvSpPr>
        <p:spPr>
          <a:xfrm>
            <a:off x="1051560" y="1965960"/>
            <a:ext cx="5760720" cy="411480"/>
          </a:xfrm>
          <a:prstGeom prst="rect">
            <a:avLst/>
          </a:prstGeom>
          <a:noFill/>
          <a:ln/>
        </p:spPr>
        <p:txBody>
          <a:bodyPr wrap="square" lIns="0" tIns="0" rIns="0" bIns="0" rtlCol="0" anchor="t"/>
          <a:lstStyle/>
          <a:p>
            <a:pPr indent="0" marL="0">
              <a:buNone/>
            </a:pPr>
            <a:r>
              <a:rPr lang="en-US" sz="1800" dirty="0">
                <a:solidFill>
                  <a:srgbClr val="0F1E2A"/>
                </a:solidFill>
                <a:latin typeface="Calibri" pitchFamily="34" charset="0"/>
                <a:ea typeface="Calibri" pitchFamily="34" charset="-122"/>
                <a:cs typeface="Calibri" pitchFamily="34" charset="-120"/>
              </a:rPr>
              <a:t>Xavfni baholash — 5 qadamli oqim</a:t>
            </a:r>
            <a:endParaRPr lang="en-US" sz="1800" dirty="0"/>
          </a:p>
        </p:txBody>
      </p:sp>
      <p:pic>
        <p:nvPicPr>
          <p:cNvPr id="6" name="Image 1" descr="preencoded.png">    </p:cNvPr>
          <p:cNvPicPr>
            <a:picLocks noChangeAspect="1"/>
          </p:cNvPicPr>
          <p:nvPr/>
        </p:nvPicPr>
        <p:blipFill>
          <a:blip r:embed="rId2"/>
          <a:stretch>
            <a:fillRect/>
          </a:stretch>
        </p:blipFill>
        <p:spPr>
          <a:xfrm>
            <a:off x="548640" y="2606040"/>
            <a:ext cx="329184" cy="329184"/>
          </a:xfrm>
          <a:prstGeom prst="rect">
            <a:avLst/>
          </a:prstGeom>
        </p:spPr>
      </p:pic>
      <p:sp>
        <p:nvSpPr>
          <p:cNvPr id="7" name="Text 3"/>
          <p:cNvSpPr txBox="1"/>
          <p:nvPr/>
        </p:nvSpPr>
        <p:spPr>
          <a:xfrm>
            <a:off x="1051560" y="2587752"/>
            <a:ext cx="5760720" cy="411480"/>
          </a:xfrm>
          <a:prstGeom prst="rect">
            <a:avLst/>
          </a:prstGeom>
          <a:noFill/>
          <a:ln/>
        </p:spPr>
        <p:txBody>
          <a:bodyPr wrap="square" lIns="0" tIns="0" rIns="0" bIns="0" rtlCol="0" anchor="t"/>
          <a:lstStyle/>
          <a:p>
            <a:pPr indent="0" marL="0">
              <a:buNone/>
            </a:pPr>
            <a:r>
              <a:rPr lang="en-US" sz="1800" dirty="0">
                <a:solidFill>
                  <a:srgbClr val="0F1E2A"/>
                </a:solidFill>
                <a:latin typeface="Calibri" pitchFamily="34" charset="0"/>
                <a:ea typeface="Calibri" pitchFamily="34" charset="-122"/>
                <a:cs typeface="Calibri" pitchFamily="34" charset="-120"/>
              </a:rPr>
              <a:t>Spirometriya talqini — GLI, LLN, GOLD</a:t>
            </a:r>
            <a:endParaRPr lang="en-US" sz="1800" dirty="0"/>
          </a:p>
        </p:txBody>
      </p:sp>
      <p:pic>
        <p:nvPicPr>
          <p:cNvPr id="8" name="Image 2" descr="preencoded.png">    </p:cNvPr>
          <p:cNvPicPr>
            <a:picLocks noChangeAspect="1"/>
          </p:cNvPicPr>
          <p:nvPr/>
        </p:nvPicPr>
        <p:blipFill>
          <a:blip r:embed="rId3"/>
          <a:stretch>
            <a:fillRect/>
          </a:stretch>
        </p:blipFill>
        <p:spPr>
          <a:xfrm>
            <a:off x="548640" y="3227832"/>
            <a:ext cx="329184" cy="329184"/>
          </a:xfrm>
          <a:prstGeom prst="rect">
            <a:avLst/>
          </a:prstGeom>
        </p:spPr>
      </p:pic>
      <p:sp>
        <p:nvSpPr>
          <p:cNvPr id="9" name="Text 4"/>
          <p:cNvSpPr txBox="1"/>
          <p:nvPr/>
        </p:nvSpPr>
        <p:spPr>
          <a:xfrm>
            <a:off x="1051560" y="3209544"/>
            <a:ext cx="5760720" cy="411480"/>
          </a:xfrm>
          <a:prstGeom prst="rect">
            <a:avLst/>
          </a:prstGeom>
          <a:noFill/>
          <a:ln/>
        </p:spPr>
        <p:txBody>
          <a:bodyPr wrap="square" lIns="0" tIns="0" rIns="0" bIns="0" rtlCol="0" anchor="t"/>
          <a:lstStyle/>
          <a:p>
            <a:pPr indent="0" marL="0">
              <a:buNone/>
            </a:pPr>
            <a:r>
              <a:rPr lang="en-US" sz="1800" dirty="0">
                <a:solidFill>
                  <a:srgbClr val="0F1E2A"/>
                </a:solidFill>
                <a:latin typeface="Calibri" pitchFamily="34" charset="0"/>
                <a:ea typeface="Calibri" pitchFamily="34" charset="-122"/>
                <a:cs typeface="Calibri" pitchFamily="34" charset="-120"/>
              </a:rPr>
              <a:t>Bemorlar paneli va bemor kartasi</a:t>
            </a:r>
            <a:endParaRPr lang="en-US" sz="1800" dirty="0"/>
          </a:p>
        </p:txBody>
      </p:sp>
      <p:pic>
        <p:nvPicPr>
          <p:cNvPr id="10" name="Image 3" descr="preencoded.png">    </p:cNvPr>
          <p:cNvPicPr>
            <a:picLocks noChangeAspect="1"/>
          </p:cNvPicPr>
          <p:nvPr/>
        </p:nvPicPr>
        <p:blipFill>
          <a:blip r:embed="rId4"/>
          <a:stretch>
            <a:fillRect/>
          </a:stretch>
        </p:blipFill>
        <p:spPr>
          <a:xfrm>
            <a:off x="548640" y="3849624"/>
            <a:ext cx="329184" cy="329184"/>
          </a:xfrm>
          <a:prstGeom prst="rect">
            <a:avLst/>
          </a:prstGeom>
        </p:spPr>
      </p:pic>
      <p:sp>
        <p:nvSpPr>
          <p:cNvPr id="11" name="Text 5"/>
          <p:cNvSpPr txBox="1"/>
          <p:nvPr/>
        </p:nvSpPr>
        <p:spPr>
          <a:xfrm>
            <a:off x="1051560" y="3831336"/>
            <a:ext cx="5760720" cy="411480"/>
          </a:xfrm>
          <a:prstGeom prst="rect">
            <a:avLst/>
          </a:prstGeom>
          <a:noFill/>
          <a:ln/>
        </p:spPr>
        <p:txBody>
          <a:bodyPr wrap="square" lIns="0" tIns="0" rIns="0" bIns="0" rtlCol="0" anchor="t"/>
          <a:lstStyle/>
          <a:p>
            <a:pPr indent="0" marL="0">
              <a:buNone/>
            </a:pPr>
            <a:r>
              <a:rPr lang="en-US" sz="1800" dirty="0">
                <a:solidFill>
                  <a:srgbClr val="0F1E2A"/>
                </a:solidFill>
                <a:latin typeface="Calibri" pitchFamily="34" charset="0"/>
                <a:ea typeface="Calibri" pitchFamily="34" charset="-122"/>
                <a:cs typeface="Calibri" pitchFamily="34" charset="-120"/>
              </a:rPr>
              <a:t>Rollar, audit, anonim tadqiqot eksporti</a:t>
            </a:r>
            <a:endParaRPr lang="en-US" sz="1800" dirty="0"/>
          </a:p>
        </p:txBody>
      </p:sp>
      <p:pic>
        <p:nvPicPr>
          <p:cNvPr id="12" name="Image 4" descr="preencoded.png">    </p:cNvPr>
          <p:cNvPicPr>
            <a:picLocks noChangeAspect="1"/>
          </p:cNvPicPr>
          <p:nvPr/>
        </p:nvPicPr>
        <p:blipFill>
          <a:blip r:embed="rId5"/>
          <a:stretch>
            <a:fillRect/>
          </a:stretch>
        </p:blipFill>
        <p:spPr>
          <a:xfrm>
            <a:off x="548640" y="4471416"/>
            <a:ext cx="329184" cy="329184"/>
          </a:xfrm>
          <a:prstGeom prst="rect">
            <a:avLst/>
          </a:prstGeom>
        </p:spPr>
      </p:pic>
      <p:sp>
        <p:nvSpPr>
          <p:cNvPr id="13" name="Text 6"/>
          <p:cNvSpPr txBox="1"/>
          <p:nvPr/>
        </p:nvSpPr>
        <p:spPr>
          <a:xfrm>
            <a:off x="1051560" y="4453128"/>
            <a:ext cx="5760720" cy="411480"/>
          </a:xfrm>
          <a:prstGeom prst="rect">
            <a:avLst/>
          </a:prstGeom>
          <a:noFill/>
          <a:ln/>
        </p:spPr>
        <p:txBody>
          <a:bodyPr wrap="square" lIns="0" tIns="0" rIns="0" bIns="0" rtlCol="0" anchor="t"/>
          <a:lstStyle/>
          <a:p>
            <a:pPr indent="0" marL="0">
              <a:buNone/>
            </a:pPr>
            <a:r>
              <a:rPr lang="en-US" sz="1800" dirty="0">
                <a:solidFill>
                  <a:srgbClr val="0F1E2A"/>
                </a:solidFill>
                <a:latin typeface="Calibri" pitchFamily="34" charset="0"/>
                <a:ea typeface="Calibri" pitchFamily="34" charset="-122"/>
                <a:cs typeface="Calibri" pitchFamily="34" charset="-120"/>
              </a:rPr>
              <a:t>77 ta avtomatik test · HTTPS · kunlik backup</a:t>
            </a:r>
            <a:endParaRPr lang="en-US" sz="1800" dirty="0"/>
          </a:p>
        </p:txBody>
      </p:sp>
      <p:sp>
        <p:nvSpPr>
          <p:cNvPr id="14" name="Shape 7"/>
          <p:cNvSpPr/>
          <p:nvPr/>
        </p:nvSpPr>
        <p:spPr>
          <a:xfrm>
            <a:off x="7040880" y="1920240"/>
            <a:ext cx="4599432" cy="3200400"/>
          </a:xfrm>
          <a:prstGeom prst="roundRect">
            <a:avLst>
              <a:gd name="adj" fmla="val 3429"/>
            </a:avLst>
          </a:prstGeom>
          <a:solidFill>
            <a:srgbClr val="0F1E2A"/>
          </a:solidFill>
          <a:ln/>
        </p:spPr>
      </p:sp>
      <p:sp>
        <p:nvSpPr>
          <p:cNvPr id="15" name="Text 8"/>
          <p:cNvSpPr txBox="1"/>
          <p:nvPr/>
        </p:nvSpPr>
        <p:spPr>
          <a:xfrm>
            <a:off x="7315200" y="2194560"/>
            <a:ext cx="4023360" cy="320040"/>
          </a:xfrm>
          <a:prstGeom prst="rect">
            <a:avLst/>
          </a:prstGeom>
          <a:noFill/>
          <a:ln/>
        </p:spPr>
        <p:txBody>
          <a:bodyPr wrap="square" lIns="0" tIns="0" rIns="0" bIns="0" rtlCol="0" anchor="t"/>
          <a:lstStyle/>
          <a:p>
            <a:pPr indent="0" marL="0">
              <a:buNone/>
            </a:pPr>
            <a:r>
              <a:rPr lang="en-US" sz="1200" b="1" spc="200" kern="0" dirty="0">
                <a:solidFill>
                  <a:srgbClr val="7FD3DF"/>
                </a:solidFill>
                <a:latin typeface="Calibri" pitchFamily="34" charset="0"/>
                <a:ea typeface="Calibri" pitchFamily="34" charset="-122"/>
                <a:cs typeface="Calibri" pitchFamily="34" charset="-120"/>
              </a:rPr>
              <a:t>JONLI DEMO</a:t>
            </a:r>
            <a:endParaRPr lang="en-US" sz="1200" dirty="0"/>
          </a:p>
        </p:txBody>
      </p:sp>
      <p:sp>
        <p:nvSpPr>
          <p:cNvPr id="16" name="Text 9"/>
          <p:cNvSpPr txBox="1"/>
          <p:nvPr/>
        </p:nvSpPr>
        <p:spPr>
          <a:xfrm>
            <a:off x="7315200" y="2606040"/>
            <a:ext cx="4114800" cy="54864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nafas.plagiatx.uz</a:t>
            </a:r>
            <a:endParaRPr lang="en-US" sz="2600" dirty="0"/>
          </a:p>
        </p:txBody>
      </p:sp>
      <p:sp>
        <p:nvSpPr>
          <p:cNvPr id="17" name="Text 10"/>
          <p:cNvSpPr txBox="1"/>
          <p:nvPr/>
        </p:nvSpPr>
        <p:spPr>
          <a:xfrm>
            <a:off x="7315200" y="3291840"/>
            <a:ext cx="4023360" cy="731520"/>
          </a:xfrm>
          <a:prstGeom prst="rect">
            <a:avLst/>
          </a:prstGeom>
          <a:noFill/>
          <a:ln/>
        </p:spPr>
        <p:txBody>
          <a:bodyPr wrap="square" lIns="0" tIns="0" rIns="0" bIns="0" rtlCol="0" anchor="t"/>
          <a:lstStyle/>
          <a:p>
            <a:pPr indent="0" marL="0">
              <a:buNone/>
            </a:pPr>
            <a:r>
              <a:rPr lang="en-US" sz="1500" dirty="0">
                <a:solidFill>
                  <a:srgbClr val="BFD3DB"/>
                </a:solidFill>
                <a:latin typeface="Calibri" pitchFamily="34" charset="0"/>
                <a:ea typeface="Calibri" pitchFamily="34" charset="-122"/>
                <a:cs typeface="Calibri" pitchFamily="34" charset="-120"/>
              </a:rPr>
              <a:t>“Demoni koʻrish” — parolsiz, toʻqima bemorlar bilan</a:t>
            </a:r>
            <a:endParaRPr lang="en-US" sz="1500" dirty="0"/>
          </a:p>
        </p:txBody>
      </p:sp>
      <p:sp>
        <p:nvSpPr>
          <p:cNvPr id="18" name="Text 11"/>
          <p:cNvSpPr txBox="1"/>
          <p:nvPr/>
        </p:nvSpPr>
        <p:spPr>
          <a:xfrm>
            <a:off x="7315200" y="4069080"/>
            <a:ext cx="4023360" cy="914400"/>
          </a:xfrm>
          <a:prstGeom prst="rect">
            <a:avLst/>
          </a:prstGeom>
          <a:noFill/>
          <a:ln/>
        </p:spPr>
        <p:txBody>
          <a:bodyPr wrap="square" lIns="0" tIns="0" rIns="0" bIns="0" rtlCol="0" anchor="t"/>
          <a:lstStyle/>
          <a:p>
            <a:pPr indent="0" marL="0">
              <a:buNone/>
            </a:pPr>
            <a:r>
              <a:rPr lang="en-US" sz="1500" dirty="0">
                <a:solidFill>
                  <a:srgbClr val="BFD3DB"/>
                </a:solidFill>
                <a:latin typeface="Calibri" pitchFamily="34" charset="0"/>
                <a:ea typeface="Calibri" pitchFamily="34" charset="-122"/>
                <a:cs typeface="Calibri" pitchFamily="34" charset="-120"/>
              </a:rPr>
              <a:t>Mavjud serverda ~40–200 MB xotira — qoʻshimcha infratuzilma xarajati deyarli yoʻq</a:t>
            </a:r>
            <a:endParaRPr lang="en-US" sz="1500" dirty="0"/>
          </a:p>
        </p:txBody>
      </p:sp>
      <p:sp>
        <p:nvSpPr>
          <p:cNvPr id="19" name="Text 12"/>
          <p:cNvSpPr txBox="1"/>
          <p:nvPr/>
        </p:nvSpPr>
        <p:spPr>
          <a:xfrm>
            <a:off x="548640" y="5440680"/>
            <a:ext cx="11094415" cy="548640"/>
          </a:xfrm>
          <a:prstGeom prst="rect">
            <a:avLst/>
          </a:prstGeom>
          <a:noFill/>
          <a:ln/>
        </p:spPr>
        <p:txBody>
          <a:bodyPr wrap="square" lIns="0" tIns="0" rIns="0" bIns="0" rtlCol="0" anchor="t"/>
          <a:lstStyle/>
          <a:p>
            <a:pPr indent="0" marL="0">
              <a:buNone/>
            </a:pPr>
            <a:r>
              <a:rPr lang="en-US" sz="1600" b="1" dirty="0">
                <a:solidFill>
                  <a:srgbClr val="0F1E2A"/>
                </a:solidFill>
                <a:latin typeface="Calibri" pitchFamily="34" charset="0"/>
                <a:ea typeface="Calibri" pitchFamily="34" charset="-122"/>
                <a:cs typeface="Calibri" pitchFamily="34" charset="-120"/>
              </a:rPr>
              <a:t>Qolgan ishlar: </a:t>
            </a:r>
            <a:pPr indent="0" marL="0">
              <a:buNone/>
            </a:pPr>
            <a:r>
              <a:rPr lang="en-US" sz="1600" dirty="0">
                <a:solidFill>
                  <a:srgbClr val="4A5A67"/>
                </a:solidFill>
                <a:latin typeface="Calibri" pitchFamily="34" charset="0"/>
                <a:ea typeface="Calibri" pitchFamily="34" charset="-122"/>
                <a:cs typeface="Calibri" pitchFamily="34" charset="-120"/>
              </a:rPr>
              <a:t>oʻz domeni · klinik tasdiq (GLI guruhi, model vaznlari, CAT rasmiy tarjimasi)</a:t>
            </a:r>
            <a:endParaRPr lang="en-US" sz="1600" dirty="0"/>
          </a:p>
        </p:txBody>
      </p:sp>
      <p:sp>
        <p:nvSpPr>
          <p:cNvPr id="20" name="Text 13"/>
          <p:cNvSpPr txBox="1"/>
          <p:nvPr/>
        </p:nvSpPr>
        <p:spPr>
          <a:xfrm>
            <a:off x="548640" y="6400800"/>
            <a:ext cx="3657600" cy="274320"/>
          </a:xfrm>
          <a:prstGeom prst="rect">
            <a:avLst/>
          </a:prstGeom>
          <a:noFill/>
          <a:ln/>
        </p:spPr>
        <p:txBody>
          <a:bodyPr wrap="square" lIns="0" tIns="0" rIns="0" bIns="0" rtlCol="0" anchor="t"/>
          <a:lstStyle/>
          <a:p>
            <a:pPr indent="0" marL="0">
              <a:buNone/>
            </a:pPr>
            <a:r>
              <a:rPr lang="en-US" sz="1100" dirty="0">
                <a:solidFill>
                  <a:srgbClr val="6B7B87"/>
                </a:solidFill>
                <a:latin typeface="Calibri" pitchFamily="34" charset="0"/>
                <a:ea typeface="Calibri" pitchFamily="34" charset="-122"/>
                <a:cs typeface="Calibri" pitchFamily="34" charset="-120"/>
              </a:rPr>
              <a:t>NafasNazorat · 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4415" cy="292608"/>
          </a:xfrm>
          <a:prstGeom prst="rect">
            <a:avLst/>
          </a:prstGeom>
          <a:noFill/>
          <a:ln/>
        </p:spPr>
        <p:txBody>
          <a:bodyPr wrap="square" lIns="0" tIns="0" rIns="0" bIns="0" rtlCol="0" anchor="t"/>
          <a:lstStyle/>
          <a:p>
            <a:pPr indent="0" marL="0">
              <a:buNone/>
            </a:pPr>
            <a:r>
              <a:rPr lang="en-US" sz="1300" b="1" spc="300" kern="0" dirty="0">
                <a:solidFill>
                  <a:srgbClr val="0B6E7F"/>
                </a:solidFill>
                <a:latin typeface="Calibri" pitchFamily="34" charset="0"/>
                <a:ea typeface="Calibri" pitchFamily="34" charset="-122"/>
                <a:cs typeface="Calibri" pitchFamily="34" charset="-120"/>
              </a:rPr>
              <a:t>YOʻL XARITASI</a:t>
            </a:r>
            <a:endParaRPr lang="en-US" sz="1300" dirty="0"/>
          </a:p>
        </p:txBody>
      </p:sp>
      <p:sp>
        <p:nvSpPr>
          <p:cNvPr id="3" name="Text 1"/>
          <p:cNvSpPr txBox="1"/>
          <p:nvPr/>
        </p:nvSpPr>
        <p:spPr>
          <a:xfrm>
            <a:off x="548640" y="777240"/>
            <a:ext cx="11094415" cy="960120"/>
          </a:xfrm>
          <a:prstGeom prst="rect">
            <a:avLst/>
          </a:prstGeom>
          <a:noFill/>
          <a:ln/>
        </p:spPr>
        <p:txBody>
          <a:bodyPr wrap="square" lIns="0" tIns="0" rIns="0" bIns="0" rtlCol="0" anchor="t"/>
          <a:lstStyle/>
          <a:p>
            <a:pPr indent="0" marL="0">
              <a:buNone/>
            </a:pPr>
            <a:r>
              <a:rPr lang="en-US" sz="3200" b="1" dirty="0">
                <a:solidFill>
                  <a:srgbClr val="0F1E2A"/>
                </a:solidFill>
                <a:latin typeface="Cambria" pitchFamily="34" charset="0"/>
                <a:ea typeface="Cambria" pitchFamily="34" charset="-122"/>
                <a:cs typeface="Cambria" pitchFamily="34" charset="-120"/>
              </a:rPr>
              <a:t>Har bir bosqich oldingisiga tayanadi</a:t>
            </a:r>
            <a:endParaRPr lang="en-US" sz="3200" dirty="0"/>
          </a:p>
        </p:txBody>
      </p:sp>
      <p:sp>
        <p:nvSpPr>
          <p:cNvPr id="4" name="Shape 2"/>
          <p:cNvSpPr/>
          <p:nvPr/>
        </p:nvSpPr>
        <p:spPr>
          <a:xfrm>
            <a:off x="548640" y="2011680"/>
            <a:ext cx="3515258" cy="109728"/>
          </a:xfrm>
          <a:prstGeom prst="roundRect">
            <a:avLst>
              <a:gd name="adj" fmla="val 50000"/>
            </a:avLst>
          </a:prstGeom>
          <a:solidFill>
            <a:srgbClr val="0B6E7F"/>
          </a:solidFill>
          <a:ln/>
        </p:spPr>
      </p:sp>
      <p:sp>
        <p:nvSpPr>
          <p:cNvPr id="5" name="Text 3"/>
          <p:cNvSpPr txBox="1"/>
          <p:nvPr/>
        </p:nvSpPr>
        <p:spPr>
          <a:xfrm>
            <a:off x="548640" y="2377440"/>
            <a:ext cx="3515258" cy="411480"/>
          </a:xfrm>
          <a:prstGeom prst="rect">
            <a:avLst/>
          </a:prstGeom>
          <a:noFill/>
          <a:ln/>
        </p:spPr>
        <p:txBody>
          <a:bodyPr wrap="square" lIns="0" tIns="0" rIns="0" bIns="0" rtlCol="0" anchor="t"/>
          <a:lstStyle/>
          <a:p>
            <a:pPr indent="0" marL="0">
              <a:buNone/>
            </a:pPr>
            <a:r>
              <a:rPr lang="en-US" sz="1800" b="1" dirty="0">
                <a:solidFill>
                  <a:srgbClr val="0B6E7F"/>
                </a:solidFill>
                <a:latin typeface="Calibri" pitchFamily="34" charset="0"/>
                <a:ea typeface="Calibri" pitchFamily="34" charset="-122"/>
                <a:cs typeface="Calibri" pitchFamily="34" charset="-120"/>
              </a:rPr>
              <a:t>0–[__] oy · Asos</a:t>
            </a:r>
            <a:endParaRPr lang="en-US" sz="1800" dirty="0"/>
          </a:p>
        </p:txBody>
      </p:sp>
      <p:sp>
        <p:nvSpPr>
          <p:cNvPr id="6" name="Text 4"/>
          <p:cNvSpPr txBox="1"/>
          <p:nvPr/>
        </p:nvSpPr>
        <p:spPr>
          <a:xfrm>
            <a:off x="548640" y="2926080"/>
            <a:ext cx="3515258" cy="21945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4A5A67"/>
                </a:solidFill>
                <a:latin typeface="Calibri" pitchFamily="34" charset="0"/>
                <a:ea typeface="Calibri" pitchFamily="34" charset="-122"/>
                <a:cs typeface="Calibri" pitchFamily="34" charset="-120"/>
              </a:rPr>
              <a:t>Klinik tasdiq va CAT tarjimasi</a:t>
            </a:r>
            <a:endParaRPr lang="en-US" sz="1600" dirty="0"/>
          </a:p>
          <a:p>
            <a:pPr marL="342900" indent="-342900">
              <a:spcAft>
                <a:spcPts val="800"/>
              </a:spcAft>
              <a:buSzPct val="100000"/>
              <a:buChar char="•"/>
            </a:pPr>
            <a:r>
              <a:rPr lang="en-US" sz="1600" dirty="0">
                <a:solidFill>
                  <a:srgbClr val="4A5A67"/>
                </a:solidFill>
                <a:latin typeface="Calibri" pitchFamily="34" charset="0"/>
                <a:ea typeface="Calibri" pitchFamily="34" charset="-122"/>
                <a:cs typeface="Calibri" pitchFamily="34" charset="-120"/>
              </a:rPr>
              <a:t>[__] ta punktda pilot</a:t>
            </a:r>
            <a:endParaRPr lang="en-US" sz="1600" dirty="0"/>
          </a:p>
          <a:p>
            <a:pPr marL="342900" indent="-342900">
              <a:spcAft>
                <a:spcPts val="800"/>
              </a:spcAft>
              <a:buSzPct val="100000"/>
              <a:buChar char="•"/>
            </a:pPr>
            <a:r>
              <a:rPr lang="en-US" sz="1600" dirty="0">
                <a:solidFill>
                  <a:srgbClr val="4A5A67"/>
                </a:solidFill>
                <a:latin typeface="Calibri" pitchFamily="34" charset="0"/>
                <a:ea typeface="Calibri" pitchFamily="34" charset="-122"/>
                <a:cs typeface="Calibri" pitchFamily="34" charset="-120"/>
              </a:rPr>
              <a:t>Shifokorlarni oʻqitish</a:t>
            </a:r>
            <a:endParaRPr lang="en-US" sz="1600" dirty="0"/>
          </a:p>
        </p:txBody>
      </p:sp>
      <p:sp>
        <p:nvSpPr>
          <p:cNvPr id="7" name="Shape 5"/>
          <p:cNvSpPr/>
          <p:nvPr/>
        </p:nvSpPr>
        <p:spPr>
          <a:xfrm>
            <a:off x="4338218" y="2011680"/>
            <a:ext cx="3515258" cy="109728"/>
          </a:xfrm>
          <a:prstGeom prst="roundRect">
            <a:avLst>
              <a:gd name="adj" fmla="val 50000"/>
            </a:avLst>
          </a:prstGeom>
          <a:solidFill>
            <a:srgbClr val="2F7F8C"/>
          </a:solidFill>
          <a:ln/>
        </p:spPr>
      </p:sp>
      <p:sp>
        <p:nvSpPr>
          <p:cNvPr id="8" name="Text 6"/>
          <p:cNvSpPr txBox="1"/>
          <p:nvPr/>
        </p:nvSpPr>
        <p:spPr>
          <a:xfrm>
            <a:off x="4338218" y="2377440"/>
            <a:ext cx="3515258" cy="411480"/>
          </a:xfrm>
          <a:prstGeom prst="rect">
            <a:avLst/>
          </a:prstGeom>
          <a:noFill/>
          <a:ln/>
        </p:spPr>
        <p:txBody>
          <a:bodyPr wrap="square" lIns="0" tIns="0" rIns="0" bIns="0" rtlCol="0" anchor="t"/>
          <a:lstStyle/>
          <a:p>
            <a:pPr indent="0" marL="0">
              <a:buNone/>
            </a:pPr>
            <a:r>
              <a:rPr lang="en-US" sz="1800" b="1" dirty="0">
                <a:solidFill>
                  <a:srgbClr val="2F7F8C"/>
                </a:solidFill>
                <a:latin typeface="Calibri" pitchFamily="34" charset="0"/>
                <a:ea typeface="Calibri" pitchFamily="34" charset="-122"/>
                <a:cs typeface="Calibri" pitchFamily="34" charset="-120"/>
              </a:rPr>
              <a:t>[__]–[__] oy · Yuksaltirish</a:t>
            </a:r>
            <a:endParaRPr lang="en-US" sz="1800" dirty="0"/>
          </a:p>
        </p:txBody>
      </p:sp>
      <p:sp>
        <p:nvSpPr>
          <p:cNvPr id="9" name="Text 7"/>
          <p:cNvSpPr txBox="1"/>
          <p:nvPr/>
        </p:nvSpPr>
        <p:spPr>
          <a:xfrm>
            <a:off x="4338218" y="2926080"/>
            <a:ext cx="3515258" cy="21945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4A5A67"/>
                </a:solidFill>
                <a:latin typeface="Calibri" pitchFamily="34" charset="0"/>
                <a:ea typeface="Calibri" pitchFamily="34" charset="-122"/>
                <a:cs typeface="Calibri" pitchFamily="34" charset="-120"/>
              </a:rPr>
              <a:t>Qurilma tanlash va sinash</a:t>
            </a:r>
            <a:endParaRPr lang="en-US" sz="1600" dirty="0"/>
          </a:p>
          <a:p>
            <a:pPr marL="342900" indent="-342900">
              <a:spcAft>
                <a:spcPts val="800"/>
              </a:spcAft>
              <a:buSzPct val="100000"/>
              <a:buChar char="•"/>
            </a:pPr>
            <a:r>
              <a:rPr lang="en-US" sz="1600" dirty="0">
                <a:solidFill>
                  <a:srgbClr val="4A5A67"/>
                </a:solidFill>
                <a:latin typeface="Calibri" pitchFamily="34" charset="0"/>
                <a:ea typeface="Calibri" pitchFamily="34" charset="-122"/>
                <a:cs typeface="Calibri" pitchFamily="34" charset="-120"/>
              </a:rPr>
              <a:t>Bluetooth/USB integratsiya</a:t>
            </a:r>
            <a:endParaRPr lang="en-US" sz="1600" dirty="0"/>
          </a:p>
          <a:p>
            <a:pPr marL="342900" indent="-342900">
              <a:spcAft>
                <a:spcPts val="800"/>
              </a:spcAft>
              <a:buSzPct val="100000"/>
              <a:buChar char="•"/>
            </a:pPr>
            <a:r>
              <a:rPr lang="en-US" sz="1600" dirty="0">
                <a:solidFill>
                  <a:srgbClr val="4A5A67"/>
                </a:solidFill>
                <a:latin typeface="Calibri" pitchFamily="34" charset="0"/>
                <a:ea typeface="Calibri" pitchFamily="34" charset="-122"/>
                <a:cs typeface="Calibri" pitchFamily="34" charset="-120"/>
              </a:rPr>
              <a:t>Model validatsiyasi natijasi</a:t>
            </a:r>
            <a:endParaRPr lang="en-US" sz="1600" dirty="0"/>
          </a:p>
        </p:txBody>
      </p:sp>
      <p:sp>
        <p:nvSpPr>
          <p:cNvPr id="10" name="Shape 8"/>
          <p:cNvSpPr/>
          <p:nvPr/>
        </p:nvSpPr>
        <p:spPr>
          <a:xfrm>
            <a:off x="8127797" y="2011680"/>
            <a:ext cx="3515258" cy="109728"/>
          </a:xfrm>
          <a:prstGeom prst="roundRect">
            <a:avLst>
              <a:gd name="adj" fmla="val 50000"/>
            </a:avLst>
          </a:prstGeom>
          <a:solidFill>
            <a:srgbClr val="6B5BA8"/>
          </a:solidFill>
          <a:ln/>
        </p:spPr>
      </p:sp>
      <p:sp>
        <p:nvSpPr>
          <p:cNvPr id="11" name="Text 9"/>
          <p:cNvSpPr txBox="1"/>
          <p:nvPr/>
        </p:nvSpPr>
        <p:spPr>
          <a:xfrm>
            <a:off x="8127797" y="2377440"/>
            <a:ext cx="3515258" cy="411480"/>
          </a:xfrm>
          <a:prstGeom prst="rect">
            <a:avLst/>
          </a:prstGeom>
          <a:noFill/>
          <a:ln/>
        </p:spPr>
        <p:txBody>
          <a:bodyPr wrap="square" lIns="0" tIns="0" rIns="0" bIns="0" rtlCol="0" anchor="t"/>
          <a:lstStyle/>
          <a:p>
            <a:pPr indent="0" marL="0">
              <a:buNone/>
            </a:pPr>
            <a:r>
              <a:rPr lang="en-US" sz="1800" b="1" dirty="0">
                <a:solidFill>
                  <a:srgbClr val="6B5BA8"/>
                </a:solidFill>
                <a:latin typeface="Calibri" pitchFamily="34" charset="0"/>
                <a:ea typeface="Calibri" pitchFamily="34" charset="-122"/>
                <a:cs typeface="Calibri" pitchFamily="34" charset="-120"/>
              </a:rPr>
              <a:t>[__]+ oy · Tadqiqot</a:t>
            </a:r>
            <a:endParaRPr lang="en-US" sz="1800" dirty="0"/>
          </a:p>
        </p:txBody>
      </p:sp>
      <p:sp>
        <p:nvSpPr>
          <p:cNvPr id="12" name="Text 10"/>
          <p:cNvSpPr txBox="1"/>
          <p:nvPr/>
        </p:nvSpPr>
        <p:spPr>
          <a:xfrm>
            <a:off x="8127797" y="2926080"/>
            <a:ext cx="3515258" cy="21945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4A5A67"/>
                </a:solidFill>
                <a:latin typeface="Calibri" pitchFamily="34" charset="0"/>
                <a:ea typeface="Calibri" pitchFamily="34" charset="-122"/>
                <a:cs typeface="Calibri" pitchFamily="34" charset="-120"/>
              </a:rPr>
              <a:t>Mikrofon + spirometr juft oʻlchov</a:t>
            </a:r>
            <a:endParaRPr lang="en-US" sz="1600" dirty="0"/>
          </a:p>
          <a:p>
            <a:pPr marL="342900" indent="-342900">
              <a:spcAft>
                <a:spcPts val="800"/>
              </a:spcAft>
              <a:buSzPct val="100000"/>
              <a:buChar char="•"/>
            </a:pPr>
            <a:r>
              <a:rPr lang="en-US" sz="1600" dirty="0">
                <a:solidFill>
                  <a:srgbClr val="4A5A67"/>
                </a:solidFill>
                <a:latin typeface="Calibri" pitchFamily="34" charset="0"/>
                <a:ea typeface="Calibri" pitchFamily="34" charset="-122"/>
                <a:cs typeface="Calibri" pitchFamily="34" charset="-120"/>
              </a:rPr>
              <a:t>Aniqlik tahlili</a:t>
            </a:r>
            <a:endParaRPr lang="en-US" sz="1600" dirty="0"/>
          </a:p>
          <a:p>
            <a:pPr marL="342900" indent="-342900">
              <a:spcAft>
                <a:spcPts val="800"/>
              </a:spcAft>
              <a:buSzPct val="100000"/>
              <a:buChar char="•"/>
            </a:pPr>
            <a:r>
              <a:rPr lang="en-US" sz="1600" dirty="0">
                <a:solidFill>
                  <a:srgbClr val="4A5A67"/>
                </a:solidFill>
                <a:latin typeface="Calibri" pitchFamily="34" charset="0"/>
                <a:ea typeface="Calibri" pitchFamily="34" charset="-122"/>
                <a:cs typeface="Calibri" pitchFamily="34" charset="-120"/>
              </a:rPr>
              <a:t>Ilmiy maqola</a:t>
            </a:r>
            <a:endParaRPr lang="en-US" sz="1600" dirty="0"/>
          </a:p>
        </p:txBody>
      </p:sp>
      <p:sp>
        <p:nvSpPr>
          <p:cNvPr id="13" name="Text 11"/>
          <p:cNvSpPr txBox="1"/>
          <p:nvPr/>
        </p:nvSpPr>
        <p:spPr>
          <a:xfrm>
            <a:off x="548640" y="6400800"/>
            <a:ext cx="3657600" cy="274320"/>
          </a:xfrm>
          <a:prstGeom prst="rect">
            <a:avLst/>
          </a:prstGeom>
          <a:noFill/>
          <a:ln/>
        </p:spPr>
        <p:txBody>
          <a:bodyPr wrap="square" lIns="0" tIns="0" rIns="0" bIns="0" rtlCol="0" anchor="t"/>
          <a:lstStyle/>
          <a:p>
            <a:pPr indent="0" marL="0">
              <a:buNone/>
            </a:pPr>
            <a:r>
              <a:rPr lang="en-US" sz="1100" dirty="0">
                <a:solidFill>
                  <a:srgbClr val="6B7B87"/>
                </a:solidFill>
                <a:latin typeface="Calibri" pitchFamily="34" charset="0"/>
                <a:ea typeface="Calibri" pitchFamily="34" charset="-122"/>
                <a:cs typeface="Calibri" pitchFamily="34" charset="-120"/>
              </a:rPr>
              <a:t>NafasNazorat · 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E2A"/>
        </a:solidFill>
      </p:bgPr>
    </p:bg>
    <p:spTree>
      <p:nvGrpSpPr>
        <p:cNvPr id="1" name=""/>
        <p:cNvGrpSpPr/>
        <p:nvPr/>
      </p:nvGrpSpPr>
      <p:grpSpPr>
        <a:xfrm>
          <a:off x="0" y="0"/>
          <a:ext cx="0" cy="0"/>
          <a:chOff x="0" y="0"/>
          <a:chExt cx="0" cy="0"/>
        </a:xfrm>
      </p:grpSpPr>
      <p:sp>
        <p:nvSpPr>
          <p:cNvPr id="2" name="Text 0"/>
          <p:cNvSpPr txBox="1"/>
          <p:nvPr/>
        </p:nvSpPr>
        <p:spPr>
          <a:xfrm>
            <a:off x="548640" y="640080"/>
            <a:ext cx="11094415" cy="292608"/>
          </a:xfrm>
          <a:prstGeom prst="rect">
            <a:avLst/>
          </a:prstGeom>
          <a:noFill/>
          <a:ln/>
        </p:spPr>
        <p:txBody>
          <a:bodyPr wrap="square" lIns="0" tIns="0" rIns="0" bIns="0" rtlCol="0" anchor="t"/>
          <a:lstStyle/>
          <a:p>
            <a:pPr indent="0" marL="0">
              <a:buNone/>
            </a:pPr>
            <a:r>
              <a:rPr lang="en-US" sz="1300" b="1" spc="300" kern="0" dirty="0">
                <a:solidFill>
                  <a:srgbClr val="7FD3DF"/>
                </a:solidFill>
                <a:latin typeface="Calibri" pitchFamily="34" charset="0"/>
                <a:ea typeface="Calibri" pitchFamily="34" charset="-122"/>
                <a:cs typeface="Calibri" pitchFamily="34" charset="-120"/>
              </a:rPr>
              <a:t>SOʻROV</a:t>
            </a:r>
            <a:endParaRPr lang="en-US" sz="1300" dirty="0"/>
          </a:p>
        </p:txBody>
      </p:sp>
      <p:sp>
        <p:nvSpPr>
          <p:cNvPr id="3" name="Text 1"/>
          <p:cNvSpPr txBox="1"/>
          <p:nvPr/>
        </p:nvSpPr>
        <p:spPr>
          <a:xfrm>
            <a:off x="548640" y="1005840"/>
            <a:ext cx="11094415" cy="1371600"/>
          </a:xfrm>
          <a:prstGeom prst="rect">
            <a:avLst/>
          </a:prstGeom>
          <a:noFill/>
          <a:ln/>
        </p:spPr>
        <p:txBody>
          <a:bodyPr wrap="square" lIns="0" tIns="0" rIns="0" bIns="0" rtlCol="0" anchor="t"/>
          <a:lstStyle/>
          <a:p>
            <a:pPr indent="0" marL="0">
              <a:buNone/>
            </a:pPr>
            <a:r>
              <a:rPr lang="en-US" sz="3800" b="1" dirty="0">
                <a:solidFill>
                  <a:srgbClr val="F6F8FA"/>
                </a:solidFill>
                <a:latin typeface="Cambria" pitchFamily="34" charset="0"/>
                <a:ea typeface="Cambria" pitchFamily="34" charset="-122"/>
                <a:cs typeface="Cambria" pitchFamily="34" charset="-120"/>
              </a:rPr>
              <a:t>Asos bugun tayyor. Bizga pilot uchun hamkorlik kerak.</a:t>
            </a:r>
            <a:endParaRPr lang="en-US" sz="3800" dirty="0"/>
          </a:p>
        </p:txBody>
      </p:sp>
      <p:sp>
        <p:nvSpPr>
          <p:cNvPr id="4" name="Shape 2"/>
          <p:cNvSpPr/>
          <p:nvPr/>
        </p:nvSpPr>
        <p:spPr>
          <a:xfrm>
            <a:off x="548640" y="2743200"/>
            <a:ext cx="3515258" cy="1828800"/>
          </a:xfrm>
          <a:prstGeom prst="roundRect">
            <a:avLst>
              <a:gd name="adj" fmla="val 6000"/>
            </a:avLst>
          </a:prstGeom>
          <a:solidFill>
            <a:srgbClr val="16293A"/>
          </a:solidFill>
          <a:ln/>
        </p:spPr>
      </p:sp>
      <p:sp>
        <p:nvSpPr>
          <p:cNvPr id="5" name="Text 3"/>
          <p:cNvSpPr txBox="1"/>
          <p:nvPr/>
        </p:nvSpPr>
        <p:spPr>
          <a:xfrm>
            <a:off x="868680" y="3017520"/>
            <a:ext cx="2875178" cy="68580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[__] soʻm</a:t>
            </a:r>
            <a:endParaRPr lang="en-US" sz="3000" dirty="0"/>
          </a:p>
        </p:txBody>
      </p:sp>
      <p:sp>
        <p:nvSpPr>
          <p:cNvPr id="6" name="Text 4"/>
          <p:cNvSpPr txBox="1"/>
          <p:nvPr/>
        </p:nvSpPr>
        <p:spPr>
          <a:xfrm>
            <a:off x="868680" y="3794760"/>
            <a:ext cx="2875178" cy="640080"/>
          </a:xfrm>
          <a:prstGeom prst="rect">
            <a:avLst/>
          </a:prstGeom>
          <a:noFill/>
          <a:ln/>
        </p:spPr>
        <p:txBody>
          <a:bodyPr wrap="square" lIns="0" tIns="0" rIns="0" bIns="0" rtlCol="0" anchor="t"/>
          <a:lstStyle/>
          <a:p>
            <a:pPr indent="0" marL="0">
              <a:buNone/>
            </a:pPr>
            <a:r>
              <a:rPr lang="en-US" sz="1500" dirty="0">
                <a:solidFill>
                  <a:srgbClr val="BFD3DB"/>
                </a:solidFill>
                <a:latin typeface="Calibri" pitchFamily="34" charset="0"/>
                <a:ea typeface="Calibri" pitchFamily="34" charset="-122"/>
                <a:cs typeface="Calibri" pitchFamily="34" charset="-120"/>
              </a:rPr>
              <a:t>Grant: pilot, oʻqitish, qurilmalar</a:t>
            </a:r>
            <a:endParaRPr lang="en-US" sz="1500" dirty="0"/>
          </a:p>
        </p:txBody>
      </p:sp>
      <p:sp>
        <p:nvSpPr>
          <p:cNvPr id="7" name="Shape 5"/>
          <p:cNvSpPr/>
          <p:nvPr/>
        </p:nvSpPr>
        <p:spPr>
          <a:xfrm>
            <a:off x="4338218" y="2743200"/>
            <a:ext cx="3515258" cy="1828800"/>
          </a:xfrm>
          <a:prstGeom prst="roundRect">
            <a:avLst>
              <a:gd name="adj" fmla="val 6000"/>
            </a:avLst>
          </a:prstGeom>
          <a:solidFill>
            <a:srgbClr val="16293A"/>
          </a:solidFill>
          <a:ln/>
        </p:spPr>
      </p:sp>
      <p:sp>
        <p:nvSpPr>
          <p:cNvPr id="8" name="Text 6"/>
          <p:cNvSpPr txBox="1"/>
          <p:nvPr/>
        </p:nvSpPr>
        <p:spPr>
          <a:xfrm>
            <a:off x="4658258" y="3017520"/>
            <a:ext cx="2875178" cy="68580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[__] ta punkt</a:t>
            </a:r>
            <a:endParaRPr lang="en-US" sz="3000" dirty="0"/>
          </a:p>
        </p:txBody>
      </p:sp>
      <p:sp>
        <p:nvSpPr>
          <p:cNvPr id="9" name="Text 7"/>
          <p:cNvSpPr txBox="1"/>
          <p:nvPr/>
        </p:nvSpPr>
        <p:spPr>
          <a:xfrm>
            <a:off x="4658258" y="3794760"/>
            <a:ext cx="2875178" cy="640080"/>
          </a:xfrm>
          <a:prstGeom prst="rect">
            <a:avLst/>
          </a:prstGeom>
          <a:noFill/>
          <a:ln/>
        </p:spPr>
        <p:txBody>
          <a:bodyPr wrap="square" lIns="0" tIns="0" rIns="0" bIns="0" rtlCol="0" anchor="t"/>
          <a:lstStyle/>
          <a:p>
            <a:pPr indent="0" marL="0">
              <a:buNone/>
            </a:pPr>
            <a:r>
              <a:rPr lang="en-US" sz="1500" dirty="0">
                <a:solidFill>
                  <a:srgbClr val="BFD3DB"/>
                </a:solidFill>
                <a:latin typeface="Calibri" pitchFamily="34" charset="0"/>
                <a:ea typeface="Calibri" pitchFamily="34" charset="-122"/>
                <a:cs typeface="Calibri" pitchFamily="34" charset="-120"/>
              </a:rPr>
              <a:t>Pilot uchun hamkor poliklinikalar</a:t>
            </a:r>
            <a:endParaRPr lang="en-US" sz="1500" dirty="0"/>
          </a:p>
        </p:txBody>
      </p:sp>
      <p:sp>
        <p:nvSpPr>
          <p:cNvPr id="10" name="Shape 8"/>
          <p:cNvSpPr/>
          <p:nvPr/>
        </p:nvSpPr>
        <p:spPr>
          <a:xfrm>
            <a:off x="8127797" y="2743200"/>
            <a:ext cx="3515258" cy="1828800"/>
          </a:xfrm>
          <a:prstGeom prst="roundRect">
            <a:avLst>
              <a:gd name="adj" fmla="val 6000"/>
            </a:avLst>
          </a:prstGeom>
          <a:solidFill>
            <a:srgbClr val="16293A"/>
          </a:solidFill>
          <a:ln/>
        </p:spPr>
      </p:sp>
      <p:sp>
        <p:nvSpPr>
          <p:cNvPr id="11" name="Text 9"/>
          <p:cNvSpPr txBox="1"/>
          <p:nvPr/>
        </p:nvSpPr>
        <p:spPr>
          <a:xfrm>
            <a:off x="8447837" y="3017520"/>
            <a:ext cx="2875178" cy="68580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Pulmonolog</a:t>
            </a:r>
            <a:endParaRPr lang="en-US" sz="3000" dirty="0"/>
          </a:p>
        </p:txBody>
      </p:sp>
      <p:sp>
        <p:nvSpPr>
          <p:cNvPr id="12" name="Text 10"/>
          <p:cNvSpPr txBox="1"/>
          <p:nvPr/>
        </p:nvSpPr>
        <p:spPr>
          <a:xfrm>
            <a:off x="8447837" y="3794760"/>
            <a:ext cx="2875178" cy="640080"/>
          </a:xfrm>
          <a:prstGeom prst="rect">
            <a:avLst/>
          </a:prstGeom>
          <a:noFill/>
          <a:ln/>
        </p:spPr>
        <p:txBody>
          <a:bodyPr wrap="square" lIns="0" tIns="0" rIns="0" bIns="0" rtlCol="0" anchor="t"/>
          <a:lstStyle/>
          <a:p>
            <a:pPr indent="0" marL="0">
              <a:buNone/>
            </a:pPr>
            <a:r>
              <a:rPr lang="en-US" sz="1500" dirty="0">
                <a:solidFill>
                  <a:srgbClr val="BFD3DB"/>
                </a:solidFill>
                <a:latin typeface="Calibri" pitchFamily="34" charset="0"/>
                <a:ea typeface="Calibri" pitchFamily="34" charset="-122"/>
                <a:cs typeface="Calibri" pitchFamily="34" charset="-120"/>
              </a:rPr>
              <a:t>Klinik maslahatchi va tasdiq</a:t>
            </a:r>
            <a:endParaRPr lang="en-US" sz="1500" dirty="0"/>
          </a:p>
        </p:txBody>
      </p:sp>
      <p:sp>
        <p:nvSpPr>
          <p:cNvPr id="13" name="Text 11"/>
          <p:cNvSpPr txBox="1"/>
          <p:nvPr/>
        </p:nvSpPr>
        <p:spPr>
          <a:xfrm>
            <a:off x="548640" y="5577840"/>
            <a:ext cx="5486400" cy="457200"/>
          </a:xfrm>
          <a:prstGeom prst="rect">
            <a:avLst/>
          </a:prstGeom>
          <a:noFill/>
          <a:ln/>
        </p:spPr>
        <p:txBody>
          <a:bodyPr wrap="square" lIns="0" tIns="0" rIns="0" bIns="0" rtlCol="0" anchor="t"/>
          <a:lstStyle/>
          <a:p>
            <a:pPr indent="0" marL="0">
              <a:buNone/>
            </a:pPr>
            <a:r>
              <a:rPr lang="en-US" sz="2000" dirty="0">
                <a:solidFill>
                  <a:srgbClr val="F6F8FA"/>
                </a:solidFill>
                <a:latin typeface="Calibri" pitchFamily="34" charset="0"/>
                <a:ea typeface="Calibri" pitchFamily="34" charset="-122"/>
                <a:cs typeface="Calibri" pitchFamily="34" charset="-120"/>
              </a:rPr>
              <a:t>Rahmat! Savollaringizga tayyorman.</a:t>
            </a:r>
            <a:endParaRPr lang="en-US" sz="2000" dirty="0"/>
          </a:p>
        </p:txBody>
      </p:sp>
      <p:sp>
        <p:nvSpPr>
          <p:cNvPr id="14" name="Text 12"/>
          <p:cNvSpPr txBox="1"/>
          <p:nvPr/>
        </p:nvSpPr>
        <p:spPr>
          <a:xfrm>
            <a:off x="6126480" y="5623560"/>
            <a:ext cx="5513832" cy="411480"/>
          </a:xfrm>
          <a:prstGeom prst="rect">
            <a:avLst/>
          </a:prstGeom>
          <a:noFill/>
          <a:ln/>
        </p:spPr>
        <p:txBody>
          <a:bodyPr wrap="square" lIns="0" tIns="0" rIns="0" bIns="0" rtlCol="0" anchor="t"/>
          <a:lstStyle/>
          <a:p>
            <a:pPr algn="r" indent="0" marL="0">
              <a:buNone/>
            </a:pPr>
            <a:r>
              <a:rPr lang="en-US" sz="1500" dirty="0">
                <a:solidFill>
                  <a:srgbClr val="9FB7C2"/>
                </a:solidFill>
                <a:latin typeface="Calibri" pitchFamily="34" charset="0"/>
                <a:ea typeface="Calibri" pitchFamily="34" charset="-122"/>
                <a:cs typeface="Calibri" pitchFamily="34" charset="-120"/>
              </a:rPr>
              <a:t>nafas.plagiatx.uz · [ism, telefon, email]</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NafasNazorat — loyiha taqdimoti</dc:title>
  <dc:subject>PptxGenJS Presentation</dc:subject>
  <dc:creator>NafasNazorat</dc:creator>
  <cp:lastModifiedBy>NafasNazorat</cp:lastModifiedBy>
  <cp:revision>1</cp:revision>
  <dcterms:created xsi:type="dcterms:W3CDTF">2026-10-13T09:55:38Z</dcterms:created>
  <dcterms:modified xsi:type="dcterms:W3CDTF">2026-10-13T09:55:38Z</dcterms:modified>
</cp:coreProperties>
</file>