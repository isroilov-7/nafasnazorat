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Kirish" id="{0d0d969b-d3ae-3bb7-bd57-ccd49ffb1f8b}">
          <p14:sldIdLst>
            <p14:sldId id="256"/>
          </p14:sldIdLst>
        </p14:section>
        <p14:section name="Muammo" id="{a9c09ee1-7726-3d16-0f32-5d51243aa9d5}">
          <p14:sldIdLst>
            <p14:sldId id="257"/>
          </p14:sldIdLst>
        </p14:section>
        <p14:section name="Yechim" id="{1d2e0fcd-952f-bdd9-6df3-c7c66d22c03b}">
          <p14:sldIdLst>
            <p14:sldId id="258"/>
            <p14:sldId id="259"/>
          </p14:sldIdLst>
        </p14:section>
        <p14:section name="Xavf modeli" id="{9c64bc2c-1e77-eab5-e0d0-2a78c0f0421b}">
          <p14:sldIdLst>
            <p14:sldId id="260"/>
            <p14:sldId id="261"/>
            <p14:sldId id="262"/>
          </p14:sldIdLst>
        </p14:section>
        <p14:section name="Keyingi bosqichlar" id="{fed1239f-e19c-0fb1-8668-50e8ad8bdac0}">
          <p14:sldIdLst>
            <p14:sldId id="263"/>
            <p14:sldId id="264"/>
          </p14:sldIdLst>
        </p14:section>
        <p14:section name="Dalillar" id="{795b3105-6e04-0660-4405-d673525a9043}">
          <p14:sldIdLst>
            <p14:sldId id="265"/>
          </p14:sldIdLst>
        </p14:section>
        <p14:section name="Maʼlumotlar" id="{5fa60f68-ce50-7a6d-abb1-3d73a6c70fe2}">
          <p14:sldIdLst>
            <p14:sldId id="266"/>
          </p14:sldIdLst>
        </p14:section>
        <p14:section name="Yakun" id="{849f218d-b336-8bfc-89f2-d6a27b6ed371}">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Assalomu alaykum. NafasNazorat — oilaviy shifokor va hamshira uchun raqamli yordamchi: oʻpkaning surunkali obstruktiv kasalligi — OSOKni spirometr boʻlmasa ham erta aniqlash, bemorni kerakli joyga yoʻllash va spirometriya natijasini toʻgʻri talqin qilish. Prototip hozir jonli: nafas.plagiatx.uz. 10 daqiqada muammo, yechim, xavf modeli, keyingi ikki bosqich va dalillarni koʻrsataman.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OSOK bugun dunyoda oʻlim sabablari orasida 3-oʻrinda: JSST maʼlumotiga koʻra 2023-yilda 3,4 million kishi vafot etgan. Dunyoda 30–79 yoshdagi qariyb 392 million kishida OSOK bor, ularning 80 foizi kam va oʻrta daromadli davlatlarda. Eng muhimi — holatlarning 50 dan 98 foizigacha tashxissiz qoladi. Birlamchi boʻgʻinda toʻrtta toʻsiq bor: spirometr kam, oʻlchashga tayyorlangan kadr kam, xavf omillari keng — tamaki, tandir tutuni, paxta va qurilish changi — va talqin murakkab. Oʻzbekistonda aholi miqyosidagi spirometrik tadqiqot topilmadi; qoʻshni MDH davlatlarida CORE tadqiqoti 3–7 foizni koʻrsatgan va deyarli barcha bemorlar birinchi marta aniqlangan.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Yechim uch bosqichli. Birinchi bosqich hozir ishlaydi: qurilmasiz — savolnoma, 19 ballik xavf modeli va spirometriya talqini. Ikkinchi bosqichda bitta arzon portativ spirometr butun punktga xizmat qiladi: oʻlchov Bluetooth orqali toʻgʻridan-toʻgʻri bemor kartasiga tushadi. Uchinchi bosqich — bemorning oʻz telefoni: oʻzini baholash, eslatmalar va mikrofon orqali nafas testi; bu ilmiy tadqiqot sifatida. Hammasi bitta xavf modeli, bitta bemor kartasi va bitta maʼlumotlar bazasiga tayanadi.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Shifokor yoki hamshira planshet yoki telefonda besh qadamni bosib oʻtadi: bemor maʼlumoti va rozilik, xavf omillari, simptomlar, standart mMRC va CAT shkalalari. Natijada xavf darajasi, uning sababi, tavsiya va keyingi koʻrik sanasi chiqadi. Bemorlar panelida kim yuqori xavfda, kimning koʻrik muddati oʻtgan va kim yoʻllanma kutayotgani darhol koʻrinadi.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7 guruhdagi 9 omildan iborat. Yosh — 3 ballgacha, chekish quti-yilda — 4 ballgacha, tandir yoki oʻchoq tutuni yillari — 2, kasbiy chang yillari — 2, uchta simptom — har biri 1 ball, mMRC — 3 va CAT — 2 ballgacha. Jami 19 ball. 0–4 ball — past: yoʻllanma shart emas, 12 oydan keyin qayta koʻrik. 5–8 — oʻrta: spirometriyaga yoʻllanadi. 9 va undan yuqori — ustuvor spirometriya va pulmonolog. Lekin ball past chiqsa ham ikkita xavfsizlik qoidasi ishlaydi: 40 yoshdan oshgan, xavf omili 10 yildan koʻp va simptomi bor bemor — GOLD boʻyicha yuqori darajaga koʻtariladi; kuchli taʼsir — 20 quti-yil yoki 20 yil — kamida oʻrta daraja. Ogʻirliklar hozircha vaqtinchalik, mahalliy maʼlumotda tasdiqlanadi.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Kiritish oddiy: yosh, kuniga necha dona sigaret va necha yil, tandir yoki oʻchoq tutuni yillari, kasbiy chang yillari, uchta simptom, mMRC va CAT. Tizim quti-yilni oʻzi hisoblaydi: kuniga dona koʻpaytirish yil, boʻlinadi 20 ga. Har omil oʻz bandiga tushadi, ballar qoʻshiladi, keyin ikki qoida tekshiriladi. Maʼlumot yoʻq boʻlsa — 0 ball, lekin bu yashirilmaydi. Natijada shifokor 9 omilning har birining hissasini, qoʻllangan qoidani va model versiyasini koʻradi. Rasmdagi bemor: 56 yosh, kasbiy chang 22 yil, surunkali yoʻtal — ball 7, yaʼni oʻrta, lekin qoida boʻyicha yuqori ehtimollik. Toʻliq jadval saytda: metodika sahifasida.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Spirometriya qilingan boʻlsa, natija qoʻlda kiritiladi va tizim uni xalqaro standart boʻyicha talqin qiladi: FEV1/FVC 0,70 mezoni va GLI-2012 tenglamalari asosidagi normaning pastki chegarasi — LLN, GOLD darajasi, foiz va z-skor. Maʼlumot yetishmasa taxmin qilmaydi, ogohlantiradi. Har natijada eslatma bor: bu xulosa emas, qarorni shifokor qabul qiladi. Misolda: 62 yosh, 172 sm erkak — FEV1/FVC 0,54, obstruksiya, GOLD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Ikkinchi bosqich — portativ spirometr. Bemor qurilmaga puflaydi, FEV1, FVC va oqim–hajm egri chizigʻi Bluetooth yoki USB orqali toʻgʻridan-toʻgʻri NafasNazoratga tushadi. Qoʻlda kiritish xatosi yoʻqoladi, tizim urinishlar sifatini tekshiradi, talqin qiladi va bitta tugma bilan bemor kartasiga saqlaydi. Bitta qurilma butun punktga yetadi, chunki savolnoma kimga spirometriya kerakligini oldindan saralaydi. Dalil: Air Next Bluetooth spirometri 200 bemor va 50 sogʻlom kishida stol spirometri bilan 0,94 dan yuqori moslik koʻrsatgan. Ekrandagi interfeys — konsept dizayn, qiymatlar demo bemordan.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Uchinchi bosqich — bemor uchun telefon ilovasi. Birinchidan, bemor CAT va mMRC savollariga oʻzi javob beradi, savollarni oʻzbek tilida ovozli tinglash mumkin. Ikkinchidan, ilmiy tadqiqot rejimida mikrofon orqali nafas testi: telefonga kuchli puflash ovozidan oʻpka funksiyasi baholanadi. Uchinchidan, natija va eslatma: spirometriya vaqti keldi, natija shifokorga yuboriladi. Ilmiy asos: SpiroSmart tadqiqotida oʻrtacha xato 5 foiz atrofida, SpiroSonic — sogʻlomlarda 3 foizdan kam, bemor bolalarda 5–10 foiz. Shuning uchun bu tashxis emas, skrining va kuzatuv vositasi; mahalliy aholida spirometr bilan juft oʻlchab tasdiqlaymiz.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 bir bosqich jahon tadqiqotlariga tayanadi. Birinchi bosqich uchun: Buyuk Britaniyadagi TargetCOPD — 75 mingga yaqin bemorda faol izlash yangi tashxislarni 4 barobar oshirgan. CORE — Kiyev, Olmaota va Bokuda spirometriya 3–7 foiz OSOKni topgan, deyarli hammasi ilk bor. Ikkinchi bosqich uchun: Air Next Bluetooth spirometri stol spirometri bilan 0,94 dan yuqori moslik; RADICALS — oddiy qoʻl qurilmasi umumiy amaliyotda yarmidan koʻpini topadi, lekin tasdiq uchun toʻliq spirometriya kerak — biz aynan shuni qilamiz. Uchinchi bosqich uchun: SpiroSmart va SpiroSonic — telefon mikrofoni 3–10 foiz xato bilan. GOLD 2025 ham simptomi va xavf omili bor odamlarni faol izlashni tavsiya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Maʼlumotlar bazasi oltita jadvaldan iborat. Shaxsiy maʼlumot — ism, tugʻilgan sana, telefon — faqat bitta jadvalda, bemorlar jadvalida. Baholashlar, spirometriya va yoʻllanmalar bemorga psevdonim ID orqali bogʻlanadi, har natija model versiyasi bilan saqlanadi — model yangilansa ham eski natija oʻzgarmaydi. Audit jurnali kim, qachon, qaysi maydonni oʻzgartirganini yozadi, lekin qiymatni emas. Parollar scrypt bilan xeshlanadi. Har kuni soat 02:30 da zaxira nusxa olinadi, oxirgi 14 tasi saqlanadi. Tadqiqot eksporti faqat rozilik bergan bemorlar boʻyicha va anonim. Pilotdan oldin server Oʻzbekistonga koʻchiriladi — Shaxsga doir maʼlumotlar toʻgʻrisidagi qonunning 27¹-moddasi shuni talab qiladi; tizim Docker konteynerida, koʻchirish oson.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Xulosa: birinchi bosqich toʻliq ishlaydi — 19 ballik xavf modeli va uning ochiq izohi, spirometriya talqini, bemorlar paneli, rollar, audit va anonim eksport; 82 ta avtomatik test, HTTPS va kunlik zaxira. Demoni hozir parolsiz koʻrish mumkin. Bizga uchta narsa kerak: pilot punktlar — oilaviy poliklinika va QVPlar; pulmonolog — model ogʻirliklarini va CAT tarjimasini klinik tasdiqlash uchun; va grant — portativ spirometrlar va validatsiya tadqiqoti uchun. Eʼtiboringiz uchun rahmat, savollarga tayyorman.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600200"/>
            <a:ext cx="5852160" cy="320040"/>
          </a:xfrm>
          <a:prstGeom prst="rect">
            <a:avLst/>
          </a:prstGeom>
          <a:noFill/>
          <a:ln/>
        </p:spPr>
        <p:txBody>
          <a:bodyPr wrap="square" rtlCol="0"/>
          <a:lstStyle>
            <a:lvl1pPr indent="0" marL="0">
              <a:buNone/>
              <a:defRPr lang="en-US" sz="1200" b="1" spc="300" kern="0" dirty="0">
                <a:solidFill>
                  <a:schemeClr val="accent5"/>
                </a:solidFill>
              </a:defRPr>
            </a:lvl1pPr>
          </a:lstStyle>
          <a:p>
            <a:pPr indent="0" marL="0">
              <a:buNone/>
            </a:pPr>
            <a:endParaRPr lang="en-US" sz="1200" dirty="0"/>
          </a:p>
        </p:txBody>
      </p:sp>
      <p:sp>
        <p:nvSpPr>
          <p:cNvPr id="3" name="Text 0"/>
          <p:cNvSpPr/>
          <p:nvPr>
            <p:ph idx="101" type="title" hasCustomPrompt="1"/>
          </p:nvPr>
        </p:nvSpPr>
        <p:spPr>
          <a:xfrm>
            <a:off x="548640" y="1965960"/>
            <a:ext cx="5852160" cy="100584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548640" y="3063240"/>
            <a:ext cx="566928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chemeClr val="accent6"/>
                </a:solidFill>
              </a:rPr>
              <a:t>NafasNazorat · nafas.plagiatx.uz</a:t>
            </a:r>
            <a:endParaRPr lang="en-US" sz="900" dirty="0"/>
          </a:p>
        </p:txBody>
      </p:sp>
      <p:sp>
        <p:nvSpPr>
          <p:cNvPr id="3" name="Text 1"/>
          <p:cNvSpPr/>
          <p:nvPr>
            <p:ph idx="101" type="body" hasCustomPrompt="1"/>
          </p:nvPr>
        </p:nvSpPr>
        <p:spPr>
          <a:xfrm>
            <a:off x="548640" y="384048"/>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548640" y="658368"/>
            <a:ext cx="11094415" cy="6400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indent="0" marL="0">
              <a:buNone/>
            </a:pPr>
            <a:r>
              <a:rPr lang="en-US" sz="900" dirty="0">
                <a:solidFill>
                  <a:schemeClr val="accent5"/>
                </a:solidFill>
              </a:rPr>
              <a:t>NafasNazorat · nafas.plagiatx.uz</a:t>
            </a:r>
            <a:endParaRPr lang="en-US" sz="900" dirty="0"/>
          </a:p>
        </p:txBody>
      </p:sp>
      <p:sp>
        <p:nvSpPr>
          <p:cNvPr id="3" name="Text 1"/>
          <p:cNvSpPr/>
          <p:nvPr>
            <p:ph idx="101" type="body" hasCustomPrompt="1"/>
          </p:nvPr>
        </p:nvSpPr>
        <p:spPr>
          <a:xfrm>
            <a:off x="548640" y="384048"/>
            <a:ext cx="8229600" cy="274320"/>
          </a:xfrm>
          <a:prstGeom prst="rect">
            <a:avLst/>
          </a:prstGeom>
          <a:noFill/>
          <a:ln/>
        </p:spPr>
        <p:txBody>
          <a:bodyPr wrap="square" rtlCol="0"/>
          <a:lstStyle>
            <a:lvl1pPr indent="0" marL="0">
              <a:buNone/>
              <a:defRPr lang="en-US" sz="1100" b="1" spc="200" kern="0" dirty="0">
                <a:solidFill>
                  <a:schemeClr val="accent5"/>
                </a:solidFill>
              </a:defRPr>
            </a:lvl1pPr>
          </a:lstStyle>
          <a:p>
            <a:pPr indent="0" marL="0">
              <a:buNone/>
            </a:pPr>
            <a:endParaRPr lang="en-US" sz="1100" dirty="0"/>
          </a:p>
        </p:txBody>
      </p:sp>
      <p:sp>
        <p:nvSpPr>
          <p:cNvPr id="4" name="Text 1"/>
          <p:cNvSpPr/>
          <p:nvPr>
            <p:ph idx="102" type="title" hasCustomPrompt="1"/>
          </p:nvPr>
        </p:nvSpPr>
        <p:spPr>
          <a:xfrm>
            <a:off x="548640" y="658368"/>
            <a:ext cx="11094415" cy="64008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slideLayout" Target="../slideLayouts/slideLayout4.xml"/><Relationship Id="rId11"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p:cNvSpPr/>
          <p:nvPr/>
        </p:nvSpPr>
        <p:spPr>
          <a:xfrm>
            <a:off x="548640" y="685800"/>
            <a:ext cx="566928" cy="566928"/>
          </a:xfrm>
          <a:prstGeom prst="roundRect">
            <a:avLst>
              <a:gd name="adj" fmla="val 24000"/>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684703" y="821863"/>
            <a:ext cx="294803" cy="294803"/>
          </a:xfrm>
          <a:prstGeom prst="rect">
            <a:avLst/>
          </a:prstGeom>
        </p:spPr>
      </p:pic>
      <p:sp>
        <p:nvSpPr>
          <p:cNvPr id="4" name="Text 0"/>
          <p:cNvSpPr/>
          <p:nvPr>
            <p:ph idx="100" type="body" hasCustomPrompt="1"/>
          </p:nvPr>
        </p:nvSpPr>
        <p:spPr>
          <a:xfrm>
            <a:off x="548640" y="1600200"/>
            <a:ext cx="5852160" cy="320040"/>
          </a:xfrm>
          <a:prstGeom prst="rect">
            <a:avLst/>
          </a:prstGeom>
          <a:noFill/>
          <a:ln/>
        </p:spPr>
        <p:txBody>
          <a:bodyPr wrap="square" lIns="0" tIns="0" rIns="0" bIns="0" rtlCol="0"/>
          <a:lstStyle/>
          <a:p>
            <a:pPr indent="0" marL="0">
              <a:buNone/>
            </a:pPr>
            <a:r>
              <a:rPr lang="en-US" sz="1200" b="1" spc="300" kern="0" dirty="0">
                <a:solidFill>
                  <a:schemeClr val="accent5"/>
                </a:solidFill>
              </a:rPr>
              <a:t>LOYIHA TAQDIMOTI · 2026</a:t>
            </a:r>
            <a:endParaRPr lang="en-US" sz="1200" dirty="0"/>
          </a:p>
        </p:txBody>
      </p:sp>
      <p:sp>
        <p:nvSpPr>
          <p:cNvPr id="5" name="Text 0"/>
          <p:cNvSpPr/>
          <p:nvPr>
            <p:ph idx="101" type="title" hasCustomPrompt="1"/>
          </p:nvPr>
        </p:nvSpPr>
        <p:spPr>
          <a:xfrm>
            <a:off x="548640" y="1965960"/>
            <a:ext cx="5852160" cy="1005840"/>
          </a:xfrm>
          <a:prstGeom prst="rect">
            <a:avLst/>
          </a:prstGeom>
          <a:noFill/>
          <a:ln/>
        </p:spPr>
        <p:txBody>
          <a:bodyPr wrap="square" lIns="0" tIns="0" rIns="0" bIns="0" rtlCol="0" anchor="t"/>
          <a:lstStyle/>
          <a:p>
            <a:pPr algn="l" indent="0" marL="0">
              <a:buNone/>
            </a:pPr>
            <a:r>
              <a:rPr lang="en-US" sz="5400" b="1" dirty="0">
                <a:solidFill>
                  <a:schemeClr val="bg1"/>
                </a:solidFill>
              </a:rPr>
              <a:t>NafasNazorat</a:t>
            </a:r>
            <a:endParaRPr lang="en-US" sz="5400" dirty="0"/>
          </a:p>
        </p:txBody>
      </p:sp>
      <p:sp>
        <p:nvSpPr>
          <p:cNvPr id="6" name="Text 0"/>
          <p:cNvSpPr/>
          <p:nvPr>
            <p:ph idx="102" type="body" hasCustomPrompt="1"/>
          </p:nvPr>
        </p:nvSpPr>
        <p:spPr>
          <a:xfrm>
            <a:off x="548640" y="3063240"/>
            <a:ext cx="5669280" cy="1097280"/>
          </a:xfrm>
          <a:prstGeom prst="rect">
            <a:avLst/>
          </a:prstGeom>
          <a:noFill/>
          <a:ln/>
        </p:spPr>
        <p:txBody>
          <a:bodyPr wrap="square" lIns="0" tIns="0" rIns="0" bIns="0" rtlCol="0" anchor="t"/>
          <a:lstStyle/>
          <a:p>
            <a:pPr indent="0" marL="0">
              <a:buNone/>
            </a:pPr>
            <a:r>
              <a:rPr lang="en-US" sz="1800" dirty="0">
                <a:solidFill>
                  <a:schemeClr val="bg2"/>
                </a:solidFill>
              </a:rPr>
              <a:t>OSOKni spirometr boʻlmasa ham erta aniqlash, yoʻllash va spirometriyani toʻgʻri talqin qilish platformasi</a:t>
            </a:r>
            <a:endParaRPr lang="en-US" sz="1800" dirty="0"/>
          </a:p>
        </p:txBody>
      </p:sp>
      <p:sp>
        <p:nvSpPr>
          <p:cNvPr id="7" name="Shape 4"/>
          <p:cNvSpPr/>
          <p:nvPr/>
        </p:nvSpPr>
        <p:spPr>
          <a:xfrm>
            <a:off x="548640" y="4343400"/>
            <a:ext cx="2057400" cy="384048"/>
          </a:xfrm>
          <a:prstGeom prst="roundRect">
            <a:avLst>
              <a:gd name="adj" fmla="val 50000"/>
            </a:avLst>
          </a:prstGeom>
          <a:solidFill>
            <a:schemeClr val="accent5">
              <a:alpha val="15000"/>
            </a:schemeClr>
          </a:solidFill>
          <a:ln w="9525">
            <a:solidFill>
              <a:schemeClr val="accent5">
                <a:alpha val="50000"/>
              </a:schemeClr>
            </a:solidFill>
            <a:prstDash val="solid"/>
          </a:ln>
        </p:spPr>
      </p:sp>
      <p:sp>
        <p:nvSpPr>
          <p:cNvPr id="8" name="Text 5"/>
          <p:cNvSpPr txBox="1"/>
          <p:nvPr/>
        </p:nvSpPr>
        <p:spPr>
          <a:xfrm>
            <a:off x="548640" y="4343400"/>
            <a:ext cx="2057400" cy="384048"/>
          </a:xfrm>
          <a:prstGeom prst="rect">
            <a:avLst/>
          </a:prstGeom>
          <a:noFill/>
          <a:ln/>
        </p:spPr>
        <p:txBody>
          <a:bodyPr wrap="square" lIns="0" tIns="0" rIns="0" bIns="0" rtlCol="0" anchor="ctr"/>
          <a:lstStyle/>
          <a:p>
            <a:pPr algn="ctr" indent="0" marL="0">
              <a:buNone/>
            </a:pPr>
            <a:r>
              <a:rPr lang="en-US" sz="1200" b="1" dirty="0">
                <a:solidFill>
                  <a:schemeClr val="accent5"/>
                </a:solidFill>
              </a:rPr>
              <a:t>19 ballik xavf modeli</a:t>
            </a:r>
            <a:endParaRPr lang="en-US" sz="1200" dirty="0"/>
          </a:p>
        </p:txBody>
      </p:sp>
      <p:sp>
        <p:nvSpPr>
          <p:cNvPr id="9" name="Shape 6"/>
          <p:cNvSpPr/>
          <p:nvPr/>
        </p:nvSpPr>
        <p:spPr>
          <a:xfrm>
            <a:off x="2743200" y="4343400"/>
            <a:ext cx="1965960" cy="384048"/>
          </a:xfrm>
          <a:prstGeom prst="roundRect">
            <a:avLst>
              <a:gd name="adj" fmla="val 50000"/>
            </a:avLst>
          </a:prstGeom>
          <a:solidFill>
            <a:schemeClr val="accent5">
              <a:alpha val="15000"/>
            </a:schemeClr>
          </a:solidFill>
          <a:ln w="9525">
            <a:solidFill>
              <a:schemeClr val="accent5">
                <a:alpha val="50000"/>
              </a:schemeClr>
            </a:solidFill>
            <a:prstDash val="solid"/>
          </a:ln>
        </p:spPr>
      </p:sp>
      <p:sp>
        <p:nvSpPr>
          <p:cNvPr id="10" name="Text 7"/>
          <p:cNvSpPr txBox="1"/>
          <p:nvPr/>
        </p:nvSpPr>
        <p:spPr>
          <a:xfrm>
            <a:off x="2743200" y="4343400"/>
            <a:ext cx="1965960" cy="384048"/>
          </a:xfrm>
          <a:prstGeom prst="rect">
            <a:avLst/>
          </a:prstGeom>
          <a:noFill/>
          <a:ln/>
        </p:spPr>
        <p:txBody>
          <a:bodyPr wrap="square" lIns="0" tIns="0" rIns="0" bIns="0" rtlCol="0" anchor="ctr"/>
          <a:lstStyle/>
          <a:p>
            <a:pPr algn="ctr" indent="0" marL="0">
              <a:buNone/>
            </a:pPr>
            <a:r>
              <a:rPr lang="en-US" sz="1200" b="1" dirty="0">
                <a:solidFill>
                  <a:schemeClr val="accent5"/>
                </a:solidFill>
              </a:rPr>
              <a:t>Spirometriya talqini</a:t>
            </a:r>
            <a:endParaRPr lang="en-US" sz="1200" dirty="0"/>
          </a:p>
        </p:txBody>
      </p:sp>
      <p:sp>
        <p:nvSpPr>
          <p:cNvPr id="11" name="Shape 8"/>
          <p:cNvSpPr/>
          <p:nvPr/>
        </p:nvSpPr>
        <p:spPr>
          <a:xfrm>
            <a:off x="4846320" y="4343400"/>
            <a:ext cx="1737360" cy="384048"/>
          </a:xfrm>
          <a:prstGeom prst="roundRect">
            <a:avLst>
              <a:gd name="adj" fmla="val 50000"/>
            </a:avLst>
          </a:prstGeom>
          <a:solidFill>
            <a:schemeClr val="accent5">
              <a:alpha val="15000"/>
            </a:schemeClr>
          </a:solidFill>
          <a:ln w="9525">
            <a:solidFill>
              <a:schemeClr val="accent5">
                <a:alpha val="50000"/>
              </a:schemeClr>
            </a:solidFill>
            <a:prstDash val="solid"/>
          </a:ln>
        </p:spPr>
      </p:sp>
      <p:sp>
        <p:nvSpPr>
          <p:cNvPr id="12" name="Text 9"/>
          <p:cNvSpPr txBox="1"/>
          <p:nvPr/>
        </p:nvSpPr>
        <p:spPr>
          <a:xfrm>
            <a:off x="4846320" y="4343400"/>
            <a:ext cx="1737360" cy="384048"/>
          </a:xfrm>
          <a:prstGeom prst="rect">
            <a:avLst/>
          </a:prstGeom>
          <a:noFill/>
          <a:ln/>
        </p:spPr>
        <p:txBody>
          <a:bodyPr wrap="square" lIns="0" tIns="0" rIns="0" bIns="0" rtlCol="0" anchor="ctr"/>
          <a:lstStyle/>
          <a:p>
            <a:pPr algn="ctr" indent="0" marL="0">
              <a:buNone/>
            </a:pPr>
            <a:r>
              <a:rPr lang="en-US" sz="1200" b="1" dirty="0">
                <a:solidFill>
                  <a:schemeClr val="accent5"/>
                </a:solidFill>
              </a:rPr>
              <a:t>Bemorlar paneli</a:t>
            </a:r>
            <a:endParaRPr lang="en-US" sz="1200" dirty="0"/>
          </a:p>
        </p:txBody>
      </p:sp>
      <p:sp>
        <p:nvSpPr>
          <p:cNvPr id="13" name="Text 10"/>
          <p:cNvSpPr txBox="1"/>
          <p:nvPr/>
        </p:nvSpPr>
        <p:spPr>
          <a:xfrm>
            <a:off x="548640" y="5806440"/>
            <a:ext cx="5486400" cy="274320"/>
          </a:xfrm>
          <a:prstGeom prst="rect">
            <a:avLst/>
          </a:prstGeom>
          <a:noFill/>
          <a:ln/>
        </p:spPr>
        <p:txBody>
          <a:bodyPr wrap="square" lIns="0" tIns="0" rIns="0" bIns="0" rtlCol="0" anchor="t"/>
          <a:lstStyle/>
          <a:p>
            <a:pPr indent="0" marL="0">
              <a:buNone/>
            </a:pPr>
            <a:r>
              <a:rPr lang="en-US" sz="1200" dirty="0">
                <a:solidFill>
                  <a:schemeClr val="bg2"/>
                </a:solidFill>
              </a:rPr>
              <a:t>Oʻzbekiston birlamchi tibbiyot boʻgʻini uchun</a:t>
            </a:r>
            <a:endParaRPr lang="en-US" sz="1200" dirty="0"/>
          </a:p>
        </p:txBody>
      </p:sp>
      <p:sp>
        <p:nvSpPr>
          <p:cNvPr id="14" name="Text 11"/>
          <p:cNvSpPr txBox="1"/>
          <p:nvPr/>
        </p:nvSpPr>
        <p:spPr>
          <a:xfrm>
            <a:off x="548640" y="6080760"/>
            <a:ext cx="5486400" cy="274320"/>
          </a:xfrm>
          <a:prstGeom prst="rect">
            <a:avLst/>
          </a:prstGeom>
          <a:noFill/>
          <a:ln/>
        </p:spPr>
        <p:txBody>
          <a:bodyPr wrap="square" lIns="0" tIns="0" rIns="0" bIns="0" rtlCol="0" anchor="t"/>
          <a:lstStyle/>
          <a:p>
            <a:pPr indent="0" marL="0">
              <a:buNone/>
            </a:pPr>
            <a:r>
              <a:rPr lang="en-US" sz="1200" b="1" dirty="0">
                <a:solidFill>
                  <a:schemeClr val="accent5"/>
                </a:solidFill>
              </a:rPr>
              <a:t>Jonli prototip: nafas.plagiatx.uz</a:t>
            </a:r>
            <a:endParaRPr lang="en-US" sz="1200" dirty="0"/>
          </a:p>
        </p:txBody>
      </p:sp>
      <p:pic>
        <p:nvPicPr>
          <p:cNvPr id="15" name="Image 1" descr="NafasNazorat bosh sahifasi">    </p:cNvPr>
          <p:cNvPicPr>
            <a:picLocks noChangeAspect="1"/>
          </p:cNvPicPr>
          <p:nvPr/>
        </p:nvPicPr>
        <p:blipFill>
          <a:blip r:embed="rId2"/>
          <a:stretch>
            <a:fillRect/>
          </a:stretch>
        </p:blipFill>
        <p:spPr>
          <a:xfrm>
            <a:off x="5989320" y="1051560"/>
            <a:ext cx="6126480" cy="348677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MUAMMO</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OSOK — jim, lekin oʻldiradigan kasallik</a:t>
            </a:r>
            <a:endParaRPr lang="en-US" sz="2800" dirty="0"/>
          </a:p>
        </p:txBody>
      </p:sp>
      <p:sp>
        <p:nvSpPr>
          <p:cNvPr id="5" name="stat1"/>
          <p:cNvSpPr/>
          <p:nvPr/>
        </p:nvSpPr>
        <p:spPr>
          <a:xfrm>
            <a:off x="548640" y="1554480"/>
            <a:ext cx="3545738" cy="2011680"/>
          </a:xfrm>
          <a:prstGeom prst="roundRect">
            <a:avLst>
              <a:gd name="adj" fmla="val 5455"/>
            </a:avLst>
          </a:prstGeom>
          <a:solidFill>
            <a:schemeClr val="tx2"/>
          </a:solidFill>
          <a:ln/>
        </p:spPr>
      </p:sp>
      <p:sp>
        <p:nvSpPr>
          <p:cNvPr id="6" name="Text 3"/>
          <p:cNvSpPr txBox="1"/>
          <p:nvPr/>
        </p:nvSpPr>
        <p:spPr>
          <a:xfrm>
            <a:off x="822960" y="1755648"/>
            <a:ext cx="2997098" cy="777240"/>
          </a:xfrm>
          <a:prstGeom prst="rect">
            <a:avLst/>
          </a:prstGeom>
          <a:noFill/>
          <a:ln/>
        </p:spPr>
        <p:txBody>
          <a:bodyPr wrap="square" lIns="0" tIns="0" rIns="0" bIns="0" rtlCol="0" anchor="t"/>
          <a:lstStyle/>
          <a:p>
            <a:pPr indent="0" marL="0">
              <a:buNone/>
            </a:pPr>
            <a:r>
              <a:rPr lang="en-US" sz="4400" b="1" dirty="0">
                <a:solidFill>
                  <a:schemeClr val="accent5"/>
                </a:solidFill>
              </a:rPr>
              <a:t>3-oʻrin</a:t>
            </a:r>
            <a:endParaRPr lang="en-US" sz="4400" dirty="0"/>
          </a:p>
        </p:txBody>
      </p:sp>
      <p:sp>
        <p:nvSpPr>
          <p:cNvPr id="7" name="Text 4"/>
          <p:cNvSpPr txBox="1"/>
          <p:nvPr/>
        </p:nvSpPr>
        <p:spPr>
          <a:xfrm>
            <a:off x="822960" y="2560320"/>
            <a:ext cx="2997098" cy="640080"/>
          </a:xfrm>
          <a:prstGeom prst="rect">
            <a:avLst/>
          </a:prstGeom>
          <a:noFill/>
          <a:ln/>
        </p:spPr>
        <p:txBody>
          <a:bodyPr wrap="square" lIns="0" tIns="0" rIns="0" bIns="0" rtlCol="0" anchor="t"/>
          <a:lstStyle/>
          <a:p>
            <a:pPr indent="0" marL="0">
              <a:buNone/>
            </a:pPr>
            <a:r>
              <a:rPr lang="en-US" sz="1300" dirty="0">
                <a:solidFill>
                  <a:schemeClr val="bg1"/>
                </a:solidFill>
              </a:rPr>
              <a:t>oʻlim sabablari orasida dunyoda; 3,4 mln oʻlim (2023)</a:t>
            </a:r>
            <a:endParaRPr lang="en-US" sz="1300" dirty="0"/>
          </a:p>
        </p:txBody>
      </p:sp>
      <p:sp>
        <p:nvSpPr>
          <p:cNvPr id="8" name="Text 5"/>
          <p:cNvSpPr txBox="1"/>
          <p:nvPr/>
        </p:nvSpPr>
        <p:spPr>
          <a:xfrm>
            <a:off x="822960" y="3200400"/>
            <a:ext cx="2997098" cy="237744"/>
          </a:xfrm>
          <a:prstGeom prst="rect">
            <a:avLst/>
          </a:prstGeom>
          <a:noFill/>
          <a:ln/>
        </p:spPr>
        <p:txBody>
          <a:bodyPr wrap="square" lIns="0" tIns="0" rIns="0" bIns="0" rtlCol="0" anchor="t"/>
          <a:lstStyle/>
          <a:p>
            <a:pPr indent="0" marL="0">
              <a:buNone/>
            </a:pPr>
            <a:r>
              <a:rPr lang="en-US" sz="900" dirty="0">
                <a:solidFill>
                  <a:schemeClr val="accent5"/>
                </a:solidFill>
              </a:rPr>
              <a:t>JSST, 2026</a:t>
            </a:r>
            <a:endParaRPr lang="en-US" sz="900" dirty="0"/>
          </a:p>
        </p:txBody>
      </p:sp>
      <p:sp>
        <p:nvSpPr>
          <p:cNvPr id="9" name="stat2"/>
          <p:cNvSpPr/>
          <p:nvPr/>
        </p:nvSpPr>
        <p:spPr>
          <a:xfrm>
            <a:off x="4322978" y="1554480"/>
            <a:ext cx="3545738" cy="2011680"/>
          </a:xfrm>
          <a:prstGeom prst="roundRect">
            <a:avLst>
              <a:gd name="adj" fmla="val 5455"/>
            </a:avLst>
          </a:prstGeom>
          <a:solidFill>
            <a:schemeClr val="bg2"/>
          </a:solidFill>
          <a:ln/>
        </p:spPr>
      </p:sp>
      <p:sp>
        <p:nvSpPr>
          <p:cNvPr id="10" name="Text 7"/>
          <p:cNvSpPr txBox="1"/>
          <p:nvPr/>
        </p:nvSpPr>
        <p:spPr>
          <a:xfrm>
            <a:off x="4597298" y="1755648"/>
            <a:ext cx="2997098" cy="777240"/>
          </a:xfrm>
          <a:prstGeom prst="rect">
            <a:avLst/>
          </a:prstGeom>
          <a:noFill/>
          <a:ln/>
        </p:spPr>
        <p:txBody>
          <a:bodyPr wrap="square" lIns="0" tIns="0" rIns="0" bIns="0" rtlCol="0" anchor="t"/>
          <a:lstStyle/>
          <a:p>
            <a:pPr indent="0" marL="0">
              <a:buNone/>
            </a:pPr>
            <a:r>
              <a:rPr lang="en-US" sz="4400" b="1" dirty="0">
                <a:solidFill>
                  <a:schemeClr val="accent1"/>
                </a:solidFill>
              </a:rPr>
              <a:t>392 mln</a:t>
            </a:r>
            <a:endParaRPr lang="en-US" sz="4400" dirty="0"/>
          </a:p>
        </p:txBody>
      </p:sp>
      <p:sp>
        <p:nvSpPr>
          <p:cNvPr id="11" name="Text 8"/>
          <p:cNvSpPr txBox="1"/>
          <p:nvPr/>
        </p:nvSpPr>
        <p:spPr>
          <a:xfrm>
            <a:off x="4597298" y="2560320"/>
            <a:ext cx="2997098" cy="640080"/>
          </a:xfrm>
          <a:prstGeom prst="rect">
            <a:avLst/>
          </a:prstGeom>
          <a:noFill/>
          <a:ln/>
        </p:spPr>
        <p:txBody>
          <a:bodyPr wrap="square" lIns="0" tIns="0" rIns="0" bIns="0" rtlCol="0" anchor="t"/>
          <a:lstStyle/>
          <a:p>
            <a:pPr indent="0" marL="0">
              <a:buNone/>
            </a:pPr>
            <a:r>
              <a:rPr lang="en-US" sz="1300" dirty="0">
                <a:solidFill>
                  <a:schemeClr val="tx1"/>
                </a:solidFill>
              </a:rPr>
              <a:t>30–79 yoshda OSOK (10,3%); 80% — kam va oʻrta daromadli davlatlarda</a:t>
            </a:r>
            <a:endParaRPr lang="en-US" sz="1300" dirty="0"/>
          </a:p>
        </p:txBody>
      </p:sp>
      <p:sp>
        <p:nvSpPr>
          <p:cNvPr id="12" name="Text 9"/>
          <p:cNvSpPr txBox="1"/>
          <p:nvPr/>
        </p:nvSpPr>
        <p:spPr>
          <a:xfrm>
            <a:off x="4597298" y="3200400"/>
            <a:ext cx="2997098" cy="237744"/>
          </a:xfrm>
          <a:prstGeom prst="rect">
            <a:avLst/>
          </a:prstGeom>
          <a:noFill/>
          <a:ln/>
        </p:spPr>
        <p:txBody>
          <a:bodyPr wrap="square" lIns="0" tIns="0" rIns="0" bIns="0" rtlCol="0" anchor="t"/>
          <a:lstStyle/>
          <a:p>
            <a:pPr indent="0" marL="0">
              <a:buNone/>
            </a:pPr>
            <a:r>
              <a:rPr lang="en-US" sz="900" dirty="0">
                <a:solidFill>
                  <a:schemeClr val="accent6"/>
                </a:solidFill>
              </a:rPr>
              <a:t>Adeloye va b., Lancet Respir Med, 2022</a:t>
            </a:r>
            <a:endParaRPr lang="en-US" sz="900" dirty="0"/>
          </a:p>
        </p:txBody>
      </p:sp>
      <p:sp>
        <p:nvSpPr>
          <p:cNvPr id="13" name="stat3"/>
          <p:cNvSpPr/>
          <p:nvPr/>
        </p:nvSpPr>
        <p:spPr>
          <a:xfrm>
            <a:off x="8097317" y="1554480"/>
            <a:ext cx="3545738" cy="2011680"/>
          </a:xfrm>
          <a:prstGeom prst="roundRect">
            <a:avLst>
              <a:gd name="adj" fmla="val 5455"/>
            </a:avLst>
          </a:prstGeom>
          <a:solidFill>
            <a:schemeClr val="bg2"/>
          </a:solidFill>
          <a:ln/>
        </p:spPr>
      </p:sp>
      <p:sp>
        <p:nvSpPr>
          <p:cNvPr id="14" name="Text 11"/>
          <p:cNvSpPr txBox="1"/>
          <p:nvPr/>
        </p:nvSpPr>
        <p:spPr>
          <a:xfrm>
            <a:off x="8371637" y="1755648"/>
            <a:ext cx="2997098" cy="777240"/>
          </a:xfrm>
          <a:prstGeom prst="rect">
            <a:avLst/>
          </a:prstGeom>
          <a:noFill/>
          <a:ln/>
        </p:spPr>
        <p:txBody>
          <a:bodyPr wrap="square" lIns="0" tIns="0" rIns="0" bIns="0" rtlCol="0" anchor="t"/>
          <a:lstStyle/>
          <a:p>
            <a:pPr indent="0" marL="0">
              <a:buNone/>
            </a:pPr>
            <a:r>
              <a:rPr lang="en-US" sz="4400" b="1" dirty="0">
                <a:solidFill>
                  <a:schemeClr val="accent1"/>
                </a:solidFill>
              </a:rPr>
              <a:t>50–98%</a:t>
            </a:r>
            <a:endParaRPr lang="en-US" sz="4400" dirty="0"/>
          </a:p>
        </p:txBody>
      </p:sp>
      <p:sp>
        <p:nvSpPr>
          <p:cNvPr id="15" name="Text 12"/>
          <p:cNvSpPr txBox="1"/>
          <p:nvPr/>
        </p:nvSpPr>
        <p:spPr>
          <a:xfrm>
            <a:off x="8371637" y="2560320"/>
            <a:ext cx="2997098" cy="640080"/>
          </a:xfrm>
          <a:prstGeom prst="rect">
            <a:avLst/>
          </a:prstGeom>
          <a:noFill/>
          <a:ln/>
        </p:spPr>
        <p:txBody>
          <a:bodyPr wrap="square" lIns="0" tIns="0" rIns="0" bIns="0" rtlCol="0" anchor="t"/>
          <a:lstStyle/>
          <a:p>
            <a:pPr indent="0" marL="0">
              <a:buNone/>
            </a:pPr>
            <a:r>
              <a:rPr lang="en-US" sz="1300" dirty="0">
                <a:solidFill>
                  <a:schemeClr val="tx1"/>
                </a:solidFill>
              </a:rPr>
              <a:t>OSOK holatlari tashxissiz qoladi</a:t>
            </a:r>
            <a:endParaRPr lang="en-US" sz="1300" dirty="0"/>
          </a:p>
        </p:txBody>
      </p:sp>
      <p:sp>
        <p:nvSpPr>
          <p:cNvPr id="16" name="Text 13"/>
          <p:cNvSpPr txBox="1"/>
          <p:nvPr/>
        </p:nvSpPr>
        <p:spPr>
          <a:xfrm>
            <a:off x="8371637" y="3200400"/>
            <a:ext cx="2997098" cy="237744"/>
          </a:xfrm>
          <a:prstGeom prst="rect">
            <a:avLst/>
          </a:prstGeom>
          <a:noFill/>
          <a:ln/>
        </p:spPr>
        <p:txBody>
          <a:bodyPr wrap="square" lIns="0" tIns="0" rIns="0" bIns="0" rtlCol="0" anchor="t"/>
          <a:lstStyle/>
          <a:p>
            <a:pPr indent="0" marL="0">
              <a:buNone/>
            </a:pPr>
            <a:r>
              <a:rPr lang="en-US" sz="900" dirty="0">
                <a:solidFill>
                  <a:schemeClr val="accent6"/>
                </a:solidFill>
              </a:rPr>
              <a:t>Lamprecht va b., Chest, 2015 (BOLD)</a:t>
            </a:r>
            <a:endParaRPr lang="en-US" sz="900" dirty="0"/>
          </a:p>
        </p:txBody>
      </p:sp>
      <p:sp>
        <p:nvSpPr>
          <p:cNvPr id="17" name="Text 14"/>
          <p:cNvSpPr txBox="1"/>
          <p:nvPr/>
        </p:nvSpPr>
        <p:spPr>
          <a:xfrm>
            <a:off x="548640" y="3794760"/>
            <a:ext cx="5486400" cy="292608"/>
          </a:xfrm>
          <a:prstGeom prst="rect">
            <a:avLst/>
          </a:prstGeom>
          <a:noFill/>
          <a:ln/>
        </p:spPr>
        <p:txBody>
          <a:bodyPr wrap="square" lIns="0" tIns="0" rIns="0" bIns="0" rtlCol="0" anchor="t"/>
          <a:lstStyle/>
          <a:p>
            <a:pPr indent="0" marL="0">
              <a:buNone/>
            </a:pPr>
            <a:r>
              <a:rPr lang="en-US" sz="1400" b="1" dirty="0">
                <a:solidFill>
                  <a:schemeClr val="tx1"/>
                </a:solidFill>
              </a:rPr>
              <a:t>Birlamchi boʻgʻinda 4 toʻsiq</a:t>
            </a:r>
            <a:endParaRPr lang="en-US" sz="1400" dirty="0"/>
          </a:p>
        </p:txBody>
      </p:sp>
      <p:sp>
        <p:nvSpPr>
          <p:cNvPr id="18" name="Shape 15"/>
          <p:cNvSpPr/>
          <p:nvPr/>
        </p:nvSpPr>
        <p:spPr>
          <a:xfrm>
            <a:off x="548640" y="4160520"/>
            <a:ext cx="2636444" cy="1051560"/>
          </a:xfrm>
          <a:prstGeom prst="roundRect">
            <a:avLst>
              <a:gd name="adj" fmla="val 10435"/>
            </a:avLst>
          </a:prstGeom>
          <a:solidFill>
            <a:schemeClr val="bg1"/>
          </a:solidFill>
          <a:ln w="9525">
            <a:solidFill>
              <a:schemeClr val="accent6">
                <a:alpha val="30000"/>
              </a:schemeClr>
            </a:solidFill>
            <a:prstDash val="solid"/>
          </a:ln>
        </p:spPr>
      </p:sp>
      <p:sp>
        <p:nvSpPr>
          <p:cNvPr id="19" name="Shape 16"/>
          <p:cNvSpPr/>
          <p:nvPr/>
        </p:nvSpPr>
        <p:spPr>
          <a:xfrm>
            <a:off x="731520" y="4315968"/>
            <a:ext cx="420624" cy="420624"/>
          </a:xfrm>
          <a:prstGeom prst="roundRect">
            <a:avLst>
              <a:gd name="adj" fmla="val 24000"/>
            </a:avLst>
          </a:prstGeom>
          <a:solidFill>
            <a:schemeClr val="accent1"/>
          </a:solidFill>
          <a:ln/>
        </p:spPr>
      </p:sp>
      <p:pic>
        <p:nvPicPr>
          <p:cNvPr id="20" name="Image 0" descr="preencoded.png">    </p:cNvPr>
          <p:cNvPicPr>
            <a:picLocks noChangeAspect="1"/>
          </p:cNvPicPr>
          <p:nvPr/>
        </p:nvPicPr>
        <p:blipFill>
          <a:blip r:embed="rId1"/>
          <a:stretch>
            <a:fillRect/>
          </a:stretch>
        </p:blipFill>
        <p:spPr>
          <a:xfrm>
            <a:off x="832470" y="4416918"/>
            <a:ext cx="218724" cy="218724"/>
          </a:xfrm>
          <a:prstGeom prst="rect">
            <a:avLst/>
          </a:prstGeom>
        </p:spPr>
      </p:pic>
      <p:sp>
        <p:nvSpPr>
          <p:cNvPr id="21" name="Text 17"/>
          <p:cNvSpPr txBox="1"/>
          <p:nvPr/>
        </p:nvSpPr>
        <p:spPr>
          <a:xfrm>
            <a:off x="1280160" y="4297680"/>
            <a:ext cx="1767764" cy="274320"/>
          </a:xfrm>
          <a:prstGeom prst="rect">
            <a:avLst/>
          </a:prstGeom>
          <a:noFill/>
          <a:ln/>
        </p:spPr>
        <p:txBody>
          <a:bodyPr wrap="square" lIns="0" tIns="0" rIns="0" bIns="0" rtlCol="0" anchor="t"/>
          <a:lstStyle/>
          <a:p>
            <a:pPr indent="0" marL="0">
              <a:buNone/>
            </a:pPr>
            <a:r>
              <a:rPr lang="en-US" sz="1300" b="1" dirty="0">
                <a:solidFill>
                  <a:schemeClr val="tx1"/>
                </a:solidFill>
              </a:rPr>
              <a:t>Spirometr kam</a:t>
            </a:r>
            <a:endParaRPr lang="en-US" sz="1300" dirty="0"/>
          </a:p>
        </p:txBody>
      </p:sp>
      <p:sp>
        <p:nvSpPr>
          <p:cNvPr id="22" name="Text 18"/>
          <p:cNvSpPr txBox="1"/>
          <p:nvPr/>
        </p:nvSpPr>
        <p:spPr>
          <a:xfrm>
            <a:off x="1280160" y="4572000"/>
            <a:ext cx="1767764" cy="548640"/>
          </a:xfrm>
          <a:prstGeom prst="rect">
            <a:avLst/>
          </a:prstGeom>
          <a:noFill/>
          <a:ln/>
        </p:spPr>
        <p:txBody>
          <a:bodyPr wrap="square" lIns="0" tIns="0" rIns="0" bIns="0" rtlCol="0" anchor="t"/>
          <a:lstStyle/>
          <a:p>
            <a:pPr indent="0" marL="0">
              <a:buNone/>
            </a:pPr>
            <a:r>
              <a:rPr lang="en-US" sz="1050" dirty="0">
                <a:solidFill>
                  <a:schemeClr val="accent6"/>
                </a:solidFill>
              </a:rPr>
              <a:t>Poliklinika va QVPda qurilma yoʻq yoki band</a:t>
            </a:r>
            <a:endParaRPr lang="en-US" sz="1050" dirty="0"/>
          </a:p>
        </p:txBody>
      </p:sp>
      <p:sp>
        <p:nvSpPr>
          <p:cNvPr id="23" name="Shape 19"/>
          <p:cNvSpPr/>
          <p:nvPr/>
        </p:nvSpPr>
        <p:spPr>
          <a:xfrm>
            <a:off x="3367964" y="4160520"/>
            <a:ext cx="2636444" cy="1051560"/>
          </a:xfrm>
          <a:prstGeom prst="roundRect">
            <a:avLst>
              <a:gd name="adj" fmla="val 10435"/>
            </a:avLst>
          </a:prstGeom>
          <a:solidFill>
            <a:schemeClr val="bg1"/>
          </a:solidFill>
          <a:ln w="9525">
            <a:solidFill>
              <a:schemeClr val="accent6">
                <a:alpha val="30000"/>
              </a:schemeClr>
            </a:solidFill>
            <a:prstDash val="solid"/>
          </a:ln>
        </p:spPr>
      </p:sp>
      <p:sp>
        <p:nvSpPr>
          <p:cNvPr id="24" name="Shape 20"/>
          <p:cNvSpPr/>
          <p:nvPr/>
        </p:nvSpPr>
        <p:spPr>
          <a:xfrm>
            <a:off x="3550844" y="4315968"/>
            <a:ext cx="420624" cy="420624"/>
          </a:xfrm>
          <a:prstGeom prst="roundRect">
            <a:avLst>
              <a:gd name="adj" fmla="val 24000"/>
            </a:avLst>
          </a:prstGeom>
          <a:solidFill>
            <a:schemeClr val="accent1"/>
          </a:solidFill>
          <a:ln/>
        </p:spPr>
      </p:sp>
      <p:pic>
        <p:nvPicPr>
          <p:cNvPr id="25" name="Image 1" descr="preencoded.png">    </p:cNvPr>
          <p:cNvPicPr>
            <a:picLocks noChangeAspect="1"/>
          </p:cNvPicPr>
          <p:nvPr/>
        </p:nvPicPr>
        <p:blipFill>
          <a:blip r:embed="rId2"/>
          <a:stretch>
            <a:fillRect/>
          </a:stretch>
        </p:blipFill>
        <p:spPr>
          <a:xfrm>
            <a:off x="3651794" y="4416918"/>
            <a:ext cx="218724" cy="218724"/>
          </a:xfrm>
          <a:prstGeom prst="rect">
            <a:avLst/>
          </a:prstGeom>
        </p:spPr>
      </p:pic>
      <p:sp>
        <p:nvSpPr>
          <p:cNvPr id="26" name="Text 21"/>
          <p:cNvSpPr txBox="1"/>
          <p:nvPr/>
        </p:nvSpPr>
        <p:spPr>
          <a:xfrm>
            <a:off x="4099484" y="4297680"/>
            <a:ext cx="1767764" cy="274320"/>
          </a:xfrm>
          <a:prstGeom prst="rect">
            <a:avLst/>
          </a:prstGeom>
          <a:noFill/>
          <a:ln/>
        </p:spPr>
        <p:txBody>
          <a:bodyPr wrap="square" lIns="0" tIns="0" rIns="0" bIns="0" rtlCol="0" anchor="t"/>
          <a:lstStyle/>
          <a:p>
            <a:pPr indent="0" marL="0">
              <a:buNone/>
            </a:pPr>
            <a:r>
              <a:rPr lang="en-US" sz="1300" b="1" dirty="0">
                <a:solidFill>
                  <a:schemeClr val="tx1"/>
                </a:solidFill>
              </a:rPr>
              <a:t>Kadr tayyor emas</a:t>
            </a:r>
            <a:endParaRPr lang="en-US" sz="1300" dirty="0"/>
          </a:p>
        </p:txBody>
      </p:sp>
      <p:sp>
        <p:nvSpPr>
          <p:cNvPr id="27" name="Text 22"/>
          <p:cNvSpPr txBox="1"/>
          <p:nvPr/>
        </p:nvSpPr>
        <p:spPr>
          <a:xfrm>
            <a:off x="4099484" y="4572000"/>
            <a:ext cx="1767764" cy="548640"/>
          </a:xfrm>
          <a:prstGeom prst="rect">
            <a:avLst/>
          </a:prstGeom>
          <a:noFill/>
          <a:ln/>
        </p:spPr>
        <p:txBody>
          <a:bodyPr wrap="square" lIns="0" tIns="0" rIns="0" bIns="0" rtlCol="0" anchor="t"/>
          <a:lstStyle/>
          <a:p>
            <a:pPr indent="0" marL="0">
              <a:buNone/>
            </a:pPr>
            <a:r>
              <a:rPr lang="en-US" sz="1050" dirty="0">
                <a:solidFill>
                  <a:schemeClr val="accent6"/>
                </a:solidFill>
              </a:rPr>
              <a:t>Oʻlchash va sifat nazorati koʻnikma talab qiladi</a:t>
            </a:r>
            <a:endParaRPr lang="en-US" sz="1050" dirty="0"/>
          </a:p>
        </p:txBody>
      </p:sp>
      <p:sp>
        <p:nvSpPr>
          <p:cNvPr id="28" name="Shape 23"/>
          <p:cNvSpPr/>
          <p:nvPr/>
        </p:nvSpPr>
        <p:spPr>
          <a:xfrm>
            <a:off x="6187288" y="4160520"/>
            <a:ext cx="2636444" cy="1051560"/>
          </a:xfrm>
          <a:prstGeom prst="roundRect">
            <a:avLst>
              <a:gd name="adj" fmla="val 10435"/>
            </a:avLst>
          </a:prstGeom>
          <a:solidFill>
            <a:schemeClr val="bg1"/>
          </a:solidFill>
          <a:ln w="9525">
            <a:solidFill>
              <a:schemeClr val="accent6">
                <a:alpha val="30000"/>
              </a:schemeClr>
            </a:solidFill>
            <a:prstDash val="solid"/>
          </a:ln>
        </p:spPr>
      </p:sp>
      <p:sp>
        <p:nvSpPr>
          <p:cNvPr id="29" name="Shape 24"/>
          <p:cNvSpPr/>
          <p:nvPr/>
        </p:nvSpPr>
        <p:spPr>
          <a:xfrm>
            <a:off x="6370168" y="4315968"/>
            <a:ext cx="420624" cy="420624"/>
          </a:xfrm>
          <a:prstGeom prst="roundRect">
            <a:avLst>
              <a:gd name="adj" fmla="val 24000"/>
            </a:avLst>
          </a:prstGeom>
          <a:solidFill>
            <a:schemeClr val="accent1"/>
          </a:solidFill>
          <a:ln/>
        </p:spPr>
      </p:sp>
      <p:pic>
        <p:nvPicPr>
          <p:cNvPr id="30" name="Image 2" descr="preencoded.png">    </p:cNvPr>
          <p:cNvPicPr>
            <a:picLocks noChangeAspect="1"/>
          </p:cNvPicPr>
          <p:nvPr/>
        </p:nvPicPr>
        <p:blipFill>
          <a:blip r:embed="rId3"/>
          <a:stretch>
            <a:fillRect/>
          </a:stretch>
        </p:blipFill>
        <p:spPr>
          <a:xfrm>
            <a:off x="6471117" y="4416918"/>
            <a:ext cx="218724" cy="218724"/>
          </a:xfrm>
          <a:prstGeom prst="rect">
            <a:avLst/>
          </a:prstGeom>
        </p:spPr>
      </p:pic>
      <p:sp>
        <p:nvSpPr>
          <p:cNvPr id="31" name="Text 25"/>
          <p:cNvSpPr txBox="1"/>
          <p:nvPr/>
        </p:nvSpPr>
        <p:spPr>
          <a:xfrm>
            <a:off x="6918808" y="4297680"/>
            <a:ext cx="1767764" cy="274320"/>
          </a:xfrm>
          <a:prstGeom prst="rect">
            <a:avLst/>
          </a:prstGeom>
          <a:noFill/>
          <a:ln/>
        </p:spPr>
        <p:txBody>
          <a:bodyPr wrap="square" lIns="0" tIns="0" rIns="0" bIns="0" rtlCol="0" anchor="t"/>
          <a:lstStyle/>
          <a:p>
            <a:pPr indent="0" marL="0">
              <a:buNone/>
            </a:pPr>
            <a:r>
              <a:rPr lang="en-US" sz="1300" b="1" dirty="0">
                <a:solidFill>
                  <a:schemeClr val="tx1"/>
                </a:solidFill>
              </a:rPr>
              <a:t>Xavf omillari keng</a:t>
            </a:r>
            <a:endParaRPr lang="en-US" sz="1300" dirty="0"/>
          </a:p>
        </p:txBody>
      </p:sp>
      <p:sp>
        <p:nvSpPr>
          <p:cNvPr id="32" name="Text 26"/>
          <p:cNvSpPr txBox="1"/>
          <p:nvPr/>
        </p:nvSpPr>
        <p:spPr>
          <a:xfrm>
            <a:off x="6918808" y="4572000"/>
            <a:ext cx="1767764" cy="548640"/>
          </a:xfrm>
          <a:prstGeom prst="rect">
            <a:avLst/>
          </a:prstGeom>
          <a:noFill/>
          <a:ln/>
        </p:spPr>
        <p:txBody>
          <a:bodyPr wrap="square" lIns="0" tIns="0" rIns="0" bIns="0" rtlCol="0" anchor="t"/>
          <a:lstStyle/>
          <a:p>
            <a:pPr indent="0" marL="0">
              <a:buNone/>
            </a:pPr>
            <a:r>
              <a:rPr lang="en-US" sz="1050" dirty="0">
                <a:solidFill>
                  <a:schemeClr val="accent6"/>
                </a:solidFill>
              </a:rPr>
              <a:t>Tamaki, tandir tutuni, paxta va qurilish changi</a:t>
            </a:r>
            <a:endParaRPr lang="en-US" sz="1050" dirty="0"/>
          </a:p>
        </p:txBody>
      </p:sp>
      <p:sp>
        <p:nvSpPr>
          <p:cNvPr id="33" name="Shape 27"/>
          <p:cNvSpPr/>
          <p:nvPr/>
        </p:nvSpPr>
        <p:spPr>
          <a:xfrm>
            <a:off x="9006611" y="4160520"/>
            <a:ext cx="2636444" cy="1051560"/>
          </a:xfrm>
          <a:prstGeom prst="roundRect">
            <a:avLst>
              <a:gd name="adj" fmla="val 10435"/>
            </a:avLst>
          </a:prstGeom>
          <a:solidFill>
            <a:schemeClr val="bg1"/>
          </a:solidFill>
          <a:ln w="9525">
            <a:solidFill>
              <a:schemeClr val="accent6">
                <a:alpha val="30000"/>
              </a:schemeClr>
            </a:solidFill>
            <a:prstDash val="solid"/>
          </a:ln>
        </p:spPr>
      </p:sp>
      <p:sp>
        <p:nvSpPr>
          <p:cNvPr id="34" name="Shape 28"/>
          <p:cNvSpPr/>
          <p:nvPr/>
        </p:nvSpPr>
        <p:spPr>
          <a:xfrm>
            <a:off x="9189491" y="4315968"/>
            <a:ext cx="420624" cy="420624"/>
          </a:xfrm>
          <a:prstGeom prst="roundRect">
            <a:avLst>
              <a:gd name="adj" fmla="val 24000"/>
            </a:avLst>
          </a:prstGeom>
          <a:solidFill>
            <a:schemeClr val="accent1"/>
          </a:solidFill>
          <a:ln/>
        </p:spPr>
      </p:sp>
      <p:pic>
        <p:nvPicPr>
          <p:cNvPr id="35" name="Image 3" descr="preencoded.png">    </p:cNvPr>
          <p:cNvPicPr>
            <a:picLocks noChangeAspect="1"/>
          </p:cNvPicPr>
          <p:nvPr/>
        </p:nvPicPr>
        <p:blipFill>
          <a:blip r:embed="rId4"/>
          <a:stretch>
            <a:fillRect/>
          </a:stretch>
        </p:blipFill>
        <p:spPr>
          <a:xfrm>
            <a:off x="9290441" y="4416918"/>
            <a:ext cx="218724" cy="218724"/>
          </a:xfrm>
          <a:prstGeom prst="rect">
            <a:avLst/>
          </a:prstGeom>
        </p:spPr>
      </p:pic>
      <p:sp>
        <p:nvSpPr>
          <p:cNvPr id="36" name="Text 29"/>
          <p:cNvSpPr txBox="1"/>
          <p:nvPr/>
        </p:nvSpPr>
        <p:spPr>
          <a:xfrm>
            <a:off x="9738131" y="4297680"/>
            <a:ext cx="1767764" cy="274320"/>
          </a:xfrm>
          <a:prstGeom prst="rect">
            <a:avLst/>
          </a:prstGeom>
          <a:noFill/>
          <a:ln/>
        </p:spPr>
        <p:txBody>
          <a:bodyPr wrap="square" lIns="0" tIns="0" rIns="0" bIns="0" rtlCol="0" anchor="t"/>
          <a:lstStyle/>
          <a:p>
            <a:pPr indent="0" marL="0">
              <a:buNone/>
            </a:pPr>
            <a:r>
              <a:rPr lang="en-US" sz="1300" b="1" dirty="0">
                <a:solidFill>
                  <a:schemeClr val="tx1"/>
                </a:solidFill>
              </a:rPr>
              <a:t>Talqin murakkab</a:t>
            </a:r>
            <a:endParaRPr lang="en-US" sz="1300" dirty="0"/>
          </a:p>
        </p:txBody>
      </p:sp>
      <p:sp>
        <p:nvSpPr>
          <p:cNvPr id="37" name="Text 30"/>
          <p:cNvSpPr txBox="1"/>
          <p:nvPr/>
        </p:nvSpPr>
        <p:spPr>
          <a:xfrm>
            <a:off x="9738131" y="4572000"/>
            <a:ext cx="1767764" cy="548640"/>
          </a:xfrm>
          <a:prstGeom prst="rect">
            <a:avLst/>
          </a:prstGeom>
          <a:noFill/>
          <a:ln/>
        </p:spPr>
        <p:txBody>
          <a:bodyPr wrap="square" lIns="0" tIns="0" rIns="0" bIns="0" rtlCol="0" anchor="t"/>
          <a:lstStyle/>
          <a:p>
            <a:pPr indent="0" marL="0">
              <a:buNone/>
            </a:pPr>
            <a:r>
              <a:rPr lang="en-US" sz="1050" dirty="0">
                <a:solidFill>
                  <a:schemeClr val="accent6"/>
                </a:solidFill>
              </a:rPr>
              <a:t>LLN va GOLD darajasida xato koʻp</a:t>
            </a:r>
            <a:endParaRPr lang="en-US" sz="1050" dirty="0"/>
          </a:p>
        </p:txBody>
      </p:sp>
      <p:sp>
        <p:nvSpPr>
          <p:cNvPr id="38" name="Shape 31"/>
          <p:cNvSpPr/>
          <p:nvPr/>
        </p:nvSpPr>
        <p:spPr>
          <a:xfrm>
            <a:off x="548640" y="5440680"/>
            <a:ext cx="11094415" cy="658368"/>
          </a:xfrm>
          <a:prstGeom prst="roundRect">
            <a:avLst>
              <a:gd name="adj" fmla="val 16667"/>
            </a:avLst>
          </a:prstGeom>
          <a:solidFill>
            <a:schemeClr val="accent1">
              <a:alpha val="10000"/>
            </a:schemeClr>
          </a:solidFill>
          <a:ln/>
        </p:spPr>
      </p:sp>
      <p:sp>
        <p:nvSpPr>
          <p:cNvPr id="39" name="Shape 32"/>
          <p:cNvSpPr/>
          <p:nvPr/>
        </p:nvSpPr>
        <p:spPr>
          <a:xfrm>
            <a:off x="713232" y="5559552"/>
            <a:ext cx="420624" cy="420624"/>
          </a:xfrm>
          <a:prstGeom prst="roundRect">
            <a:avLst>
              <a:gd name="adj" fmla="val 24000"/>
            </a:avLst>
          </a:prstGeom>
          <a:solidFill>
            <a:schemeClr val="accent1"/>
          </a:solidFill>
          <a:ln/>
        </p:spPr>
      </p:sp>
      <p:pic>
        <p:nvPicPr>
          <p:cNvPr id="40" name="Image 4" descr="preencoded.png">    </p:cNvPr>
          <p:cNvPicPr>
            <a:picLocks noChangeAspect="1"/>
          </p:cNvPicPr>
          <p:nvPr/>
        </p:nvPicPr>
        <p:blipFill>
          <a:blip r:embed="rId5"/>
          <a:stretch>
            <a:fillRect/>
          </a:stretch>
        </p:blipFill>
        <p:spPr>
          <a:xfrm>
            <a:off x="814182" y="5660502"/>
            <a:ext cx="218724" cy="218724"/>
          </a:xfrm>
          <a:prstGeom prst="rect">
            <a:avLst/>
          </a:prstGeom>
        </p:spPr>
      </p:pic>
      <p:sp>
        <p:nvSpPr>
          <p:cNvPr id="41" name="Text 33"/>
          <p:cNvSpPr txBox="1"/>
          <p:nvPr/>
        </p:nvSpPr>
        <p:spPr>
          <a:xfrm>
            <a:off x="1280160" y="5440680"/>
            <a:ext cx="10180015" cy="658368"/>
          </a:xfrm>
          <a:prstGeom prst="rect">
            <a:avLst/>
          </a:prstGeom>
          <a:noFill/>
          <a:ln/>
        </p:spPr>
        <p:txBody>
          <a:bodyPr wrap="square" lIns="0" tIns="0" rIns="0" bIns="0" rtlCol="0" anchor="ctr"/>
          <a:lstStyle/>
          <a:p>
            <a:pPr indent="0" marL="0">
              <a:buNone/>
            </a:pPr>
            <a:r>
              <a:rPr lang="en-US" sz="1300" b="1" dirty="0">
                <a:solidFill>
                  <a:schemeClr val="accent1"/>
                </a:solidFill>
              </a:rPr>
              <a:t>Oʻzbekiston: </a:t>
            </a:r>
            <a:pPr indent="0" marL="0">
              <a:buNone/>
            </a:pPr>
            <a:r>
              <a:rPr lang="en-US" sz="1300" dirty="0">
                <a:solidFill>
                  <a:schemeClr val="tx1"/>
                </a:solidFill>
              </a:rPr>
              <a:t>aholi miqyosidagi spirometrik tadqiqot topilmadi. Qoʻshni MDH davlatlarida (CORE): 3,2–6,7% — deyarli barchasi ilk bor aniqlangan.</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YECHIM</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Uch bosqich: bugun ishlaydigan asosdan telefon ilovasigacha</a:t>
            </a:r>
            <a:endParaRPr lang="en-US" sz="2800" dirty="0"/>
          </a:p>
        </p:txBody>
      </p:sp>
      <p:sp>
        <p:nvSpPr>
          <p:cNvPr id="5" name="stage1"/>
          <p:cNvSpPr/>
          <p:nvPr/>
        </p:nvSpPr>
        <p:spPr>
          <a:xfrm>
            <a:off x="548640" y="1600200"/>
            <a:ext cx="3423818" cy="3703320"/>
          </a:xfrm>
          <a:prstGeom prst="roundRect">
            <a:avLst>
              <a:gd name="adj" fmla="val 3205"/>
            </a:avLst>
          </a:prstGeom>
          <a:solidFill>
            <a:schemeClr val="accent1"/>
          </a:solidFill>
          <a:ln/>
        </p:spPr>
      </p:sp>
      <p:sp>
        <p:nvSpPr>
          <p:cNvPr id="6" name="Shape 3"/>
          <p:cNvSpPr/>
          <p:nvPr/>
        </p:nvSpPr>
        <p:spPr>
          <a:xfrm>
            <a:off x="822960" y="1874520"/>
            <a:ext cx="1463040" cy="274320"/>
          </a:xfrm>
          <a:prstGeom prst="roundRect">
            <a:avLst>
              <a:gd name="adj" fmla="val 50000"/>
            </a:avLst>
          </a:prstGeom>
          <a:solidFill>
            <a:schemeClr val="bg1">
              <a:alpha val="20000"/>
            </a:schemeClr>
          </a:solidFill>
          <a:ln/>
        </p:spPr>
      </p:sp>
      <p:sp>
        <p:nvSpPr>
          <p:cNvPr id="7" name="Text 4"/>
          <p:cNvSpPr txBox="1"/>
          <p:nvPr/>
        </p:nvSpPr>
        <p:spPr>
          <a:xfrm>
            <a:off x="822960" y="1874520"/>
            <a:ext cx="146304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HOZIR ISHLAYDI</a:t>
            </a:r>
            <a:endParaRPr lang="en-US" sz="1000" dirty="0"/>
          </a:p>
        </p:txBody>
      </p:sp>
      <p:sp>
        <p:nvSpPr>
          <p:cNvPr id="8" name="Shape 5"/>
          <p:cNvSpPr/>
          <p:nvPr/>
        </p:nvSpPr>
        <p:spPr>
          <a:xfrm>
            <a:off x="3195218" y="1828800"/>
            <a:ext cx="502920" cy="502920"/>
          </a:xfrm>
          <a:prstGeom prst="roundRect">
            <a:avLst>
              <a:gd name="adj" fmla="val 24000"/>
            </a:avLst>
          </a:prstGeom>
          <a:solidFill>
            <a:schemeClr val="bg1"/>
          </a:solidFill>
          <a:ln/>
        </p:spPr>
      </p:sp>
      <p:pic>
        <p:nvPicPr>
          <p:cNvPr id="9" name="Image 0" descr="preencoded.png">    </p:cNvPr>
          <p:cNvPicPr>
            <a:picLocks noChangeAspect="1"/>
          </p:cNvPicPr>
          <p:nvPr/>
        </p:nvPicPr>
        <p:blipFill>
          <a:blip r:embed="rId1"/>
          <a:stretch>
            <a:fillRect/>
          </a:stretch>
        </p:blipFill>
        <p:spPr>
          <a:xfrm>
            <a:off x="3315919" y="1949501"/>
            <a:ext cx="261518" cy="261518"/>
          </a:xfrm>
          <a:prstGeom prst="rect">
            <a:avLst/>
          </a:prstGeom>
        </p:spPr>
      </p:pic>
      <p:sp>
        <p:nvSpPr>
          <p:cNvPr id="10" name="Text 6"/>
          <p:cNvSpPr txBox="1"/>
          <p:nvPr/>
        </p:nvSpPr>
        <p:spPr>
          <a:xfrm>
            <a:off x="822960" y="2331720"/>
            <a:ext cx="914400" cy="685800"/>
          </a:xfrm>
          <a:prstGeom prst="rect">
            <a:avLst/>
          </a:prstGeom>
          <a:noFill/>
          <a:ln/>
        </p:spPr>
        <p:txBody>
          <a:bodyPr wrap="square" lIns="0" tIns="0" rIns="0" bIns="0" rtlCol="0" anchor="t"/>
          <a:lstStyle/>
          <a:p>
            <a:pPr indent="0" marL="0">
              <a:buNone/>
            </a:pPr>
            <a:r>
              <a:rPr lang="en-US" sz="4400" b="1" dirty="0">
                <a:solidFill>
                  <a:schemeClr val="accent5"/>
                </a:solidFill>
              </a:rPr>
              <a:t>1</a:t>
            </a:r>
            <a:endParaRPr lang="en-US" sz="4400" dirty="0"/>
          </a:p>
        </p:txBody>
      </p:sp>
      <p:sp>
        <p:nvSpPr>
          <p:cNvPr id="11" name="Text 7"/>
          <p:cNvSpPr txBox="1"/>
          <p:nvPr/>
        </p:nvSpPr>
        <p:spPr>
          <a:xfrm>
            <a:off x="822960" y="3063240"/>
            <a:ext cx="2875178" cy="365760"/>
          </a:xfrm>
          <a:prstGeom prst="rect">
            <a:avLst/>
          </a:prstGeom>
          <a:noFill/>
          <a:ln/>
        </p:spPr>
        <p:txBody>
          <a:bodyPr wrap="square" lIns="0" tIns="0" rIns="0" bIns="0" rtlCol="0" anchor="t"/>
          <a:lstStyle/>
          <a:p>
            <a:pPr indent="0" marL="0">
              <a:buNone/>
            </a:pPr>
            <a:r>
              <a:rPr lang="en-US" sz="1900" b="1" dirty="0">
                <a:solidFill>
                  <a:schemeClr val="bg1"/>
                </a:solidFill>
              </a:rPr>
              <a:t>Savolnoma + talqin</a:t>
            </a:r>
            <a:endParaRPr lang="en-US" sz="1900" dirty="0"/>
          </a:p>
        </p:txBody>
      </p:sp>
      <p:sp>
        <p:nvSpPr>
          <p:cNvPr id="12" name="Text 8"/>
          <p:cNvSpPr txBox="1"/>
          <p:nvPr/>
        </p:nvSpPr>
        <p:spPr>
          <a:xfrm>
            <a:off x="822960" y="3520440"/>
            <a:ext cx="2966618"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bg1"/>
                </a:solidFill>
              </a:rPr>
              <a:t>19 ballik xavf modeli</a:t>
            </a:r>
            <a:endParaRPr lang="en-US" sz="1300" dirty="0"/>
          </a:p>
          <a:p>
            <a:pPr marL="177800" indent="-177800">
              <a:spcAft>
                <a:spcPts val="500"/>
              </a:spcAft>
              <a:buSzPct val="100000"/>
              <a:buChar char="•"/>
            </a:pPr>
            <a:r>
              <a:rPr lang="en-US" sz="1300" dirty="0">
                <a:solidFill>
                  <a:schemeClr val="bg1"/>
                </a:solidFill>
              </a:rPr>
              <a:t>Spirometriya talqini (GLI-2012)</a:t>
            </a:r>
            <a:endParaRPr lang="en-US" sz="1300" dirty="0"/>
          </a:p>
          <a:p>
            <a:pPr marL="177800" indent="-177800">
              <a:spcAft>
                <a:spcPts val="500"/>
              </a:spcAft>
              <a:buSzPct val="100000"/>
              <a:buChar char="•"/>
            </a:pPr>
            <a:r>
              <a:rPr lang="en-US" sz="1300" dirty="0">
                <a:solidFill>
                  <a:schemeClr val="bg1"/>
                </a:solidFill>
              </a:rPr>
              <a:t>Bemorlar paneli va yoʻllanma</a:t>
            </a:r>
            <a:endParaRPr lang="en-US" sz="1300" dirty="0"/>
          </a:p>
        </p:txBody>
      </p:sp>
      <p:sp>
        <p:nvSpPr>
          <p:cNvPr id="13" name="Text 9"/>
          <p:cNvSpPr txBox="1"/>
          <p:nvPr/>
        </p:nvSpPr>
        <p:spPr>
          <a:xfrm>
            <a:off x="822960" y="4800600"/>
            <a:ext cx="2875178" cy="274320"/>
          </a:xfrm>
          <a:prstGeom prst="rect">
            <a:avLst/>
          </a:prstGeom>
          <a:noFill/>
          <a:ln/>
        </p:spPr>
        <p:txBody>
          <a:bodyPr wrap="square" lIns="0" tIns="0" rIns="0" bIns="0" rtlCol="0" anchor="t"/>
          <a:lstStyle/>
          <a:p>
            <a:pPr indent="0" marL="0">
              <a:buNone/>
            </a:pPr>
            <a:r>
              <a:rPr lang="en-US" sz="1100" b="1" dirty="0">
                <a:solidFill>
                  <a:schemeClr val="bg2"/>
                </a:solidFill>
              </a:rPr>
              <a:t>Qurilma: kerak emas</a:t>
            </a:r>
            <a:endParaRPr lang="en-US" sz="1100" dirty="0"/>
          </a:p>
        </p:txBody>
      </p:sp>
      <p:sp>
        <p:nvSpPr>
          <p:cNvPr id="14" name="Shape 10"/>
          <p:cNvSpPr/>
          <p:nvPr/>
        </p:nvSpPr>
        <p:spPr>
          <a:xfrm>
            <a:off x="4082186" y="3314700"/>
            <a:ext cx="182880" cy="274320"/>
          </a:xfrm>
          <a:prstGeom prst="chevron">
            <a:avLst/>
          </a:prstGeom>
          <a:solidFill>
            <a:schemeClr val="accent1">
              <a:alpha val="60000"/>
            </a:schemeClr>
          </a:solidFill>
          <a:ln/>
        </p:spPr>
      </p:sp>
      <p:sp>
        <p:nvSpPr>
          <p:cNvPr id="15" name="stage2"/>
          <p:cNvSpPr/>
          <p:nvPr/>
        </p:nvSpPr>
        <p:spPr>
          <a:xfrm>
            <a:off x="4383938" y="1600200"/>
            <a:ext cx="3423818" cy="3703320"/>
          </a:xfrm>
          <a:prstGeom prst="roundRect">
            <a:avLst>
              <a:gd name="adj" fmla="val 3205"/>
            </a:avLst>
          </a:prstGeom>
          <a:solidFill>
            <a:schemeClr val="bg2"/>
          </a:solidFill>
          <a:ln/>
        </p:spPr>
      </p:sp>
      <p:sp>
        <p:nvSpPr>
          <p:cNvPr id="16" name="Shape 12"/>
          <p:cNvSpPr/>
          <p:nvPr/>
        </p:nvSpPr>
        <p:spPr>
          <a:xfrm>
            <a:off x="4658258" y="1874520"/>
            <a:ext cx="1463040" cy="274320"/>
          </a:xfrm>
          <a:prstGeom prst="roundRect">
            <a:avLst>
              <a:gd name="adj" fmla="val 50000"/>
            </a:avLst>
          </a:prstGeom>
          <a:solidFill>
            <a:schemeClr val="accent1">
              <a:alpha val="15000"/>
            </a:schemeClr>
          </a:solidFill>
          <a:ln/>
        </p:spPr>
      </p:sp>
      <p:sp>
        <p:nvSpPr>
          <p:cNvPr id="17" name="Text 13"/>
          <p:cNvSpPr txBox="1"/>
          <p:nvPr/>
        </p:nvSpPr>
        <p:spPr>
          <a:xfrm>
            <a:off x="4658258" y="1874520"/>
            <a:ext cx="146304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2-BOSQICH</a:t>
            </a:r>
            <a:endParaRPr lang="en-US" sz="1000" dirty="0"/>
          </a:p>
        </p:txBody>
      </p:sp>
      <p:sp>
        <p:nvSpPr>
          <p:cNvPr id="18" name="Shape 14"/>
          <p:cNvSpPr/>
          <p:nvPr/>
        </p:nvSpPr>
        <p:spPr>
          <a:xfrm>
            <a:off x="7030517" y="1828800"/>
            <a:ext cx="502920" cy="502920"/>
          </a:xfrm>
          <a:prstGeom prst="roundRect">
            <a:avLst>
              <a:gd name="adj" fmla="val 24000"/>
            </a:avLst>
          </a:prstGeom>
          <a:solidFill>
            <a:schemeClr val="accent1"/>
          </a:solidFill>
          <a:ln/>
        </p:spPr>
      </p:sp>
      <p:pic>
        <p:nvPicPr>
          <p:cNvPr id="19" name="Image 1" descr="preencoded.png">    </p:cNvPr>
          <p:cNvPicPr>
            <a:picLocks noChangeAspect="1"/>
          </p:cNvPicPr>
          <p:nvPr/>
        </p:nvPicPr>
        <p:blipFill>
          <a:blip r:embed="rId2"/>
          <a:stretch>
            <a:fillRect/>
          </a:stretch>
        </p:blipFill>
        <p:spPr>
          <a:xfrm>
            <a:off x="7151218" y="1949501"/>
            <a:ext cx="261518" cy="261518"/>
          </a:xfrm>
          <a:prstGeom prst="rect">
            <a:avLst/>
          </a:prstGeom>
        </p:spPr>
      </p:pic>
      <p:sp>
        <p:nvSpPr>
          <p:cNvPr id="20" name="Text 15"/>
          <p:cNvSpPr txBox="1"/>
          <p:nvPr/>
        </p:nvSpPr>
        <p:spPr>
          <a:xfrm>
            <a:off x="4658258" y="2331720"/>
            <a:ext cx="914400" cy="685800"/>
          </a:xfrm>
          <a:prstGeom prst="rect">
            <a:avLst/>
          </a:prstGeom>
          <a:noFill/>
          <a:ln/>
        </p:spPr>
        <p:txBody>
          <a:bodyPr wrap="square" lIns="0" tIns="0" rIns="0" bIns="0" rtlCol="0" anchor="t"/>
          <a:lstStyle/>
          <a:p>
            <a:pPr indent="0" marL="0">
              <a:buNone/>
            </a:pPr>
            <a:r>
              <a:rPr lang="en-US" sz="4400" b="1" dirty="0">
                <a:solidFill>
                  <a:schemeClr val="accent1"/>
                </a:solidFill>
              </a:rPr>
              <a:t>2</a:t>
            </a:r>
            <a:endParaRPr lang="en-US" sz="4400" dirty="0"/>
          </a:p>
        </p:txBody>
      </p:sp>
      <p:sp>
        <p:nvSpPr>
          <p:cNvPr id="21" name="Text 16"/>
          <p:cNvSpPr txBox="1"/>
          <p:nvPr/>
        </p:nvSpPr>
        <p:spPr>
          <a:xfrm>
            <a:off x="4658258" y="3063240"/>
            <a:ext cx="2875178" cy="365760"/>
          </a:xfrm>
          <a:prstGeom prst="rect">
            <a:avLst/>
          </a:prstGeom>
          <a:noFill/>
          <a:ln/>
        </p:spPr>
        <p:txBody>
          <a:bodyPr wrap="square" lIns="0" tIns="0" rIns="0" bIns="0" rtlCol="0" anchor="t"/>
          <a:lstStyle/>
          <a:p>
            <a:pPr indent="0" marL="0">
              <a:buNone/>
            </a:pPr>
            <a:r>
              <a:rPr lang="en-US" sz="1900" b="1" dirty="0">
                <a:solidFill>
                  <a:schemeClr val="tx1"/>
                </a:solidFill>
              </a:rPr>
              <a:t>Portativ spirometr</a:t>
            </a:r>
            <a:endParaRPr lang="en-US" sz="1900" dirty="0"/>
          </a:p>
        </p:txBody>
      </p:sp>
      <p:sp>
        <p:nvSpPr>
          <p:cNvPr id="22" name="Text 17"/>
          <p:cNvSpPr txBox="1"/>
          <p:nvPr/>
        </p:nvSpPr>
        <p:spPr>
          <a:xfrm>
            <a:off x="4658258" y="3520440"/>
            <a:ext cx="2966618"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Bluetooth / USB orqali ulanish</a:t>
            </a:r>
            <a:endParaRPr lang="en-US" sz="1300" dirty="0"/>
          </a:p>
          <a:p>
            <a:pPr marL="177800" indent="-177800">
              <a:spcAft>
                <a:spcPts val="500"/>
              </a:spcAft>
              <a:buSzPct val="100000"/>
              <a:buChar char="•"/>
            </a:pPr>
            <a:r>
              <a:rPr lang="en-US" sz="1300" dirty="0">
                <a:solidFill>
                  <a:schemeClr val="tx1"/>
                </a:solidFill>
              </a:rPr>
              <a:t>Oʻlchov avtomatik kartaga</a:t>
            </a:r>
            <a:endParaRPr lang="en-US" sz="1300" dirty="0"/>
          </a:p>
          <a:p>
            <a:pPr marL="177800" indent="-177800">
              <a:spcAft>
                <a:spcPts val="500"/>
              </a:spcAft>
              <a:buSzPct val="100000"/>
              <a:buChar char="•"/>
            </a:pPr>
            <a:r>
              <a:rPr lang="en-US" sz="1300" dirty="0">
                <a:solidFill>
                  <a:schemeClr val="tx1"/>
                </a:solidFill>
              </a:rPr>
              <a:t>Sifat nazorati va talqin</a:t>
            </a:r>
            <a:endParaRPr lang="en-US" sz="1300" dirty="0"/>
          </a:p>
        </p:txBody>
      </p:sp>
      <p:sp>
        <p:nvSpPr>
          <p:cNvPr id="23" name="Text 18"/>
          <p:cNvSpPr txBox="1"/>
          <p:nvPr/>
        </p:nvSpPr>
        <p:spPr>
          <a:xfrm>
            <a:off x="4658258" y="4800600"/>
            <a:ext cx="2875178" cy="274320"/>
          </a:xfrm>
          <a:prstGeom prst="rect">
            <a:avLst/>
          </a:prstGeom>
          <a:noFill/>
          <a:ln/>
        </p:spPr>
        <p:txBody>
          <a:bodyPr wrap="square" lIns="0" tIns="0" rIns="0" bIns="0" rtlCol="0" anchor="t"/>
          <a:lstStyle/>
          <a:p>
            <a:pPr indent="0" marL="0">
              <a:buNone/>
            </a:pPr>
            <a:r>
              <a:rPr lang="en-US" sz="1100" b="1" dirty="0">
                <a:solidFill>
                  <a:schemeClr val="accent6"/>
                </a:solidFill>
              </a:rPr>
              <a:t>Qurilma: 1 ta — butun punktga</a:t>
            </a:r>
            <a:endParaRPr lang="en-US" sz="1100" dirty="0"/>
          </a:p>
        </p:txBody>
      </p:sp>
      <p:sp>
        <p:nvSpPr>
          <p:cNvPr id="24" name="Shape 19"/>
          <p:cNvSpPr/>
          <p:nvPr/>
        </p:nvSpPr>
        <p:spPr>
          <a:xfrm>
            <a:off x="7917485" y="3314700"/>
            <a:ext cx="182880" cy="274320"/>
          </a:xfrm>
          <a:prstGeom prst="chevron">
            <a:avLst/>
          </a:prstGeom>
          <a:solidFill>
            <a:schemeClr val="accent1">
              <a:alpha val="60000"/>
            </a:schemeClr>
          </a:solidFill>
          <a:ln/>
        </p:spPr>
      </p:sp>
      <p:sp>
        <p:nvSpPr>
          <p:cNvPr id="25" name="stage3"/>
          <p:cNvSpPr/>
          <p:nvPr/>
        </p:nvSpPr>
        <p:spPr>
          <a:xfrm>
            <a:off x="8219237" y="1600200"/>
            <a:ext cx="3423818" cy="3703320"/>
          </a:xfrm>
          <a:prstGeom prst="roundRect">
            <a:avLst>
              <a:gd name="adj" fmla="val 3205"/>
            </a:avLst>
          </a:prstGeom>
          <a:solidFill>
            <a:schemeClr val="bg2"/>
          </a:solidFill>
          <a:ln/>
        </p:spPr>
      </p:sp>
      <p:sp>
        <p:nvSpPr>
          <p:cNvPr id="26" name="Shape 21"/>
          <p:cNvSpPr/>
          <p:nvPr/>
        </p:nvSpPr>
        <p:spPr>
          <a:xfrm>
            <a:off x="8493557" y="1874520"/>
            <a:ext cx="2011680" cy="274320"/>
          </a:xfrm>
          <a:prstGeom prst="roundRect">
            <a:avLst>
              <a:gd name="adj" fmla="val 50000"/>
            </a:avLst>
          </a:prstGeom>
          <a:solidFill>
            <a:schemeClr val="accent1">
              <a:alpha val="15000"/>
            </a:schemeClr>
          </a:solidFill>
          <a:ln/>
        </p:spPr>
      </p:sp>
      <p:sp>
        <p:nvSpPr>
          <p:cNvPr id="27" name="Text 22"/>
          <p:cNvSpPr txBox="1"/>
          <p:nvPr/>
        </p:nvSpPr>
        <p:spPr>
          <a:xfrm>
            <a:off x="8493557" y="1874520"/>
            <a:ext cx="2011680" cy="274320"/>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3-BOSQICH · TADQIQOT</a:t>
            </a:r>
            <a:endParaRPr lang="en-US" sz="1000" dirty="0"/>
          </a:p>
        </p:txBody>
      </p:sp>
      <p:sp>
        <p:nvSpPr>
          <p:cNvPr id="28" name="Shape 23"/>
          <p:cNvSpPr/>
          <p:nvPr/>
        </p:nvSpPr>
        <p:spPr>
          <a:xfrm>
            <a:off x="10865815" y="1828800"/>
            <a:ext cx="502920" cy="502920"/>
          </a:xfrm>
          <a:prstGeom prst="roundRect">
            <a:avLst>
              <a:gd name="adj" fmla="val 24000"/>
            </a:avLst>
          </a:prstGeom>
          <a:solidFill>
            <a:schemeClr val="accent1"/>
          </a:solidFill>
          <a:ln/>
        </p:spPr>
      </p:sp>
      <p:pic>
        <p:nvPicPr>
          <p:cNvPr id="29" name="Image 2" descr="preencoded.png">    </p:cNvPr>
          <p:cNvPicPr>
            <a:picLocks noChangeAspect="1"/>
          </p:cNvPicPr>
          <p:nvPr/>
        </p:nvPicPr>
        <p:blipFill>
          <a:blip r:embed="rId3"/>
          <a:stretch>
            <a:fillRect/>
          </a:stretch>
        </p:blipFill>
        <p:spPr>
          <a:xfrm>
            <a:off x="10986516" y="1949501"/>
            <a:ext cx="261518" cy="261518"/>
          </a:xfrm>
          <a:prstGeom prst="rect">
            <a:avLst/>
          </a:prstGeom>
        </p:spPr>
      </p:pic>
      <p:sp>
        <p:nvSpPr>
          <p:cNvPr id="30" name="Text 24"/>
          <p:cNvSpPr txBox="1"/>
          <p:nvPr/>
        </p:nvSpPr>
        <p:spPr>
          <a:xfrm>
            <a:off x="8493557" y="2331720"/>
            <a:ext cx="914400" cy="685800"/>
          </a:xfrm>
          <a:prstGeom prst="rect">
            <a:avLst/>
          </a:prstGeom>
          <a:noFill/>
          <a:ln/>
        </p:spPr>
        <p:txBody>
          <a:bodyPr wrap="square" lIns="0" tIns="0" rIns="0" bIns="0" rtlCol="0" anchor="t"/>
          <a:lstStyle/>
          <a:p>
            <a:pPr indent="0" marL="0">
              <a:buNone/>
            </a:pPr>
            <a:r>
              <a:rPr lang="en-US" sz="4400" b="1" dirty="0">
                <a:solidFill>
                  <a:schemeClr val="accent1"/>
                </a:solidFill>
              </a:rPr>
              <a:t>3</a:t>
            </a:r>
            <a:endParaRPr lang="en-US" sz="4400" dirty="0"/>
          </a:p>
        </p:txBody>
      </p:sp>
      <p:sp>
        <p:nvSpPr>
          <p:cNvPr id="31" name="Text 25"/>
          <p:cNvSpPr txBox="1"/>
          <p:nvPr/>
        </p:nvSpPr>
        <p:spPr>
          <a:xfrm>
            <a:off x="8493557" y="3063240"/>
            <a:ext cx="2875178" cy="365760"/>
          </a:xfrm>
          <a:prstGeom prst="rect">
            <a:avLst/>
          </a:prstGeom>
          <a:noFill/>
          <a:ln/>
        </p:spPr>
        <p:txBody>
          <a:bodyPr wrap="square" lIns="0" tIns="0" rIns="0" bIns="0" rtlCol="0" anchor="t"/>
          <a:lstStyle/>
          <a:p>
            <a:pPr indent="0" marL="0">
              <a:buNone/>
            </a:pPr>
            <a:r>
              <a:rPr lang="en-US" sz="1900" b="1" dirty="0">
                <a:solidFill>
                  <a:schemeClr val="tx1"/>
                </a:solidFill>
              </a:rPr>
              <a:t>Telefon ilovasi</a:t>
            </a:r>
            <a:endParaRPr lang="en-US" sz="1900" dirty="0"/>
          </a:p>
        </p:txBody>
      </p:sp>
      <p:sp>
        <p:nvSpPr>
          <p:cNvPr id="32" name="Text 26"/>
          <p:cNvSpPr txBox="1"/>
          <p:nvPr/>
        </p:nvSpPr>
        <p:spPr>
          <a:xfrm>
            <a:off x="8493557" y="3520440"/>
            <a:ext cx="2966618" cy="1097280"/>
          </a:xfrm>
          <a:prstGeom prst="rect">
            <a:avLst/>
          </a:prstGeom>
          <a:noFill/>
          <a:ln/>
        </p:spPr>
        <p:txBody>
          <a:bodyPr wrap="square" lIns="0" tIns="0" rIns="0" bIns="0" rtlCol="0" anchor="t"/>
          <a:lstStyle/>
          <a:p>
            <a:pPr marL="177800" indent="-177800">
              <a:spcAft>
                <a:spcPts val="500"/>
              </a:spcAft>
              <a:buSzPct val="100000"/>
              <a:buChar char="•"/>
            </a:pPr>
            <a:r>
              <a:rPr lang="en-US" sz="1300" dirty="0">
                <a:solidFill>
                  <a:schemeClr val="tx1"/>
                </a:solidFill>
              </a:rPr>
              <a:t>Bemor oʻzi baholaydi (CAT, mMRC)</a:t>
            </a:r>
            <a:endParaRPr lang="en-US" sz="1300" dirty="0"/>
          </a:p>
          <a:p>
            <a:pPr marL="177800" indent="-177800">
              <a:spcAft>
                <a:spcPts val="500"/>
              </a:spcAft>
              <a:buSzPct val="100000"/>
              <a:buChar char="•"/>
            </a:pPr>
            <a:r>
              <a:rPr lang="en-US" sz="1300" dirty="0">
                <a:solidFill>
                  <a:schemeClr val="tx1"/>
                </a:solidFill>
              </a:rPr>
              <a:t>Eslatmalar va kuzatuv</a:t>
            </a:r>
            <a:endParaRPr lang="en-US" sz="1300" dirty="0"/>
          </a:p>
          <a:p>
            <a:pPr marL="177800" indent="-177800">
              <a:spcAft>
                <a:spcPts val="500"/>
              </a:spcAft>
              <a:buSzPct val="100000"/>
              <a:buChar char="•"/>
            </a:pPr>
            <a:r>
              <a:rPr lang="en-US" sz="1300" dirty="0">
                <a:solidFill>
                  <a:schemeClr val="tx1"/>
                </a:solidFill>
              </a:rPr>
              <a:t>Mikrofon orqali nafas testi</a:t>
            </a:r>
            <a:endParaRPr lang="en-US" sz="1300" dirty="0"/>
          </a:p>
        </p:txBody>
      </p:sp>
      <p:sp>
        <p:nvSpPr>
          <p:cNvPr id="33" name="Text 27"/>
          <p:cNvSpPr txBox="1"/>
          <p:nvPr/>
        </p:nvSpPr>
        <p:spPr>
          <a:xfrm>
            <a:off x="8493557" y="4800600"/>
            <a:ext cx="2875178" cy="274320"/>
          </a:xfrm>
          <a:prstGeom prst="rect">
            <a:avLst/>
          </a:prstGeom>
          <a:noFill/>
          <a:ln/>
        </p:spPr>
        <p:txBody>
          <a:bodyPr wrap="square" lIns="0" tIns="0" rIns="0" bIns="0" rtlCol="0" anchor="t"/>
          <a:lstStyle/>
          <a:p>
            <a:pPr indent="0" marL="0">
              <a:buNone/>
            </a:pPr>
            <a:r>
              <a:rPr lang="en-US" sz="1100" b="1" dirty="0">
                <a:solidFill>
                  <a:schemeClr val="accent6"/>
                </a:solidFill>
              </a:rPr>
              <a:t>Qurilma: bemorning telefoni</a:t>
            </a:r>
            <a:endParaRPr lang="en-US" sz="1100" dirty="0"/>
          </a:p>
        </p:txBody>
      </p:sp>
      <p:sp>
        <p:nvSpPr>
          <p:cNvPr id="34" name="Text 28"/>
          <p:cNvSpPr txBox="1"/>
          <p:nvPr/>
        </p:nvSpPr>
        <p:spPr>
          <a:xfrm>
            <a:off x="548640" y="5577840"/>
            <a:ext cx="11094415" cy="365760"/>
          </a:xfrm>
          <a:prstGeom prst="rect">
            <a:avLst/>
          </a:prstGeom>
          <a:noFill/>
          <a:ln/>
        </p:spPr>
        <p:txBody>
          <a:bodyPr wrap="square" lIns="0" tIns="0" rIns="0" bIns="0" rtlCol="0" anchor="t"/>
          <a:lstStyle/>
          <a:p>
            <a:pPr indent="0" marL="0">
              <a:buNone/>
            </a:pPr>
            <a:r>
              <a:rPr lang="en-US" sz="1400" b="1" dirty="0">
                <a:solidFill>
                  <a:schemeClr val="accent1"/>
                </a:solidFill>
              </a:rPr>
              <a:t>Har bir bosqich oldingisiga tayanadi: bitta xavf modeli, bitta bemor kartasi, bitta maʼlumotlar bazasi.</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1-BOSQICH · QANDAY ISHLAYDI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5 daqiqa: savolnomadan yoʻllanmagacha</a:t>
            </a:r>
            <a:endParaRPr lang="en-US" sz="2800" dirty="0"/>
          </a:p>
        </p:txBody>
      </p:sp>
      <p:sp>
        <p:nvSpPr>
          <p:cNvPr id="5" name="Shape 2"/>
          <p:cNvSpPr/>
          <p:nvPr/>
        </p:nvSpPr>
        <p:spPr>
          <a:xfrm>
            <a:off x="548640" y="1645920"/>
            <a:ext cx="502920" cy="502920"/>
          </a:xfrm>
          <a:prstGeom prst="ellipse">
            <a:avLst/>
          </a:prstGeom>
          <a:solidFill>
            <a:schemeClr val="bg2"/>
          </a:solidFill>
          <a:ln/>
        </p:spPr>
      </p:sp>
      <p:sp>
        <p:nvSpPr>
          <p:cNvPr id="6" name="Text 3"/>
          <p:cNvSpPr txBox="1"/>
          <p:nvPr/>
        </p:nvSpPr>
        <p:spPr>
          <a:xfrm>
            <a:off x="548640" y="164592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4"/>
          <p:cNvSpPr txBox="1"/>
          <p:nvPr/>
        </p:nvSpPr>
        <p:spPr>
          <a:xfrm>
            <a:off x="1234440" y="1627632"/>
            <a:ext cx="3566160" cy="292608"/>
          </a:xfrm>
          <a:prstGeom prst="rect">
            <a:avLst/>
          </a:prstGeom>
          <a:noFill/>
          <a:ln/>
        </p:spPr>
        <p:txBody>
          <a:bodyPr wrap="square" lIns="0" tIns="0" rIns="0" bIns="0" rtlCol="0" anchor="t"/>
          <a:lstStyle/>
          <a:p>
            <a:pPr indent="0" marL="0">
              <a:buNone/>
            </a:pPr>
            <a:r>
              <a:rPr lang="en-US" sz="1500" b="1" dirty="0">
                <a:solidFill>
                  <a:schemeClr val="tx1"/>
                </a:solidFill>
              </a:rPr>
              <a:t>Bemor</a:t>
            </a:r>
            <a:endParaRPr lang="en-US" sz="1500" dirty="0"/>
          </a:p>
        </p:txBody>
      </p:sp>
      <p:sp>
        <p:nvSpPr>
          <p:cNvPr id="8" name="Text 5"/>
          <p:cNvSpPr txBox="1"/>
          <p:nvPr/>
        </p:nvSpPr>
        <p:spPr>
          <a:xfrm>
            <a:off x="1234440" y="1911096"/>
            <a:ext cx="3566160" cy="274320"/>
          </a:xfrm>
          <a:prstGeom prst="rect">
            <a:avLst/>
          </a:prstGeom>
          <a:noFill/>
          <a:ln/>
        </p:spPr>
        <p:txBody>
          <a:bodyPr wrap="square" lIns="0" tIns="0" rIns="0" bIns="0" rtlCol="0" anchor="t"/>
          <a:lstStyle/>
          <a:p>
            <a:pPr indent="0" marL="0">
              <a:buNone/>
            </a:pPr>
            <a:r>
              <a:rPr lang="en-US" sz="1150" dirty="0">
                <a:solidFill>
                  <a:schemeClr val="accent6"/>
                </a:solidFill>
              </a:rPr>
              <a:t>yosh, jins, tadqiqotga rozilik</a:t>
            </a:r>
            <a:endParaRPr lang="en-US" sz="1150" dirty="0"/>
          </a:p>
        </p:txBody>
      </p:sp>
      <p:sp>
        <p:nvSpPr>
          <p:cNvPr id="9" name="Shape 6"/>
          <p:cNvSpPr/>
          <p:nvPr/>
        </p:nvSpPr>
        <p:spPr>
          <a:xfrm>
            <a:off x="800100" y="2194560"/>
            <a:ext cx="0" cy="274320"/>
          </a:xfrm>
          <a:prstGeom prst="line">
            <a:avLst/>
          </a:prstGeom>
          <a:noFill/>
          <a:ln w="15875">
            <a:solidFill>
              <a:schemeClr val="accent1">
                <a:alpha val="50000"/>
              </a:schemeClr>
            </a:solidFill>
            <a:prstDash val="solid"/>
          </a:ln>
        </p:spPr>
      </p:sp>
      <p:sp>
        <p:nvSpPr>
          <p:cNvPr id="10" name="Shape 7"/>
          <p:cNvSpPr/>
          <p:nvPr/>
        </p:nvSpPr>
        <p:spPr>
          <a:xfrm>
            <a:off x="548640" y="2514600"/>
            <a:ext cx="502920" cy="502920"/>
          </a:xfrm>
          <a:prstGeom prst="ellipse">
            <a:avLst/>
          </a:prstGeom>
          <a:solidFill>
            <a:schemeClr val="bg2"/>
          </a:solidFill>
          <a:ln/>
        </p:spPr>
      </p:sp>
      <p:sp>
        <p:nvSpPr>
          <p:cNvPr id="11" name="Text 8"/>
          <p:cNvSpPr txBox="1"/>
          <p:nvPr/>
        </p:nvSpPr>
        <p:spPr>
          <a:xfrm>
            <a:off x="548640" y="25146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2" name="Text 9"/>
          <p:cNvSpPr txBox="1"/>
          <p:nvPr/>
        </p:nvSpPr>
        <p:spPr>
          <a:xfrm>
            <a:off x="1234440" y="2496312"/>
            <a:ext cx="3566160" cy="292608"/>
          </a:xfrm>
          <a:prstGeom prst="rect">
            <a:avLst/>
          </a:prstGeom>
          <a:noFill/>
          <a:ln/>
        </p:spPr>
        <p:txBody>
          <a:bodyPr wrap="square" lIns="0" tIns="0" rIns="0" bIns="0" rtlCol="0" anchor="t"/>
          <a:lstStyle/>
          <a:p>
            <a:pPr indent="0" marL="0">
              <a:buNone/>
            </a:pPr>
            <a:r>
              <a:rPr lang="en-US" sz="1500" b="1" dirty="0">
                <a:solidFill>
                  <a:schemeClr val="tx1"/>
                </a:solidFill>
              </a:rPr>
              <a:t>Xavf omillari</a:t>
            </a:r>
            <a:endParaRPr lang="en-US" sz="1500" dirty="0"/>
          </a:p>
        </p:txBody>
      </p:sp>
      <p:sp>
        <p:nvSpPr>
          <p:cNvPr id="13" name="Text 10"/>
          <p:cNvSpPr txBox="1"/>
          <p:nvPr/>
        </p:nvSpPr>
        <p:spPr>
          <a:xfrm>
            <a:off x="1234440" y="2779776"/>
            <a:ext cx="3566160" cy="274320"/>
          </a:xfrm>
          <a:prstGeom prst="rect">
            <a:avLst/>
          </a:prstGeom>
          <a:noFill/>
          <a:ln/>
        </p:spPr>
        <p:txBody>
          <a:bodyPr wrap="square" lIns="0" tIns="0" rIns="0" bIns="0" rtlCol="0" anchor="t"/>
          <a:lstStyle/>
          <a:p>
            <a:pPr indent="0" marL="0">
              <a:buNone/>
            </a:pPr>
            <a:r>
              <a:rPr lang="en-US" sz="1150" dirty="0">
                <a:solidFill>
                  <a:schemeClr val="accent6"/>
                </a:solidFill>
              </a:rPr>
              <a:t>chekish, tandir tutuni, kasbiy chang</a:t>
            </a:r>
            <a:endParaRPr lang="en-US" sz="1150" dirty="0"/>
          </a:p>
        </p:txBody>
      </p:sp>
      <p:sp>
        <p:nvSpPr>
          <p:cNvPr id="14" name="Shape 11"/>
          <p:cNvSpPr/>
          <p:nvPr/>
        </p:nvSpPr>
        <p:spPr>
          <a:xfrm>
            <a:off x="800100" y="3063240"/>
            <a:ext cx="0" cy="274320"/>
          </a:xfrm>
          <a:prstGeom prst="line">
            <a:avLst/>
          </a:prstGeom>
          <a:noFill/>
          <a:ln w="15875">
            <a:solidFill>
              <a:schemeClr val="accent1">
                <a:alpha val="50000"/>
              </a:schemeClr>
            </a:solidFill>
            <a:prstDash val="solid"/>
          </a:ln>
        </p:spPr>
      </p:sp>
      <p:sp>
        <p:nvSpPr>
          <p:cNvPr id="15" name="Shape 12"/>
          <p:cNvSpPr/>
          <p:nvPr/>
        </p:nvSpPr>
        <p:spPr>
          <a:xfrm>
            <a:off x="548640" y="3383280"/>
            <a:ext cx="502920" cy="502920"/>
          </a:xfrm>
          <a:prstGeom prst="ellipse">
            <a:avLst/>
          </a:prstGeom>
          <a:solidFill>
            <a:schemeClr val="bg2"/>
          </a:solidFill>
          <a:ln/>
        </p:spPr>
      </p:sp>
      <p:sp>
        <p:nvSpPr>
          <p:cNvPr id="16" name="Text 13"/>
          <p:cNvSpPr txBox="1"/>
          <p:nvPr/>
        </p:nvSpPr>
        <p:spPr>
          <a:xfrm>
            <a:off x="548640" y="338328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7" name="Text 14"/>
          <p:cNvSpPr txBox="1"/>
          <p:nvPr/>
        </p:nvSpPr>
        <p:spPr>
          <a:xfrm>
            <a:off x="1234440" y="3364992"/>
            <a:ext cx="3566160" cy="292608"/>
          </a:xfrm>
          <a:prstGeom prst="rect">
            <a:avLst/>
          </a:prstGeom>
          <a:noFill/>
          <a:ln/>
        </p:spPr>
        <p:txBody>
          <a:bodyPr wrap="square" lIns="0" tIns="0" rIns="0" bIns="0" rtlCol="0" anchor="t"/>
          <a:lstStyle/>
          <a:p>
            <a:pPr indent="0" marL="0">
              <a:buNone/>
            </a:pPr>
            <a:r>
              <a:rPr lang="en-US" sz="1500" b="1" dirty="0">
                <a:solidFill>
                  <a:schemeClr val="tx1"/>
                </a:solidFill>
              </a:rPr>
              <a:t>Simptomlar</a:t>
            </a:r>
            <a:endParaRPr lang="en-US" sz="1500" dirty="0"/>
          </a:p>
        </p:txBody>
      </p:sp>
      <p:sp>
        <p:nvSpPr>
          <p:cNvPr id="18" name="Text 15"/>
          <p:cNvSpPr txBox="1"/>
          <p:nvPr/>
        </p:nvSpPr>
        <p:spPr>
          <a:xfrm>
            <a:off x="1234440" y="3648456"/>
            <a:ext cx="3566160" cy="274320"/>
          </a:xfrm>
          <a:prstGeom prst="rect">
            <a:avLst/>
          </a:prstGeom>
          <a:noFill/>
          <a:ln/>
        </p:spPr>
        <p:txBody>
          <a:bodyPr wrap="square" lIns="0" tIns="0" rIns="0" bIns="0" rtlCol="0" anchor="t"/>
          <a:lstStyle/>
          <a:p>
            <a:pPr indent="0" marL="0">
              <a:buNone/>
            </a:pPr>
            <a:r>
              <a:rPr lang="en-US" sz="1150" dirty="0">
                <a:solidFill>
                  <a:schemeClr val="accent6"/>
                </a:solidFill>
              </a:rPr>
              <a:t>yoʻtal, balgʻam, hansirash</a:t>
            </a:r>
            <a:endParaRPr lang="en-US" sz="1150" dirty="0"/>
          </a:p>
        </p:txBody>
      </p:sp>
      <p:sp>
        <p:nvSpPr>
          <p:cNvPr id="19" name="Shape 16"/>
          <p:cNvSpPr/>
          <p:nvPr/>
        </p:nvSpPr>
        <p:spPr>
          <a:xfrm>
            <a:off x="800100" y="3931920"/>
            <a:ext cx="0" cy="274320"/>
          </a:xfrm>
          <a:prstGeom prst="line">
            <a:avLst/>
          </a:prstGeom>
          <a:noFill/>
          <a:ln w="15875">
            <a:solidFill>
              <a:schemeClr val="accent1">
                <a:alpha val="50000"/>
              </a:schemeClr>
            </a:solidFill>
            <a:prstDash val="solid"/>
          </a:ln>
        </p:spPr>
      </p:sp>
      <p:sp>
        <p:nvSpPr>
          <p:cNvPr id="20" name="Shape 17"/>
          <p:cNvSpPr/>
          <p:nvPr/>
        </p:nvSpPr>
        <p:spPr>
          <a:xfrm>
            <a:off x="548640" y="4251960"/>
            <a:ext cx="502920" cy="502920"/>
          </a:xfrm>
          <a:prstGeom prst="ellipse">
            <a:avLst/>
          </a:prstGeom>
          <a:solidFill>
            <a:schemeClr val="bg2"/>
          </a:solidFill>
          <a:ln/>
        </p:spPr>
      </p:sp>
      <p:sp>
        <p:nvSpPr>
          <p:cNvPr id="21" name="Text 18"/>
          <p:cNvSpPr txBox="1"/>
          <p:nvPr/>
        </p:nvSpPr>
        <p:spPr>
          <a:xfrm>
            <a:off x="548640" y="425196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4</a:t>
            </a:r>
            <a:endParaRPr lang="en-US" sz="1600" dirty="0"/>
          </a:p>
        </p:txBody>
      </p:sp>
      <p:sp>
        <p:nvSpPr>
          <p:cNvPr id="22" name="Text 19"/>
          <p:cNvSpPr txBox="1"/>
          <p:nvPr/>
        </p:nvSpPr>
        <p:spPr>
          <a:xfrm>
            <a:off x="1234440" y="4233672"/>
            <a:ext cx="3566160" cy="292608"/>
          </a:xfrm>
          <a:prstGeom prst="rect">
            <a:avLst/>
          </a:prstGeom>
          <a:noFill/>
          <a:ln/>
        </p:spPr>
        <p:txBody>
          <a:bodyPr wrap="square" lIns="0" tIns="0" rIns="0" bIns="0" rtlCol="0" anchor="t"/>
          <a:lstStyle/>
          <a:p>
            <a:pPr indent="0" marL="0">
              <a:buNone/>
            </a:pPr>
            <a:r>
              <a:rPr lang="en-US" sz="1500" b="1" dirty="0">
                <a:solidFill>
                  <a:schemeClr val="tx1"/>
                </a:solidFill>
              </a:rPr>
              <a:t>mMRC va CAT</a:t>
            </a:r>
            <a:endParaRPr lang="en-US" sz="1500" dirty="0"/>
          </a:p>
        </p:txBody>
      </p:sp>
      <p:sp>
        <p:nvSpPr>
          <p:cNvPr id="23" name="Text 20"/>
          <p:cNvSpPr txBox="1"/>
          <p:nvPr/>
        </p:nvSpPr>
        <p:spPr>
          <a:xfrm>
            <a:off x="1234440" y="4517136"/>
            <a:ext cx="3566160" cy="274320"/>
          </a:xfrm>
          <a:prstGeom prst="rect">
            <a:avLst/>
          </a:prstGeom>
          <a:noFill/>
          <a:ln/>
        </p:spPr>
        <p:txBody>
          <a:bodyPr wrap="square" lIns="0" tIns="0" rIns="0" bIns="0" rtlCol="0" anchor="t"/>
          <a:lstStyle/>
          <a:p>
            <a:pPr indent="0" marL="0">
              <a:buNone/>
            </a:pPr>
            <a:r>
              <a:rPr lang="en-US" sz="1150" dirty="0">
                <a:solidFill>
                  <a:schemeClr val="accent6"/>
                </a:solidFill>
              </a:rPr>
              <a:t>standart shkalalar</a:t>
            </a:r>
            <a:endParaRPr lang="en-US" sz="1150" dirty="0"/>
          </a:p>
        </p:txBody>
      </p:sp>
      <p:sp>
        <p:nvSpPr>
          <p:cNvPr id="24" name="Shape 21"/>
          <p:cNvSpPr/>
          <p:nvPr/>
        </p:nvSpPr>
        <p:spPr>
          <a:xfrm>
            <a:off x="800100" y="4800600"/>
            <a:ext cx="0" cy="274320"/>
          </a:xfrm>
          <a:prstGeom prst="line">
            <a:avLst/>
          </a:prstGeom>
          <a:noFill/>
          <a:ln w="15875">
            <a:solidFill>
              <a:schemeClr val="accent1">
                <a:alpha val="50000"/>
              </a:schemeClr>
            </a:solidFill>
            <a:prstDash val="solid"/>
          </a:ln>
        </p:spPr>
      </p:sp>
      <p:sp>
        <p:nvSpPr>
          <p:cNvPr id="25" name="Shape 22"/>
          <p:cNvSpPr/>
          <p:nvPr/>
        </p:nvSpPr>
        <p:spPr>
          <a:xfrm>
            <a:off x="548640" y="5120640"/>
            <a:ext cx="502920" cy="502920"/>
          </a:xfrm>
          <a:prstGeom prst="ellipse">
            <a:avLst/>
          </a:prstGeom>
          <a:solidFill>
            <a:schemeClr val="accent1"/>
          </a:solidFill>
          <a:ln/>
        </p:spPr>
      </p:sp>
      <p:sp>
        <p:nvSpPr>
          <p:cNvPr id="26" name="Text 23"/>
          <p:cNvSpPr txBox="1"/>
          <p:nvPr/>
        </p:nvSpPr>
        <p:spPr>
          <a:xfrm>
            <a:off x="548640" y="51206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 24"/>
          <p:cNvSpPr txBox="1"/>
          <p:nvPr/>
        </p:nvSpPr>
        <p:spPr>
          <a:xfrm>
            <a:off x="1234440" y="5102352"/>
            <a:ext cx="3566160" cy="292608"/>
          </a:xfrm>
          <a:prstGeom prst="rect">
            <a:avLst/>
          </a:prstGeom>
          <a:noFill/>
          <a:ln/>
        </p:spPr>
        <p:txBody>
          <a:bodyPr wrap="square" lIns="0" tIns="0" rIns="0" bIns="0" rtlCol="0" anchor="t"/>
          <a:lstStyle/>
          <a:p>
            <a:pPr indent="0" marL="0">
              <a:buNone/>
            </a:pPr>
            <a:r>
              <a:rPr lang="en-US" sz="1500" b="1" dirty="0">
                <a:solidFill>
                  <a:schemeClr val="tx1"/>
                </a:solidFill>
              </a:rPr>
              <a:t>Natija</a:t>
            </a:r>
            <a:endParaRPr lang="en-US" sz="1500" dirty="0"/>
          </a:p>
        </p:txBody>
      </p:sp>
      <p:sp>
        <p:nvSpPr>
          <p:cNvPr id="28" name="Text 25"/>
          <p:cNvSpPr txBox="1"/>
          <p:nvPr/>
        </p:nvSpPr>
        <p:spPr>
          <a:xfrm>
            <a:off x="1234440" y="5385816"/>
            <a:ext cx="3566160" cy="274320"/>
          </a:xfrm>
          <a:prstGeom prst="rect">
            <a:avLst/>
          </a:prstGeom>
          <a:noFill/>
          <a:ln/>
        </p:spPr>
        <p:txBody>
          <a:bodyPr wrap="square" lIns="0" tIns="0" rIns="0" bIns="0" rtlCol="0" anchor="t"/>
          <a:lstStyle/>
          <a:p>
            <a:pPr indent="0" marL="0">
              <a:buNone/>
            </a:pPr>
            <a:r>
              <a:rPr lang="en-US" sz="1150" dirty="0">
                <a:solidFill>
                  <a:schemeClr val="accent6"/>
                </a:solidFill>
              </a:rPr>
              <a:t>daraja, sabab, yoʻllanma, keyingi koʻrik</a:t>
            </a:r>
            <a:endParaRPr lang="en-US" sz="1150" dirty="0"/>
          </a:p>
        </p:txBody>
      </p:sp>
      <p:pic>
        <p:nvPicPr>
          <p:cNvPr id="29" name="Image 0" descr="Bemorlar paneli">    </p:cNvPr>
          <p:cNvPicPr>
            <a:picLocks noChangeAspect="1"/>
          </p:cNvPicPr>
          <p:nvPr/>
        </p:nvPicPr>
        <p:blipFill>
          <a:blip r:embed="rId1"/>
          <a:stretch>
            <a:fillRect/>
          </a:stretch>
        </p:blipFill>
        <p:spPr>
          <a:xfrm>
            <a:off x="4754880" y="1261872"/>
            <a:ext cx="7178040" cy="5123874"/>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XAVF MODELI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19 ballik shkala: har bir ball izohlanadi</a:t>
            </a:r>
            <a:endParaRPr lang="en-US" sz="2800" dirty="0"/>
          </a:p>
        </p:txBody>
      </p:sp>
      <p:sp>
        <p:nvSpPr>
          <p:cNvPr id="5" name="factor1"/>
          <p:cNvSpPr/>
          <p:nvPr/>
        </p:nvSpPr>
        <p:spPr>
          <a:xfrm>
            <a:off x="548640" y="1508760"/>
            <a:ext cx="1490864" cy="1874520"/>
          </a:xfrm>
          <a:prstGeom prst="roundRect">
            <a:avLst>
              <a:gd name="adj" fmla="val 7360"/>
            </a:avLst>
          </a:prstGeom>
          <a:solidFill>
            <a:schemeClr val="bg2"/>
          </a:solidFill>
          <a:ln/>
        </p:spPr>
      </p:sp>
      <p:sp>
        <p:nvSpPr>
          <p:cNvPr id="6" name="Text 3"/>
          <p:cNvSpPr txBox="1"/>
          <p:nvPr/>
        </p:nvSpPr>
        <p:spPr>
          <a:xfrm>
            <a:off x="685800"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3</a:t>
            </a:r>
            <a:pPr indent="0" marL="0">
              <a:buNone/>
            </a:pPr>
            <a:r>
              <a:rPr lang="en-US" sz="1100" dirty="0">
                <a:solidFill>
                  <a:schemeClr val="accent6"/>
                </a:solidFill>
              </a:rPr>
              <a:t> ball</a:t>
            </a:r>
            <a:endParaRPr lang="en-US" sz="1200" dirty="0"/>
          </a:p>
        </p:txBody>
      </p:sp>
      <p:sp>
        <p:nvSpPr>
          <p:cNvPr id="7" name="Text 4"/>
          <p:cNvSpPr txBox="1"/>
          <p:nvPr/>
        </p:nvSpPr>
        <p:spPr>
          <a:xfrm>
            <a:off x="685800"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Yosh</a:t>
            </a:r>
            <a:endParaRPr lang="en-US" sz="1150" dirty="0"/>
          </a:p>
        </p:txBody>
      </p:sp>
      <p:sp>
        <p:nvSpPr>
          <p:cNvPr id="8" name="Text 5"/>
          <p:cNvSpPr txBox="1"/>
          <p:nvPr/>
        </p:nvSpPr>
        <p:spPr>
          <a:xfrm>
            <a:off x="685800"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40–49 → 1</a:t>
            </a:r>
            <a:endParaRPr lang="en-US" sz="1050" dirty="0"/>
          </a:p>
          <a:p>
            <a:pPr indent="0" marL="0">
              <a:buNone/>
            </a:pPr>
            <a:r>
              <a:rPr lang="en-US" sz="1050" dirty="0">
                <a:solidFill>
                  <a:schemeClr val="accent6"/>
                </a:solidFill>
              </a:rPr>
              <a:t>50–59 → 2</a:t>
            </a:r>
            <a:endParaRPr lang="en-US" sz="1050" dirty="0"/>
          </a:p>
          <a:p>
            <a:pPr indent="0" marL="0">
              <a:buNone/>
            </a:pPr>
            <a:r>
              <a:rPr lang="en-US" sz="1050" dirty="0">
                <a:solidFill>
                  <a:schemeClr val="accent6"/>
                </a:solidFill>
              </a:rPr>
              <a:t>≥ 60 → 3</a:t>
            </a:r>
            <a:endParaRPr lang="en-US" sz="1050" dirty="0"/>
          </a:p>
        </p:txBody>
      </p:sp>
      <p:sp>
        <p:nvSpPr>
          <p:cNvPr id="9" name="factor2"/>
          <p:cNvSpPr/>
          <p:nvPr/>
        </p:nvSpPr>
        <p:spPr>
          <a:xfrm>
            <a:off x="2149232" y="1508760"/>
            <a:ext cx="1490864" cy="1874520"/>
          </a:xfrm>
          <a:prstGeom prst="roundRect">
            <a:avLst>
              <a:gd name="adj" fmla="val 7360"/>
            </a:avLst>
          </a:prstGeom>
          <a:solidFill>
            <a:schemeClr val="bg2"/>
          </a:solidFill>
          <a:ln/>
        </p:spPr>
      </p:sp>
      <p:sp>
        <p:nvSpPr>
          <p:cNvPr id="10" name="Text 7"/>
          <p:cNvSpPr txBox="1"/>
          <p:nvPr/>
        </p:nvSpPr>
        <p:spPr>
          <a:xfrm>
            <a:off x="2286392"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4</a:t>
            </a:r>
            <a:pPr indent="0" marL="0">
              <a:buNone/>
            </a:pPr>
            <a:r>
              <a:rPr lang="en-US" sz="1100" dirty="0">
                <a:solidFill>
                  <a:schemeClr val="accent6"/>
                </a:solidFill>
              </a:rPr>
              <a:t> ball</a:t>
            </a:r>
            <a:endParaRPr lang="en-US" sz="1200" dirty="0"/>
          </a:p>
        </p:txBody>
      </p:sp>
      <p:sp>
        <p:nvSpPr>
          <p:cNvPr id="11" name="Text 8"/>
          <p:cNvSpPr txBox="1"/>
          <p:nvPr/>
        </p:nvSpPr>
        <p:spPr>
          <a:xfrm>
            <a:off x="2286392"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Chekish, quti-yil</a:t>
            </a:r>
            <a:endParaRPr lang="en-US" sz="1150" dirty="0"/>
          </a:p>
        </p:txBody>
      </p:sp>
      <p:sp>
        <p:nvSpPr>
          <p:cNvPr id="12" name="Text 9"/>
          <p:cNvSpPr txBox="1"/>
          <p:nvPr/>
        </p:nvSpPr>
        <p:spPr>
          <a:xfrm>
            <a:off x="2286392"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10–19,9 → 2</a:t>
            </a:r>
            <a:endParaRPr lang="en-US" sz="1050" dirty="0"/>
          </a:p>
          <a:p>
            <a:pPr indent="0" marL="0">
              <a:buNone/>
            </a:pPr>
            <a:r>
              <a:rPr lang="en-US" sz="1050" dirty="0">
                <a:solidFill>
                  <a:schemeClr val="accent6"/>
                </a:solidFill>
              </a:rPr>
              <a:t>20–39,9 → 3</a:t>
            </a:r>
            <a:endParaRPr lang="en-US" sz="1050" dirty="0"/>
          </a:p>
          <a:p>
            <a:pPr indent="0" marL="0">
              <a:buNone/>
            </a:pPr>
            <a:r>
              <a:rPr lang="en-US" sz="1050" dirty="0">
                <a:solidFill>
                  <a:schemeClr val="accent6"/>
                </a:solidFill>
              </a:rPr>
              <a:t>≥ 40 → 4</a:t>
            </a:r>
            <a:endParaRPr lang="en-US" sz="1050" dirty="0"/>
          </a:p>
        </p:txBody>
      </p:sp>
      <p:sp>
        <p:nvSpPr>
          <p:cNvPr id="13" name="factor3"/>
          <p:cNvSpPr/>
          <p:nvPr/>
        </p:nvSpPr>
        <p:spPr>
          <a:xfrm>
            <a:off x="3749824" y="1508760"/>
            <a:ext cx="1490864" cy="1874520"/>
          </a:xfrm>
          <a:prstGeom prst="roundRect">
            <a:avLst>
              <a:gd name="adj" fmla="val 7360"/>
            </a:avLst>
          </a:prstGeom>
          <a:solidFill>
            <a:schemeClr val="bg2"/>
          </a:solidFill>
          <a:ln/>
        </p:spPr>
      </p:sp>
      <p:sp>
        <p:nvSpPr>
          <p:cNvPr id="14" name="Text 11"/>
          <p:cNvSpPr txBox="1"/>
          <p:nvPr/>
        </p:nvSpPr>
        <p:spPr>
          <a:xfrm>
            <a:off x="3886984"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2</a:t>
            </a:r>
            <a:pPr indent="0" marL="0">
              <a:buNone/>
            </a:pPr>
            <a:r>
              <a:rPr lang="en-US" sz="1100" dirty="0">
                <a:solidFill>
                  <a:schemeClr val="accent6"/>
                </a:solidFill>
              </a:rPr>
              <a:t> ball</a:t>
            </a:r>
            <a:endParaRPr lang="en-US" sz="1200" dirty="0"/>
          </a:p>
        </p:txBody>
      </p:sp>
      <p:sp>
        <p:nvSpPr>
          <p:cNvPr id="15" name="Text 12"/>
          <p:cNvSpPr txBox="1"/>
          <p:nvPr/>
        </p:nvSpPr>
        <p:spPr>
          <a:xfrm>
            <a:off x="3886984"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Tandir tutuni, yil</a:t>
            </a:r>
            <a:endParaRPr lang="en-US" sz="1150" dirty="0"/>
          </a:p>
        </p:txBody>
      </p:sp>
      <p:sp>
        <p:nvSpPr>
          <p:cNvPr id="16" name="Text 13"/>
          <p:cNvSpPr txBox="1"/>
          <p:nvPr/>
        </p:nvSpPr>
        <p:spPr>
          <a:xfrm>
            <a:off x="3886984"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1–9 → 1</a:t>
            </a:r>
            <a:endParaRPr lang="en-US" sz="1050" dirty="0"/>
          </a:p>
          <a:p>
            <a:pPr indent="0" marL="0">
              <a:buNone/>
            </a:pPr>
            <a:r>
              <a:rPr lang="en-US" sz="1050" dirty="0">
                <a:solidFill>
                  <a:schemeClr val="accent6"/>
                </a:solidFill>
              </a:rPr>
              <a:t>≥ 10 → 2</a:t>
            </a:r>
            <a:endParaRPr lang="en-US" sz="1050" dirty="0"/>
          </a:p>
        </p:txBody>
      </p:sp>
      <p:sp>
        <p:nvSpPr>
          <p:cNvPr id="17" name="factor4"/>
          <p:cNvSpPr/>
          <p:nvPr/>
        </p:nvSpPr>
        <p:spPr>
          <a:xfrm>
            <a:off x="5350416" y="1508760"/>
            <a:ext cx="1490864" cy="1874520"/>
          </a:xfrm>
          <a:prstGeom prst="roundRect">
            <a:avLst>
              <a:gd name="adj" fmla="val 7360"/>
            </a:avLst>
          </a:prstGeom>
          <a:solidFill>
            <a:schemeClr val="bg2"/>
          </a:solidFill>
          <a:ln/>
        </p:spPr>
      </p:sp>
      <p:sp>
        <p:nvSpPr>
          <p:cNvPr id="18" name="Text 15"/>
          <p:cNvSpPr txBox="1"/>
          <p:nvPr/>
        </p:nvSpPr>
        <p:spPr>
          <a:xfrm>
            <a:off x="5487576"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2</a:t>
            </a:r>
            <a:pPr indent="0" marL="0">
              <a:buNone/>
            </a:pPr>
            <a:r>
              <a:rPr lang="en-US" sz="1100" dirty="0">
                <a:solidFill>
                  <a:schemeClr val="accent6"/>
                </a:solidFill>
              </a:rPr>
              <a:t> ball</a:t>
            </a:r>
            <a:endParaRPr lang="en-US" sz="1200" dirty="0"/>
          </a:p>
        </p:txBody>
      </p:sp>
      <p:sp>
        <p:nvSpPr>
          <p:cNvPr id="19" name="Text 16"/>
          <p:cNvSpPr txBox="1"/>
          <p:nvPr/>
        </p:nvSpPr>
        <p:spPr>
          <a:xfrm>
            <a:off x="5487576"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Kasbiy chang, yil</a:t>
            </a:r>
            <a:endParaRPr lang="en-US" sz="1150" dirty="0"/>
          </a:p>
        </p:txBody>
      </p:sp>
      <p:sp>
        <p:nvSpPr>
          <p:cNvPr id="20" name="Text 17"/>
          <p:cNvSpPr txBox="1"/>
          <p:nvPr/>
        </p:nvSpPr>
        <p:spPr>
          <a:xfrm>
            <a:off x="5487576"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1–9 → 1</a:t>
            </a:r>
            <a:endParaRPr lang="en-US" sz="1050" dirty="0"/>
          </a:p>
          <a:p>
            <a:pPr indent="0" marL="0">
              <a:buNone/>
            </a:pPr>
            <a:r>
              <a:rPr lang="en-US" sz="1050" dirty="0">
                <a:solidFill>
                  <a:schemeClr val="accent6"/>
                </a:solidFill>
              </a:rPr>
              <a:t>≥ 10 → 2</a:t>
            </a:r>
            <a:endParaRPr lang="en-US" sz="1050" dirty="0"/>
          </a:p>
        </p:txBody>
      </p:sp>
      <p:sp>
        <p:nvSpPr>
          <p:cNvPr id="21" name="factor5"/>
          <p:cNvSpPr/>
          <p:nvPr/>
        </p:nvSpPr>
        <p:spPr>
          <a:xfrm>
            <a:off x="6951008" y="1508760"/>
            <a:ext cx="1490864" cy="1874520"/>
          </a:xfrm>
          <a:prstGeom prst="roundRect">
            <a:avLst>
              <a:gd name="adj" fmla="val 7360"/>
            </a:avLst>
          </a:prstGeom>
          <a:solidFill>
            <a:schemeClr val="bg2"/>
          </a:solidFill>
          <a:ln/>
        </p:spPr>
      </p:sp>
      <p:sp>
        <p:nvSpPr>
          <p:cNvPr id="22" name="Text 19"/>
          <p:cNvSpPr txBox="1"/>
          <p:nvPr/>
        </p:nvSpPr>
        <p:spPr>
          <a:xfrm>
            <a:off x="7088168"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3</a:t>
            </a:r>
            <a:pPr indent="0" marL="0">
              <a:buNone/>
            </a:pPr>
            <a:r>
              <a:rPr lang="en-US" sz="1100" dirty="0">
                <a:solidFill>
                  <a:schemeClr val="accent6"/>
                </a:solidFill>
              </a:rPr>
              <a:t> ball</a:t>
            </a:r>
            <a:endParaRPr lang="en-US" sz="1200" dirty="0"/>
          </a:p>
        </p:txBody>
      </p:sp>
      <p:sp>
        <p:nvSpPr>
          <p:cNvPr id="23" name="Text 20"/>
          <p:cNvSpPr txBox="1"/>
          <p:nvPr/>
        </p:nvSpPr>
        <p:spPr>
          <a:xfrm>
            <a:off x="7088168"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Simptomlar</a:t>
            </a:r>
            <a:endParaRPr lang="en-US" sz="1150" dirty="0"/>
          </a:p>
        </p:txBody>
      </p:sp>
      <p:sp>
        <p:nvSpPr>
          <p:cNvPr id="24" name="Text 21"/>
          <p:cNvSpPr txBox="1"/>
          <p:nvPr/>
        </p:nvSpPr>
        <p:spPr>
          <a:xfrm>
            <a:off x="7088168"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yoʻtal → 1</a:t>
            </a:r>
            <a:endParaRPr lang="en-US" sz="1050" dirty="0"/>
          </a:p>
          <a:p>
            <a:pPr indent="0" marL="0">
              <a:buNone/>
            </a:pPr>
            <a:r>
              <a:rPr lang="en-US" sz="1050" dirty="0">
                <a:solidFill>
                  <a:schemeClr val="accent6"/>
                </a:solidFill>
              </a:rPr>
              <a:t>balgʻam → 1</a:t>
            </a:r>
            <a:endParaRPr lang="en-US" sz="1050" dirty="0"/>
          </a:p>
          <a:p>
            <a:pPr indent="0" marL="0">
              <a:buNone/>
            </a:pPr>
            <a:r>
              <a:rPr lang="en-US" sz="1050" dirty="0">
                <a:solidFill>
                  <a:schemeClr val="accent6"/>
                </a:solidFill>
              </a:rPr>
              <a:t>hansirash → 1</a:t>
            </a:r>
            <a:endParaRPr lang="en-US" sz="1050" dirty="0"/>
          </a:p>
        </p:txBody>
      </p:sp>
      <p:sp>
        <p:nvSpPr>
          <p:cNvPr id="25" name="factor6"/>
          <p:cNvSpPr/>
          <p:nvPr/>
        </p:nvSpPr>
        <p:spPr>
          <a:xfrm>
            <a:off x="8551599" y="1508760"/>
            <a:ext cx="1490864" cy="1874520"/>
          </a:xfrm>
          <a:prstGeom prst="roundRect">
            <a:avLst>
              <a:gd name="adj" fmla="val 7360"/>
            </a:avLst>
          </a:prstGeom>
          <a:solidFill>
            <a:schemeClr val="bg2"/>
          </a:solidFill>
          <a:ln/>
        </p:spPr>
      </p:sp>
      <p:sp>
        <p:nvSpPr>
          <p:cNvPr id="26" name="Text 23"/>
          <p:cNvSpPr txBox="1"/>
          <p:nvPr/>
        </p:nvSpPr>
        <p:spPr>
          <a:xfrm>
            <a:off x="8688759"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3</a:t>
            </a:r>
            <a:pPr indent="0" marL="0">
              <a:buNone/>
            </a:pPr>
            <a:r>
              <a:rPr lang="en-US" sz="1100" dirty="0">
                <a:solidFill>
                  <a:schemeClr val="accent6"/>
                </a:solidFill>
              </a:rPr>
              <a:t> ball</a:t>
            </a:r>
            <a:endParaRPr lang="en-US" sz="1200" dirty="0"/>
          </a:p>
        </p:txBody>
      </p:sp>
      <p:sp>
        <p:nvSpPr>
          <p:cNvPr id="27" name="Text 24"/>
          <p:cNvSpPr txBox="1"/>
          <p:nvPr/>
        </p:nvSpPr>
        <p:spPr>
          <a:xfrm>
            <a:off x="8688759"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mMRC</a:t>
            </a:r>
            <a:endParaRPr lang="en-US" sz="1150" dirty="0"/>
          </a:p>
        </p:txBody>
      </p:sp>
      <p:sp>
        <p:nvSpPr>
          <p:cNvPr id="28" name="Text 25"/>
          <p:cNvSpPr txBox="1"/>
          <p:nvPr/>
        </p:nvSpPr>
        <p:spPr>
          <a:xfrm>
            <a:off x="8688759"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1 → 1</a:t>
            </a:r>
            <a:endParaRPr lang="en-US" sz="1050" dirty="0"/>
          </a:p>
          <a:p>
            <a:pPr indent="0" marL="0">
              <a:buNone/>
            </a:pPr>
            <a:r>
              <a:rPr lang="en-US" sz="1050" dirty="0">
                <a:solidFill>
                  <a:schemeClr val="accent6"/>
                </a:solidFill>
              </a:rPr>
              <a:t>2 → 2</a:t>
            </a:r>
            <a:endParaRPr lang="en-US" sz="1050" dirty="0"/>
          </a:p>
          <a:p>
            <a:pPr indent="0" marL="0">
              <a:buNone/>
            </a:pPr>
            <a:r>
              <a:rPr lang="en-US" sz="1050" dirty="0">
                <a:solidFill>
                  <a:schemeClr val="accent6"/>
                </a:solidFill>
              </a:rPr>
              <a:t>3–4 → 3</a:t>
            </a:r>
            <a:endParaRPr lang="en-US" sz="1050" dirty="0"/>
          </a:p>
        </p:txBody>
      </p:sp>
      <p:sp>
        <p:nvSpPr>
          <p:cNvPr id="29" name="factor7"/>
          <p:cNvSpPr/>
          <p:nvPr/>
        </p:nvSpPr>
        <p:spPr>
          <a:xfrm>
            <a:off x="10152191" y="1508760"/>
            <a:ext cx="1490864" cy="1874520"/>
          </a:xfrm>
          <a:prstGeom prst="roundRect">
            <a:avLst>
              <a:gd name="adj" fmla="val 7360"/>
            </a:avLst>
          </a:prstGeom>
          <a:solidFill>
            <a:schemeClr val="bg2"/>
          </a:solidFill>
          <a:ln/>
        </p:spPr>
      </p:sp>
      <p:sp>
        <p:nvSpPr>
          <p:cNvPr id="30" name="Text 27"/>
          <p:cNvSpPr txBox="1"/>
          <p:nvPr/>
        </p:nvSpPr>
        <p:spPr>
          <a:xfrm>
            <a:off x="10289351" y="1600200"/>
            <a:ext cx="1216544" cy="502920"/>
          </a:xfrm>
          <a:prstGeom prst="rect">
            <a:avLst/>
          </a:prstGeom>
          <a:noFill/>
          <a:ln/>
        </p:spPr>
        <p:txBody>
          <a:bodyPr wrap="square" lIns="0" tIns="0" rIns="0" bIns="0" rtlCol="0" anchor="b"/>
          <a:lstStyle/>
          <a:p>
            <a:pPr indent="0" marL="0">
              <a:buNone/>
            </a:pPr>
            <a:r>
              <a:rPr lang="en-US" sz="3000" b="1" dirty="0">
                <a:solidFill>
                  <a:schemeClr val="accent1"/>
                </a:solidFill>
              </a:rPr>
              <a:t>2</a:t>
            </a:r>
            <a:pPr indent="0" marL="0">
              <a:buNone/>
            </a:pPr>
            <a:r>
              <a:rPr lang="en-US" sz="1100" dirty="0">
                <a:solidFill>
                  <a:schemeClr val="accent6"/>
                </a:solidFill>
              </a:rPr>
              <a:t> ball</a:t>
            </a:r>
            <a:endParaRPr lang="en-US" sz="1200" dirty="0"/>
          </a:p>
        </p:txBody>
      </p:sp>
      <p:sp>
        <p:nvSpPr>
          <p:cNvPr id="31" name="Text 28"/>
          <p:cNvSpPr txBox="1"/>
          <p:nvPr/>
        </p:nvSpPr>
        <p:spPr>
          <a:xfrm>
            <a:off x="10289351" y="2148840"/>
            <a:ext cx="1262264" cy="411480"/>
          </a:xfrm>
          <a:prstGeom prst="rect">
            <a:avLst/>
          </a:prstGeom>
          <a:noFill/>
          <a:ln/>
        </p:spPr>
        <p:txBody>
          <a:bodyPr wrap="square" lIns="0" tIns="0" rIns="0" bIns="0" rtlCol="0" anchor="t"/>
          <a:lstStyle/>
          <a:p>
            <a:pPr indent="0" marL="0">
              <a:buNone/>
            </a:pPr>
            <a:r>
              <a:rPr lang="en-US" sz="1150" b="1" dirty="0">
                <a:solidFill>
                  <a:schemeClr val="tx1"/>
                </a:solidFill>
              </a:rPr>
              <a:t>CAT</a:t>
            </a:r>
            <a:endParaRPr lang="en-US" sz="1150" dirty="0"/>
          </a:p>
        </p:txBody>
      </p:sp>
      <p:sp>
        <p:nvSpPr>
          <p:cNvPr id="32" name="Text 29"/>
          <p:cNvSpPr txBox="1"/>
          <p:nvPr/>
        </p:nvSpPr>
        <p:spPr>
          <a:xfrm>
            <a:off x="10289351" y="2578608"/>
            <a:ext cx="1262264" cy="731520"/>
          </a:xfrm>
          <a:prstGeom prst="rect">
            <a:avLst/>
          </a:prstGeom>
          <a:noFill/>
          <a:ln/>
        </p:spPr>
        <p:txBody>
          <a:bodyPr wrap="square" lIns="0" tIns="0" rIns="0" bIns="0" rtlCol="0" anchor="t"/>
          <a:lstStyle/>
          <a:p>
            <a:pPr indent="0" marL="0">
              <a:buNone/>
            </a:pPr>
            <a:r>
              <a:rPr lang="en-US" sz="1050" dirty="0">
                <a:solidFill>
                  <a:schemeClr val="accent6"/>
                </a:solidFill>
              </a:rPr>
              <a:t>10–20 → 1</a:t>
            </a:r>
            <a:endParaRPr lang="en-US" sz="1050" dirty="0"/>
          </a:p>
          <a:p>
            <a:pPr indent="0" marL="0">
              <a:buNone/>
            </a:pPr>
            <a:r>
              <a:rPr lang="en-US" sz="1050" dirty="0">
                <a:solidFill>
                  <a:schemeClr val="accent6"/>
                </a:solidFill>
              </a:rPr>
              <a:t>≥ 21 → 2</a:t>
            </a:r>
            <a:endParaRPr lang="en-US" sz="1050" dirty="0"/>
          </a:p>
        </p:txBody>
      </p:sp>
      <p:sp>
        <p:nvSpPr>
          <p:cNvPr id="33" name="Text 30"/>
          <p:cNvSpPr txBox="1"/>
          <p:nvPr/>
        </p:nvSpPr>
        <p:spPr>
          <a:xfrm>
            <a:off x="548640" y="3547872"/>
            <a:ext cx="3657600" cy="274320"/>
          </a:xfrm>
          <a:prstGeom prst="rect">
            <a:avLst/>
          </a:prstGeom>
          <a:noFill/>
          <a:ln/>
        </p:spPr>
        <p:txBody>
          <a:bodyPr wrap="square" lIns="0" tIns="0" rIns="0" bIns="0" rtlCol="0" anchor="t"/>
          <a:lstStyle/>
          <a:p>
            <a:pPr indent="0" marL="0">
              <a:buNone/>
            </a:pPr>
            <a:r>
              <a:rPr lang="en-US" sz="1300" b="1" dirty="0">
                <a:solidFill>
                  <a:schemeClr val="tx1"/>
                </a:solidFill>
              </a:rPr>
              <a:t>Natija darajasi</a:t>
            </a:r>
            <a:endParaRPr lang="en-US" sz="1300" dirty="0"/>
          </a:p>
        </p:txBody>
      </p:sp>
      <p:sp>
        <p:nvSpPr>
          <p:cNvPr id="34" name="Text 31"/>
          <p:cNvSpPr txBox="1"/>
          <p:nvPr/>
        </p:nvSpPr>
        <p:spPr>
          <a:xfrm>
            <a:off x="7071055" y="3547872"/>
            <a:ext cx="4572000" cy="274320"/>
          </a:xfrm>
          <a:prstGeom prst="rect">
            <a:avLst/>
          </a:prstGeom>
          <a:noFill/>
          <a:ln/>
        </p:spPr>
        <p:txBody>
          <a:bodyPr wrap="square" lIns="0" tIns="0" rIns="0" bIns="0" rtlCol="0" anchor="t"/>
          <a:lstStyle/>
          <a:p>
            <a:pPr algn="r" indent="0" marL="0">
              <a:buNone/>
            </a:pPr>
            <a:r>
              <a:rPr lang="en-US" sz="1300" b="1" dirty="0">
                <a:solidFill>
                  <a:schemeClr val="accent1"/>
                </a:solidFill>
              </a:rPr>
              <a:t>3 + 4 + 2 + 2 + 3 + 3 + 2 = 19 ball</a:t>
            </a:r>
            <a:endParaRPr lang="en-US" sz="1300" dirty="0"/>
          </a:p>
        </p:txBody>
      </p:sp>
      <p:sp>
        <p:nvSpPr>
          <p:cNvPr id="35" name="level1"/>
          <p:cNvSpPr/>
          <p:nvPr/>
        </p:nvSpPr>
        <p:spPr>
          <a:xfrm>
            <a:off x="548640" y="3886200"/>
            <a:ext cx="2737028" cy="457200"/>
          </a:xfrm>
          <a:prstGeom prst="rect">
            <a:avLst/>
          </a:prstGeom>
          <a:solidFill>
            <a:schemeClr val="accent2"/>
          </a:solidFill>
          <a:ln/>
        </p:spPr>
      </p:sp>
      <p:sp>
        <p:nvSpPr>
          <p:cNvPr id="36" name="Text 33"/>
          <p:cNvSpPr txBox="1"/>
          <p:nvPr/>
        </p:nvSpPr>
        <p:spPr>
          <a:xfrm>
            <a:off x="685800" y="3886200"/>
            <a:ext cx="2499284" cy="457200"/>
          </a:xfrm>
          <a:prstGeom prst="rect">
            <a:avLst/>
          </a:prstGeom>
          <a:noFill/>
          <a:ln/>
        </p:spPr>
        <p:txBody>
          <a:bodyPr wrap="square" lIns="0" tIns="0" rIns="0" bIns="0" rtlCol="0" anchor="ctr"/>
          <a:lstStyle/>
          <a:p>
            <a:pPr indent="0" marL="0">
              <a:buNone/>
            </a:pPr>
            <a:r>
              <a:rPr lang="en-US" sz="1300" b="1" dirty="0">
                <a:solidFill>
                  <a:schemeClr val="bg1"/>
                </a:solidFill>
              </a:rPr>
              <a:t>0–4 · Past</a:t>
            </a:r>
            <a:endParaRPr lang="en-US" sz="1300" dirty="0"/>
          </a:p>
        </p:txBody>
      </p:sp>
      <p:sp>
        <p:nvSpPr>
          <p:cNvPr id="37" name="Text 34"/>
          <p:cNvSpPr txBox="1"/>
          <p:nvPr/>
        </p:nvSpPr>
        <p:spPr>
          <a:xfrm>
            <a:off x="548640" y="4407408"/>
            <a:ext cx="2636444" cy="411480"/>
          </a:xfrm>
          <a:prstGeom prst="rect">
            <a:avLst/>
          </a:prstGeom>
          <a:noFill/>
          <a:ln/>
        </p:spPr>
        <p:txBody>
          <a:bodyPr wrap="square" lIns="0" tIns="0" rIns="0" bIns="0" rtlCol="0" anchor="t"/>
          <a:lstStyle/>
          <a:p>
            <a:pPr indent="0" marL="0">
              <a:buNone/>
            </a:pPr>
            <a:r>
              <a:rPr lang="en-US" sz="1050" dirty="0">
                <a:solidFill>
                  <a:schemeClr val="tx1"/>
                </a:solidFill>
              </a:rPr>
              <a:t>Yoʻllanma shart emas · 12 oyda qayta koʻrik</a:t>
            </a:r>
            <a:endParaRPr lang="en-US" sz="1050" dirty="0"/>
          </a:p>
        </p:txBody>
      </p:sp>
      <p:sp>
        <p:nvSpPr>
          <p:cNvPr id="38" name="level2"/>
          <p:cNvSpPr/>
          <p:nvPr/>
        </p:nvSpPr>
        <p:spPr>
          <a:xfrm>
            <a:off x="3322244" y="3886200"/>
            <a:ext cx="2182307" cy="457200"/>
          </a:xfrm>
          <a:prstGeom prst="rect">
            <a:avLst/>
          </a:prstGeom>
          <a:solidFill>
            <a:schemeClr val="accent3"/>
          </a:solidFill>
          <a:ln/>
        </p:spPr>
      </p:sp>
      <p:sp>
        <p:nvSpPr>
          <p:cNvPr id="39" name="Text 36"/>
          <p:cNvSpPr txBox="1"/>
          <p:nvPr/>
        </p:nvSpPr>
        <p:spPr>
          <a:xfrm>
            <a:off x="3459404" y="3886200"/>
            <a:ext cx="1944563" cy="457200"/>
          </a:xfrm>
          <a:prstGeom prst="rect">
            <a:avLst/>
          </a:prstGeom>
          <a:noFill/>
          <a:ln/>
        </p:spPr>
        <p:txBody>
          <a:bodyPr wrap="square" lIns="0" tIns="0" rIns="0" bIns="0" rtlCol="0" anchor="ctr"/>
          <a:lstStyle/>
          <a:p>
            <a:pPr indent="0" marL="0">
              <a:buNone/>
            </a:pPr>
            <a:r>
              <a:rPr lang="en-US" sz="1300" b="1" dirty="0">
                <a:solidFill>
                  <a:schemeClr val="bg1"/>
                </a:solidFill>
              </a:rPr>
              <a:t>5–8 · Oʻrta</a:t>
            </a:r>
            <a:endParaRPr lang="en-US" sz="1300" dirty="0"/>
          </a:p>
        </p:txBody>
      </p:sp>
      <p:sp>
        <p:nvSpPr>
          <p:cNvPr id="40" name="Text 37"/>
          <p:cNvSpPr txBox="1"/>
          <p:nvPr/>
        </p:nvSpPr>
        <p:spPr>
          <a:xfrm>
            <a:off x="3322244" y="4407408"/>
            <a:ext cx="2081723" cy="411480"/>
          </a:xfrm>
          <a:prstGeom prst="rect">
            <a:avLst/>
          </a:prstGeom>
          <a:noFill/>
          <a:ln/>
        </p:spPr>
        <p:txBody>
          <a:bodyPr wrap="square" lIns="0" tIns="0" rIns="0" bIns="0" rtlCol="0" anchor="t"/>
          <a:lstStyle/>
          <a:p>
            <a:pPr indent="0" marL="0">
              <a:buNone/>
            </a:pPr>
            <a:r>
              <a:rPr lang="en-US" sz="1050" dirty="0">
                <a:solidFill>
                  <a:schemeClr val="tx1"/>
                </a:solidFill>
              </a:rPr>
              <a:t>Spirometriyaga yoʻllang · 3 oy</a:t>
            </a:r>
            <a:endParaRPr lang="en-US" sz="1050" dirty="0"/>
          </a:p>
        </p:txBody>
      </p:sp>
      <p:sp>
        <p:nvSpPr>
          <p:cNvPr id="41" name="level3"/>
          <p:cNvSpPr/>
          <p:nvPr/>
        </p:nvSpPr>
        <p:spPr>
          <a:xfrm>
            <a:off x="5541127" y="3886200"/>
            <a:ext cx="6065352" cy="457200"/>
          </a:xfrm>
          <a:prstGeom prst="rect">
            <a:avLst/>
          </a:prstGeom>
          <a:solidFill>
            <a:schemeClr val="accent4"/>
          </a:solidFill>
          <a:ln/>
        </p:spPr>
      </p:sp>
      <p:sp>
        <p:nvSpPr>
          <p:cNvPr id="42" name="Text 39"/>
          <p:cNvSpPr txBox="1"/>
          <p:nvPr/>
        </p:nvSpPr>
        <p:spPr>
          <a:xfrm>
            <a:off x="5678287" y="3886200"/>
            <a:ext cx="5827608" cy="457200"/>
          </a:xfrm>
          <a:prstGeom prst="rect">
            <a:avLst/>
          </a:prstGeom>
          <a:noFill/>
          <a:ln/>
        </p:spPr>
        <p:txBody>
          <a:bodyPr wrap="square" lIns="0" tIns="0" rIns="0" bIns="0" rtlCol="0" anchor="ctr"/>
          <a:lstStyle/>
          <a:p>
            <a:pPr indent="0" marL="0">
              <a:buNone/>
            </a:pPr>
            <a:r>
              <a:rPr lang="en-US" sz="1300" b="1" dirty="0">
                <a:solidFill>
                  <a:schemeClr val="bg1"/>
                </a:solidFill>
              </a:rPr>
              <a:t>9–19 · Yuqori</a:t>
            </a:r>
            <a:endParaRPr lang="en-US" sz="1300" dirty="0"/>
          </a:p>
        </p:txBody>
      </p:sp>
      <p:sp>
        <p:nvSpPr>
          <p:cNvPr id="43" name="Text 40"/>
          <p:cNvSpPr txBox="1"/>
          <p:nvPr/>
        </p:nvSpPr>
        <p:spPr>
          <a:xfrm>
            <a:off x="5541127" y="4407408"/>
            <a:ext cx="5964768" cy="411480"/>
          </a:xfrm>
          <a:prstGeom prst="rect">
            <a:avLst/>
          </a:prstGeom>
          <a:noFill/>
          <a:ln/>
        </p:spPr>
        <p:txBody>
          <a:bodyPr wrap="square" lIns="0" tIns="0" rIns="0" bIns="0" rtlCol="0" anchor="t"/>
          <a:lstStyle/>
          <a:p>
            <a:pPr indent="0" marL="0">
              <a:buNone/>
            </a:pPr>
            <a:r>
              <a:rPr lang="en-US" sz="1050" dirty="0">
                <a:solidFill>
                  <a:schemeClr val="tx1"/>
                </a:solidFill>
              </a:rPr>
              <a:t>Ustuvor spirometriya va pulmonolog koʻrigi · 1 oy</a:t>
            </a:r>
            <a:endParaRPr lang="en-US" sz="1050" dirty="0"/>
          </a:p>
        </p:txBody>
      </p:sp>
      <p:sp>
        <p:nvSpPr>
          <p:cNvPr id="44" name="Text 41"/>
          <p:cNvSpPr txBox="1"/>
          <p:nvPr/>
        </p:nvSpPr>
        <p:spPr>
          <a:xfrm>
            <a:off x="548640" y="4919472"/>
            <a:ext cx="5486400" cy="274320"/>
          </a:xfrm>
          <a:prstGeom prst="rect">
            <a:avLst/>
          </a:prstGeom>
          <a:noFill/>
          <a:ln/>
        </p:spPr>
        <p:txBody>
          <a:bodyPr wrap="square" lIns="0" tIns="0" rIns="0" bIns="0" rtlCol="0" anchor="t"/>
          <a:lstStyle/>
          <a:p>
            <a:pPr indent="0" marL="0">
              <a:buNone/>
            </a:pPr>
            <a:r>
              <a:rPr lang="en-US" sz="1300" b="1" dirty="0">
                <a:solidFill>
                  <a:schemeClr val="tx1"/>
                </a:solidFill>
              </a:rPr>
              <a:t>Ball past chiqsa ham — 2 xavfsizlik qoidasi</a:t>
            </a:r>
            <a:endParaRPr lang="en-US" sz="1300" dirty="0"/>
          </a:p>
        </p:txBody>
      </p:sp>
      <p:sp>
        <p:nvSpPr>
          <p:cNvPr id="45" name="Shape 42"/>
          <p:cNvSpPr/>
          <p:nvPr/>
        </p:nvSpPr>
        <p:spPr>
          <a:xfrm>
            <a:off x="548640" y="5257800"/>
            <a:ext cx="5432908" cy="841248"/>
          </a:xfrm>
          <a:prstGeom prst="roundRect">
            <a:avLst>
              <a:gd name="adj" fmla="val 13043"/>
            </a:avLst>
          </a:prstGeom>
          <a:solidFill>
            <a:schemeClr val="accent4">
              <a:alpha val="10000"/>
            </a:schemeClr>
          </a:solidFill>
          <a:ln/>
        </p:spPr>
      </p:sp>
      <p:sp>
        <p:nvSpPr>
          <p:cNvPr id="46" name="Shape 43"/>
          <p:cNvSpPr/>
          <p:nvPr/>
        </p:nvSpPr>
        <p:spPr>
          <a:xfrm>
            <a:off x="731520" y="5541264"/>
            <a:ext cx="1508760" cy="274320"/>
          </a:xfrm>
          <a:prstGeom prst="roundRect">
            <a:avLst>
              <a:gd name="adj" fmla="val 50000"/>
            </a:avLst>
          </a:prstGeom>
          <a:solidFill>
            <a:schemeClr val="accent4"/>
          </a:solidFill>
          <a:ln/>
        </p:spPr>
      </p:sp>
      <p:sp>
        <p:nvSpPr>
          <p:cNvPr id="47" name="Text 44"/>
          <p:cNvSpPr txBox="1"/>
          <p:nvPr/>
        </p:nvSpPr>
        <p:spPr>
          <a:xfrm>
            <a:off x="731520" y="5541264"/>
            <a:ext cx="150876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 YUQORI</a:t>
            </a:r>
            <a:endParaRPr lang="en-US" sz="1000" dirty="0"/>
          </a:p>
        </p:txBody>
      </p:sp>
      <p:sp>
        <p:nvSpPr>
          <p:cNvPr id="48" name="Text 45"/>
          <p:cNvSpPr txBox="1"/>
          <p:nvPr/>
        </p:nvSpPr>
        <p:spPr>
          <a:xfrm>
            <a:off x="2423160" y="5257800"/>
            <a:ext cx="3375508" cy="841248"/>
          </a:xfrm>
          <a:prstGeom prst="rect">
            <a:avLst/>
          </a:prstGeom>
          <a:noFill/>
          <a:ln/>
        </p:spPr>
        <p:txBody>
          <a:bodyPr wrap="square" lIns="0" tIns="0" rIns="0" bIns="0" rtlCol="0" anchor="ctr"/>
          <a:lstStyle/>
          <a:p>
            <a:pPr indent="0" marL="0">
              <a:buNone/>
            </a:pPr>
            <a:r>
              <a:rPr lang="en-US" sz="1200" dirty="0">
                <a:solidFill>
                  <a:schemeClr val="tx1"/>
                </a:solidFill>
              </a:rPr>
              <a:t>Yosh ≥ 40 + xavf omili ≥ 10 (quti-yil yoki yil) + simptom (mMRC ≥ 2 yoki CAT ≥ 10)</a:t>
            </a:r>
            <a:endParaRPr lang="en-US" sz="1200" dirty="0"/>
          </a:p>
        </p:txBody>
      </p:sp>
      <p:sp>
        <p:nvSpPr>
          <p:cNvPr id="49" name="Shape 46"/>
          <p:cNvSpPr/>
          <p:nvPr/>
        </p:nvSpPr>
        <p:spPr>
          <a:xfrm>
            <a:off x="6210148" y="5257800"/>
            <a:ext cx="5432908" cy="841248"/>
          </a:xfrm>
          <a:prstGeom prst="roundRect">
            <a:avLst>
              <a:gd name="adj" fmla="val 13043"/>
            </a:avLst>
          </a:prstGeom>
          <a:solidFill>
            <a:schemeClr val="accent3">
              <a:alpha val="10000"/>
            </a:schemeClr>
          </a:solidFill>
          <a:ln/>
        </p:spPr>
      </p:sp>
      <p:sp>
        <p:nvSpPr>
          <p:cNvPr id="50" name="Shape 47"/>
          <p:cNvSpPr/>
          <p:nvPr/>
        </p:nvSpPr>
        <p:spPr>
          <a:xfrm>
            <a:off x="6393028" y="5541264"/>
            <a:ext cx="1508760" cy="274320"/>
          </a:xfrm>
          <a:prstGeom prst="roundRect">
            <a:avLst>
              <a:gd name="adj" fmla="val 50000"/>
            </a:avLst>
          </a:prstGeom>
          <a:solidFill>
            <a:schemeClr val="accent3"/>
          </a:solidFill>
          <a:ln/>
        </p:spPr>
      </p:sp>
      <p:sp>
        <p:nvSpPr>
          <p:cNvPr id="51" name="Text 48"/>
          <p:cNvSpPr txBox="1"/>
          <p:nvPr/>
        </p:nvSpPr>
        <p:spPr>
          <a:xfrm>
            <a:off x="6393028" y="5541264"/>
            <a:ext cx="1508760" cy="274320"/>
          </a:xfrm>
          <a:prstGeom prst="rect">
            <a:avLst/>
          </a:prstGeom>
          <a:noFill/>
          <a:ln/>
        </p:spPr>
        <p:txBody>
          <a:bodyPr wrap="square" lIns="0" tIns="0" rIns="0" bIns="0" rtlCol="0" anchor="ctr"/>
          <a:lstStyle/>
          <a:p>
            <a:pPr algn="ctr" indent="0" marL="0">
              <a:buNone/>
            </a:pPr>
            <a:r>
              <a:rPr lang="en-US" sz="1000" b="1" spc="100" kern="0" dirty="0">
                <a:solidFill>
                  <a:schemeClr val="bg1"/>
                </a:solidFill>
              </a:rPr>
              <a:t>→ KAMIDA OʻRTA</a:t>
            </a:r>
            <a:endParaRPr lang="en-US" sz="1000" dirty="0"/>
          </a:p>
        </p:txBody>
      </p:sp>
      <p:sp>
        <p:nvSpPr>
          <p:cNvPr id="52" name="Text 49"/>
          <p:cNvSpPr txBox="1"/>
          <p:nvPr/>
        </p:nvSpPr>
        <p:spPr>
          <a:xfrm>
            <a:off x="8084668" y="5257800"/>
            <a:ext cx="3375508" cy="841248"/>
          </a:xfrm>
          <a:prstGeom prst="rect">
            <a:avLst/>
          </a:prstGeom>
          <a:noFill/>
          <a:ln/>
        </p:spPr>
        <p:txBody>
          <a:bodyPr wrap="square" lIns="0" tIns="0" rIns="0" bIns="0" rtlCol="0" anchor="ctr"/>
          <a:lstStyle/>
          <a:p>
            <a:pPr indent="0" marL="0">
              <a:buNone/>
            </a:pPr>
            <a:r>
              <a:rPr lang="en-US" sz="1200" dirty="0">
                <a:solidFill>
                  <a:schemeClr val="tx1"/>
                </a:solidFill>
              </a:rPr>
              <a:t>Yosh ≥ 40 + kuchli taʼsir ≥ 20 (quti-yil yoki yil biomassa / kasbiy chang)</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XAVF MODELI · BEMOR KARTASI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Xavf omillari qanday chiqariladi va koʻrsatiladi</a:t>
            </a:r>
            <a:endParaRPr lang="en-US" sz="2800" dirty="0"/>
          </a:p>
        </p:txBody>
      </p:sp>
      <p:sp>
        <p:nvSpPr>
          <p:cNvPr id="5" name="Shape 2"/>
          <p:cNvSpPr/>
          <p:nvPr/>
        </p:nvSpPr>
        <p:spPr>
          <a:xfrm>
            <a:off x="548640" y="1572768"/>
            <a:ext cx="502920" cy="502920"/>
          </a:xfrm>
          <a:prstGeom prst="roundRect">
            <a:avLst>
              <a:gd name="adj" fmla="val 24000"/>
            </a:avLst>
          </a:prstGeom>
          <a:solidFill>
            <a:schemeClr val="accent1"/>
          </a:solidFill>
          <a:ln/>
        </p:spPr>
      </p:sp>
      <p:pic>
        <p:nvPicPr>
          <p:cNvPr id="6" name="Image 0" descr="preencoded.png">    </p:cNvPr>
          <p:cNvPicPr>
            <a:picLocks noChangeAspect="1"/>
          </p:cNvPicPr>
          <p:nvPr/>
        </p:nvPicPr>
        <p:blipFill>
          <a:blip r:embed="rId1"/>
          <a:stretch>
            <a:fillRect/>
          </a:stretch>
        </p:blipFill>
        <p:spPr>
          <a:xfrm>
            <a:off x="669341" y="1693469"/>
            <a:ext cx="261518" cy="261518"/>
          </a:xfrm>
          <a:prstGeom prst="rect">
            <a:avLst/>
          </a:prstGeom>
        </p:spPr>
      </p:pic>
      <p:sp>
        <p:nvSpPr>
          <p:cNvPr id="7" name="Text 3"/>
          <p:cNvSpPr txBox="1"/>
          <p:nvPr/>
        </p:nvSpPr>
        <p:spPr>
          <a:xfrm>
            <a:off x="1234440" y="1554480"/>
            <a:ext cx="6309360" cy="292608"/>
          </a:xfrm>
          <a:prstGeom prst="rect">
            <a:avLst/>
          </a:prstGeom>
          <a:noFill/>
          <a:ln/>
        </p:spPr>
        <p:txBody>
          <a:bodyPr wrap="square" lIns="0" tIns="0" rIns="0" bIns="0" rtlCol="0" anchor="t"/>
          <a:lstStyle/>
          <a:p>
            <a:pPr indent="0" marL="0">
              <a:buNone/>
            </a:pPr>
            <a:r>
              <a:rPr lang="en-US" sz="1500" b="1" dirty="0">
                <a:solidFill>
                  <a:schemeClr val="tx1"/>
                </a:solidFill>
              </a:rPr>
              <a:t>Kiritiladi</a:t>
            </a:r>
            <a:endParaRPr lang="en-US" sz="1500" dirty="0"/>
          </a:p>
        </p:txBody>
      </p:sp>
      <p:sp>
        <p:nvSpPr>
          <p:cNvPr id="8" name="Text 4"/>
          <p:cNvSpPr txBox="1"/>
          <p:nvPr/>
        </p:nvSpPr>
        <p:spPr>
          <a:xfrm>
            <a:off x="1234440" y="1847088"/>
            <a:ext cx="6309360" cy="640080"/>
          </a:xfrm>
          <a:prstGeom prst="rect">
            <a:avLst/>
          </a:prstGeom>
          <a:noFill/>
          <a:ln/>
        </p:spPr>
        <p:txBody>
          <a:bodyPr wrap="square" lIns="0" tIns="0" rIns="0" bIns="0" rtlCol="0" anchor="t"/>
          <a:lstStyle/>
          <a:p>
            <a:pPr indent="0" marL="0">
              <a:buNone/>
            </a:pPr>
            <a:r>
              <a:rPr lang="en-US" sz="1200" dirty="0">
                <a:solidFill>
                  <a:schemeClr val="accent6"/>
                </a:solidFill>
              </a:rPr>
              <a:t>Yosh · chekish (kuniga dona, yil) · tandir / oʻchoq tutuni yillari · kasbiy chang yillari · 3 simptom · mMRC · CAT</a:t>
            </a:r>
            <a:endParaRPr lang="en-US" sz="1200" dirty="0"/>
          </a:p>
        </p:txBody>
      </p:sp>
      <p:sp>
        <p:nvSpPr>
          <p:cNvPr id="9" name="Shape 5"/>
          <p:cNvSpPr/>
          <p:nvPr/>
        </p:nvSpPr>
        <p:spPr>
          <a:xfrm>
            <a:off x="548640" y="2596896"/>
            <a:ext cx="502920" cy="502920"/>
          </a:xfrm>
          <a:prstGeom prst="roundRect">
            <a:avLst>
              <a:gd name="adj" fmla="val 24000"/>
            </a:avLst>
          </a:prstGeom>
          <a:solidFill>
            <a:schemeClr val="accent1"/>
          </a:solidFill>
          <a:ln/>
        </p:spPr>
      </p:sp>
      <p:pic>
        <p:nvPicPr>
          <p:cNvPr id="10" name="Image 1" descr="preencoded.png">    </p:cNvPr>
          <p:cNvPicPr>
            <a:picLocks noChangeAspect="1"/>
          </p:cNvPicPr>
          <p:nvPr/>
        </p:nvPicPr>
        <p:blipFill>
          <a:blip r:embed="rId2"/>
          <a:stretch>
            <a:fillRect/>
          </a:stretch>
        </p:blipFill>
        <p:spPr>
          <a:xfrm>
            <a:off x="669341" y="2717597"/>
            <a:ext cx="261518" cy="261518"/>
          </a:xfrm>
          <a:prstGeom prst="rect">
            <a:avLst/>
          </a:prstGeom>
        </p:spPr>
      </p:pic>
      <p:sp>
        <p:nvSpPr>
          <p:cNvPr id="11" name="Text 6"/>
          <p:cNvSpPr txBox="1"/>
          <p:nvPr/>
        </p:nvSpPr>
        <p:spPr>
          <a:xfrm>
            <a:off x="1234440" y="2578608"/>
            <a:ext cx="6309360" cy="292608"/>
          </a:xfrm>
          <a:prstGeom prst="rect">
            <a:avLst/>
          </a:prstGeom>
          <a:noFill/>
          <a:ln/>
        </p:spPr>
        <p:txBody>
          <a:bodyPr wrap="square" lIns="0" tIns="0" rIns="0" bIns="0" rtlCol="0" anchor="t"/>
          <a:lstStyle/>
          <a:p>
            <a:pPr indent="0" marL="0">
              <a:buNone/>
            </a:pPr>
            <a:r>
              <a:rPr lang="en-US" sz="1500" b="1" dirty="0">
                <a:solidFill>
                  <a:schemeClr val="tx1"/>
                </a:solidFill>
              </a:rPr>
              <a:t>Hisoblanadi</a:t>
            </a:r>
            <a:endParaRPr lang="en-US" sz="1500" dirty="0"/>
          </a:p>
        </p:txBody>
      </p:sp>
      <p:sp>
        <p:nvSpPr>
          <p:cNvPr id="12" name="Text 7"/>
          <p:cNvSpPr txBox="1"/>
          <p:nvPr/>
        </p:nvSpPr>
        <p:spPr>
          <a:xfrm>
            <a:off x="1234440" y="2871216"/>
            <a:ext cx="6309360" cy="640080"/>
          </a:xfrm>
          <a:prstGeom prst="rect">
            <a:avLst/>
          </a:prstGeom>
          <a:noFill/>
          <a:ln/>
        </p:spPr>
        <p:txBody>
          <a:bodyPr wrap="square" lIns="0" tIns="0" rIns="0" bIns="0" rtlCol="0" anchor="t"/>
          <a:lstStyle/>
          <a:p>
            <a:pPr indent="0" marL="0">
              <a:buNone/>
            </a:pPr>
            <a:r>
              <a:rPr lang="en-US" sz="1200" dirty="0">
                <a:solidFill>
                  <a:schemeClr val="accent6"/>
                </a:solidFill>
              </a:rPr>
              <a:t>Har omil oʻz bandiga tushadi → ballar qoʻshiladi → 2 qoida tekshiriladi. Maʼlumot yoʻq → 0 ball (yashirilmaydi)</a:t>
            </a:r>
            <a:endParaRPr lang="en-US" sz="1200" dirty="0"/>
          </a:p>
        </p:txBody>
      </p:sp>
      <p:sp>
        <p:nvSpPr>
          <p:cNvPr id="13" name="Shape 8"/>
          <p:cNvSpPr/>
          <p:nvPr/>
        </p:nvSpPr>
        <p:spPr>
          <a:xfrm>
            <a:off x="548640" y="3621024"/>
            <a:ext cx="502920" cy="502920"/>
          </a:xfrm>
          <a:prstGeom prst="roundRect">
            <a:avLst>
              <a:gd name="adj" fmla="val 24000"/>
            </a:avLst>
          </a:prstGeom>
          <a:solidFill>
            <a:schemeClr val="accent1"/>
          </a:solidFill>
          <a:ln/>
        </p:spPr>
      </p:sp>
      <p:pic>
        <p:nvPicPr>
          <p:cNvPr id="14" name="Image 2" descr="preencoded.png">    </p:cNvPr>
          <p:cNvPicPr>
            <a:picLocks noChangeAspect="1"/>
          </p:cNvPicPr>
          <p:nvPr/>
        </p:nvPicPr>
        <p:blipFill>
          <a:blip r:embed="rId3"/>
          <a:stretch>
            <a:fillRect/>
          </a:stretch>
        </p:blipFill>
        <p:spPr>
          <a:xfrm>
            <a:off x="669341" y="3741725"/>
            <a:ext cx="261518" cy="261518"/>
          </a:xfrm>
          <a:prstGeom prst="rect">
            <a:avLst/>
          </a:prstGeom>
        </p:spPr>
      </p:pic>
      <p:sp>
        <p:nvSpPr>
          <p:cNvPr id="15" name="Text 9"/>
          <p:cNvSpPr txBox="1"/>
          <p:nvPr/>
        </p:nvSpPr>
        <p:spPr>
          <a:xfrm>
            <a:off x="1234440" y="3602736"/>
            <a:ext cx="6309360" cy="292608"/>
          </a:xfrm>
          <a:prstGeom prst="rect">
            <a:avLst/>
          </a:prstGeom>
          <a:noFill/>
          <a:ln/>
        </p:spPr>
        <p:txBody>
          <a:bodyPr wrap="square" lIns="0" tIns="0" rIns="0" bIns="0" rtlCol="0" anchor="t"/>
          <a:lstStyle/>
          <a:p>
            <a:pPr indent="0" marL="0">
              <a:buNone/>
            </a:pPr>
            <a:r>
              <a:rPr lang="en-US" sz="1500" b="1" dirty="0">
                <a:solidFill>
                  <a:schemeClr val="tx1"/>
                </a:solidFill>
              </a:rPr>
              <a:t>Koʻrsatiladi</a:t>
            </a:r>
            <a:endParaRPr lang="en-US" sz="1500" dirty="0"/>
          </a:p>
        </p:txBody>
      </p:sp>
      <p:sp>
        <p:nvSpPr>
          <p:cNvPr id="16" name="Text 10"/>
          <p:cNvSpPr txBox="1"/>
          <p:nvPr/>
        </p:nvSpPr>
        <p:spPr>
          <a:xfrm>
            <a:off x="1234440" y="3895344"/>
            <a:ext cx="6309360" cy="640080"/>
          </a:xfrm>
          <a:prstGeom prst="rect">
            <a:avLst/>
          </a:prstGeom>
          <a:noFill/>
          <a:ln/>
        </p:spPr>
        <p:txBody>
          <a:bodyPr wrap="square" lIns="0" tIns="0" rIns="0" bIns="0" rtlCol="0" anchor="t"/>
          <a:lstStyle/>
          <a:p>
            <a:pPr indent="0" marL="0">
              <a:buNone/>
            </a:pPr>
            <a:r>
              <a:rPr lang="en-US" sz="1200" dirty="0">
                <a:solidFill>
                  <a:schemeClr val="accent6"/>
                </a:solidFill>
              </a:rPr>
              <a:t>9 omilning har biri: ball / maksimum · qoʻllangan qoida · tavsiya · model versiyasi. Toʻliq jadval saytda: nafas.plagiatx.uz/metodika</a:t>
            </a:r>
            <a:endParaRPr lang="en-US" sz="1200" dirty="0"/>
          </a:p>
        </p:txBody>
      </p:sp>
      <p:sp>
        <p:nvSpPr>
          <p:cNvPr id="17" name="Shape 11"/>
          <p:cNvSpPr/>
          <p:nvPr/>
        </p:nvSpPr>
        <p:spPr>
          <a:xfrm>
            <a:off x="548640" y="4645152"/>
            <a:ext cx="6858000" cy="457200"/>
          </a:xfrm>
          <a:prstGeom prst="roundRect">
            <a:avLst>
              <a:gd name="adj" fmla="val 24000"/>
            </a:avLst>
          </a:prstGeom>
          <a:solidFill>
            <a:schemeClr val="accent1">
              <a:alpha val="10000"/>
            </a:schemeClr>
          </a:solidFill>
          <a:ln/>
        </p:spPr>
      </p:sp>
      <p:sp>
        <p:nvSpPr>
          <p:cNvPr id="18" name="Text 12"/>
          <p:cNvSpPr txBox="1"/>
          <p:nvPr/>
        </p:nvSpPr>
        <p:spPr>
          <a:xfrm>
            <a:off x="731520" y="4645152"/>
            <a:ext cx="6583680" cy="457200"/>
          </a:xfrm>
          <a:prstGeom prst="rect">
            <a:avLst/>
          </a:prstGeom>
          <a:noFill/>
          <a:ln/>
        </p:spPr>
        <p:txBody>
          <a:bodyPr wrap="square" lIns="0" tIns="0" rIns="0" bIns="0" rtlCol="0" anchor="ctr"/>
          <a:lstStyle/>
          <a:p>
            <a:pPr indent="0" marL="0">
              <a:buNone/>
            </a:pPr>
            <a:r>
              <a:rPr lang="en-US" sz="1300" b="1" dirty="0">
                <a:solidFill>
                  <a:schemeClr val="accent1"/>
                </a:solidFill>
              </a:rPr>
              <a:t>Quti-yil = </a:t>
            </a:r>
            <a:pPr indent="0" marL="0">
              <a:buNone/>
            </a:pPr>
            <a:r>
              <a:rPr lang="en-US" sz="1300" dirty="0">
                <a:solidFill>
                  <a:schemeClr val="tx1"/>
                </a:solidFill>
              </a:rPr>
              <a:t>kuniga sigaret (dona) × chekkan yillar ÷ 20</a:t>
            </a:r>
            <a:endParaRPr lang="en-US" sz="1300" dirty="0"/>
          </a:p>
        </p:txBody>
      </p:sp>
      <p:sp>
        <p:nvSpPr>
          <p:cNvPr id="19" name="Shape 13"/>
          <p:cNvSpPr/>
          <p:nvPr/>
        </p:nvSpPr>
        <p:spPr>
          <a:xfrm>
            <a:off x="548640" y="5230368"/>
            <a:ext cx="6858000" cy="868680"/>
          </a:xfrm>
          <a:prstGeom prst="roundRect">
            <a:avLst>
              <a:gd name="adj" fmla="val 12632"/>
            </a:avLst>
          </a:prstGeom>
          <a:solidFill>
            <a:schemeClr val="accent4">
              <a:alpha val="8000"/>
            </a:schemeClr>
          </a:solidFill>
          <a:ln/>
        </p:spPr>
      </p:sp>
      <p:sp>
        <p:nvSpPr>
          <p:cNvPr id="20" name="Text 14"/>
          <p:cNvSpPr txBox="1"/>
          <p:nvPr/>
        </p:nvSpPr>
        <p:spPr>
          <a:xfrm>
            <a:off x="731520" y="5230368"/>
            <a:ext cx="6537960" cy="868680"/>
          </a:xfrm>
          <a:prstGeom prst="rect">
            <a:avLst/>
          </a:prstGeom>
          <a:noFill/>
          <a:ln/>
        </p:spPr>
        <p:txBody>
          <a:bodyPr wrap="square" lIns="0" tIns="0" rIns="0" bIns="0" rtlCol="0" anchor="ctr"/>
          <a:lstStyle/>
          <a:p>
            <a:pPr indent="0" marL="0">
              <a:buNone/>
            </a:pPr>
            <a:r>
              <a:rPr lang="en-US" sz="1250" b="1" dirty="0">
                <a:solidFill>
                  <a:schemeClr val="accent4"/>
                </a:solidFill>
              </a:rPr>
              <a:t>Rasmdagi misol: </a:t>
            </a:r>
            <a:pPr indent="0" marL="0">
              <a:buNone/>
            </a:pPr>
            <a:r>
              <a:rPr lang="en-US" sz="1250" dirty="0">
                <a:solidFill>
                  <a:schemeClr val="tx1"/>
                </a:solidFill>
              </a:rPr>
              <a:t>56 yosh, kasbiy chang 22 yil, surunkali yoʻtal → 7 ball (Oʻrta) → qoida: yosh ≥ 40 + taʼsir + CAT ≥ 10 → </a:t>
            </a:r>
            <a:pPr indent="0" marL="0">
              <a:buNone/>
            </a:pPr>
            <a:r>
              <a:rPr lang="en-US" sz="1250" b="1" dirty="0">
                <a:solidFill>
                  <a:schemeClr val="accent4"/>
                </a:solidFill>
              </a:rPr>
              <a:t>Yuqori ehtimollik</a:t>
            </a:r>
            <a:endParaRPr lang="en-US" sz="1250" dirty="0"/>
          </a:p>
        </p:txBody>
      </p:sp>
      <p:pic>
        <p:nvPicPr>
          <p:cNvPr id="21" name="Image 3" descr="Bemor kartasi: har bir omil hissasi">    </p:cNvPr>
          <p:cNvPicPr>
            <a:picLocks noChangeAspect="1"/>
          </p:cNvPicPr>
          <p:nvPr/>
        </p:nvPicPr>
        <p:blipFill>
          <a:blip r:embed="rId4"/>
          <a:stretch>
            <a:fillRect/>
          </a:stretch>
        </p:blipFill>
        <p:spPr>
          <a:xfrm>
            <a:off x="7680960" y="1188720"/>
            <a:ext cx="4206240" cy="5275886"/>
          </a:xfrm>
          <a:prstGeom prst="rect">
            <a:avLst/>
          </a:prstGeom>
        </p:spPr>
      </p:pic>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1-BOSQICH · TALQIN MODULI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Spirometriya natijasi — bir ekranda toʻgʻri talqin</a:t>
            </a:r>
            <a:endParaRPr lang="en-US" sz="2800" dirty="0"/>
          </a:p>
        </p:txBody>
      </p:sp>
      <p:pic>
        <p:nvPicPr>
          <p:cNvPr id="5" name="Image 0" descr="Spirometriya talqini ekrani">    </p:cNvPr>
          <p:cNvPicPr>
            <a:picLocks noChangeAspect="1"/>
          </p:cNvPicPr>
          <p:nvPr/>
        </p:nvPicPr>
        <p:blipFill>
          <a:blip r:embed="rId1"/>
          <a:stretch>
            <a:fillRect/>
          </a:stretch>
        </p:blipFill>
        <p:spPr>
          <a:xfrm>
            <a:off x="274320" y="1234440"/>
            <a:ext cx="4434840" cy="4931542"/>
          </a:xfrm>
          <a:prstGeom prst="rect">
            <a:avLst/>
          </a:prstGeom>
        </p:spPr>
      </p:pic>
      <p:sp>
        <p:nvSpPr>
          <p:cNvPr id="6" name="Shape 2"/>
          <p:cNvSpPr/>
          <p:nvPr/>
        </p:nvSpPr>
        <p:spPr>
          <a:xfrm>
            <a:off x="5120640" y="1691640"/>
            <a:ext cx="548640" cy="548640"/>
          </a:xfrm>
          <a:prstGeom prst="roundRect">
            <a:avLst>
              <a:gd name="adj" fmla="val 24000"/>
            </a:avLst>
          </a:prstGeom>
          <a:solidFill>
            <a:schemeClr val="accent1"/>
          </a:solidFill>
          <a:ln/>
        </p:spPr>
      </p:sp>
      <p:pic>
        <p:nvPicPr>
          <p:cNvPr id="7" name="Image 1" descr="preencoded.png">    </p:cNvPr>
          <p:cNvPicPr>
            <a:picLocks noChangeAspect="1"/>
          </p:cNvPicPr>
          <p:nvPr/>
        </p:nvPicPr>
        <p:blipFill>
          <a:blip r:embed="rId2"/>
          <a:stretch>
            <a:fillRect/>
          </a:stretch>
        </p:blipFill>
        <p:spPr>
          <a:xfrm>
            <a:off x="5252314" y="1823314"/>
            <a:ext cx="285293" cy="285293"/>
          </a:xfrm>
          <a:prstGeom prst="rect">
            <a:avLst/>
          </a:prstGeom>
        </p:spPr>
      </p:pic>
      <p:sp>
        <p:nvSpPr>
          <p:cNvPr id="8" name="Text 3"/>
          <p:cNvSpPr txBox="1"/>
          <p:nvPr/>
        </p:nvSpPr>
        <p:spPr>
          <a:xfrm>
            <a:off x="5897880" y="1673352"/>
            <a:ext cx="5760720" cy="329184"/>
          </a:xfrm>
          <a:prstGeom prst="rect">
            <a:avLst/>
          </a:prstGeom>
          <a:noFill/>
          <a:ln/>
        </p:spPr>
        <p:txBody>
          <a:bodyPr wrap="square" lIns="0" tIns="0" rIns="0" bIns="0" rtlCol="0" anchor="t"/>
          <a:lstStyle/>
          <a:p>
            <a:pPr indent="0" marL="0">
              <a:buNone/>
            </a:pPr>
            <a:r>
              <a:rPr lang="en-US" sz="1700" b="1" dirty="0">
                <a:solidFill>
                  <a:schemeClr val="tx1"/>
                </a:solidFill>
              </a:rPr>
              <a:t>Ikki mezon: FEV1/FVC &lt; 0,70 va LLN</a:t>
            </a:r>
            <a:endParaRPr lang="en-US" sz="1700" dirty="0"/>
          </a:p>
        </p:txBody>
      </p:sp>
      <p:sp>
        <p:nvSpPr>
          <p:cNvPr id="9" name="Text 4"/>
          <p:cNvSpPr txBox="1"/>
          <p:nvPr/>
        </p:nvSpPr>
        <p:spPr>
          <a:xfrm>
            <a:off x="5897880" y="2020824"/>
            <a:ext cx="5760720" cy="292608"/>
          </a:xfrm>
          <a:prstGeom prst="rect">
            <a:avLst/>
          </a:prstGeom>
          <a:noFill/>
          <a:ln/>
        </p:spPr>
        <p:txBody>
          <a:bodyPr wrap="square" lIns="0" tIns="0" rIns="0" bIns="0" rtlCol="0" anchor="t"/>
          <a:lstStyle/>
          <a:p>
            <a:pPr indent="0" marL="0">
              <a:buNone/>
            </a:pPr>
            <a:r>
              <a:rPr lang="en-US" sz="1250" dirty="0">
                <a:solidFill>
                  <a:schemeClr val="accent6"/>
                </a:solidFill>
              </a:rPr>
              <a:t>GLI-2012 tenglamalari — yosh, boʻy, jins boʻyicha</a:t>
            </a:r>
            <a:endParaRPr lang="en-US" sz="1250" dirty="0"/>
          </a:p>
        </p:txBody>
      </p:sp>
      <p:sp>
        <p:nvSpPr>
          <p:cNvPr id="10" name="Shape 5"/>
          <p:cNvSpPr/>
          <p:nvPr/>
        </p:nvSpPr>
        <p:spPr>
          <a:xfrm>
            <a:off x="5120640" y="2679192"/>
            <a:ext cx="548640" cy="548640"/>
          </a:xfrm>
          <a:prstGeom prst="roundRect">
            <a:avLst>
              <a:gd name="adj" fmla="val 24000"/>
            </a:avLst>
          </a:prstGeom>
          <a:solidFill>
            <a:schemeClr val="accent1"/>
          </a:solidFill>
          <a:ln/>
        </p:spPr>
      </p:sp>
      <p:pic>
        <p:nvPicPr>
          <p:cNvPr id="11" name="Image 2" descr="preencoded.png">    </p:cNvPr>
          <p:cNvPicPr>
            <a:picLocks noChangeAspect="1"/>
          </p:cNvPicPr>
          <p:nvPr/>
        </p:nvPicPr>
        <p:blipFill>
          <a:blip r:embed="rId3"/>
          <a:stretch>
            <a:fillRect/>
          </a:stretch>
        </p:blipFill>
        <p:spPr>
          <a:xfrm>
            <a:off x="5252314" y="2810866"/>
            <a:ext cx="285293" cy="285293"/>
          </a:xfrm>
          <a:prstGeom prst="rect">
            <a:avLst/>
          </a:prstGeom>
        </p:spPr>
      </p:pic>
      <p:sp>
        <p:nvSpPr>
          <p:cNvPr id="12" name="Text 6"/>
          <p:cNvSpPr txBox="1"/>
          <p:nvPr/>
        </p:nvSpPr>
        <p:spPr>
          <a:xfrm>
            <a:off x="5897880" y="2660904"/>
            <a:ext cx="5760720" cy="329184"/>
          </a:xfrm>
          <a:prstGeom prst="rect">
            <a:avLst/>
          </a:prstGeom>
          <a:noFill/>
          <a:ln/>
        </p:spPr>
        <p:txBody>
          <a:bodyPr wrap="square" lIns="0" tIns="0" rIns="0" bIns="0" rtlCol="0" anchor="t"/>
          <a:lstStyle/>
          <a:p>
            <a:pPr indent="0" marL="0">
              <a:buNone/>
            </a:pPr>
            <a:r>
              <a:rPr lang="en-US" sz="1700" b="1" dirty="0">
                <a:solidFill>
                  <a:schemeClr val="tx1"/>
                </a:solidFill>
              </a:rPr>
              <a:t>GOLD 1–4 darajasi avtomatik</a:t>
            </a:r>
            <a:endParaRPr lang="en-US" sz="1700" dirty="0"/>
          </a:p>
        </p:txBody>
      </p:sp>
      <p:sp>
        <p:nvSpPr>
          <p:cNvPr id="13" name="Text 7"/>
          <p:cNvSpPr txBox="1"/>
          <p:nvPr/>
        </p:nvSpPr>
        <p:spPr>
          <a:xfrm>
            <a:off x="5897880" y="3008376"/>
            <a:ext cx="5760720" cy="292608"/>
          </a:xfrm>
          <a:prstGeom prst="rect">
            <a:avLst/>
          </a:prstGeom>
          <a:noFill/>
          <a:ln/>
        </p:spPr>
        <p:txBody>
          <a:bodyPr wrap="square" lIns="0" tIns="0" rIns="0" bIns="0" rtlCol="0" anchor="t"/>
          <a:lstStyle/>
          <a:p>
            <a:pPr indent="0" marL="0">
              <a:buNone/>
            </a:pPr>
            <a:r>
              <a:rPr lang="en-US" sz="1250" dirty="0">
                <a:solidFill>
                  <a:schemeClr val="accent6"/>
                </a:solidFill>
              </a:rPr>
              <a:t>FEV1 % kutilgan va z-skor, BD oldin / keyin</a:t>
            </a:r>
            <a:endParaRPr lang="en-US" sz="1250" dirty="0"/>
          </a:p>
        </p:txBody>
      </p:sp>
      <p:sp>
        <p:nvSpPr>
          <p:cNvPr id="14" name="Shape 8"/>
          <p:cNvSpPr/>
          <p:nvPr/>
        </p:nvSpPr>
        <p:spPr>
          <a:xfrm>
            <a:off x="5120640" y="3666744"/>
            <a:ext cx="548640" cy="548640"/>
          </a:xfrm>
          <a:prstGeom prst="roundRect">
            <a:avLst>
              <a:gd name="adj" fmla="val 24000"/>
            </a:avLst>
          </a:prstGeom>
          <a:solidFill>
            <a:schemeClr val="accent1"/>
          </a:solidFill>
          <a:ln/>
        </p:spPr>
      </p:sp>
      <p:pic>
        <p:nvPicPr>
          <p:cNvPr id="15" name="Image 3" descr="preencoded.png">    </p:cNvPr>
          <p:cNvPicPr>
            <a:picLocks noChangeAspect="1"/>
          </p:cNvPicPr>
          <p:nvPr/>
        </p:nvPicPr>
        <p:blipFill>
          <a:blip r:embed="rId4"/>
          <a:stretch>
            <a:fillRect/>
          </a:stretch>
        </p:blipFill>
        <p:spPr>
          <a:xfrm>
            <a:off x="5252314" y="3798418"/>
            <a:ext cx="285293" cy="285293"/>
          </a:xfrm>
          <a:prstGeom prst="rect">
            <a:avLst/>
          </a:prstGeom>
        </p:spPr>
      </p:pic>
      <p:sp>
        <p:nvSpPr>
          <p:cNvPr id="16" name="Text 9"/>
          <p:cNvSpPr txBox="1"/>
          <p:nvPr/>
        </p:nvSpPr>
        <p:spPr>
          <a:xfrm>
            <a:off x="5897880" y="3648456"/>
            <a:ext cx="5760720" cy="329184"/>
          </a:xfrm>
          <a:prstGeom prst="rect">
            <a:avLst/>
          </a:prstGeom>
          <a:noFill/>
          <a:ln/>
        </p:spPr>
        <p:txBody>
          <a:bodyPr wrap="square" lIns="0" tIns="0" rIns="0" bIns="0" rtlCol="0" anchor="t"/>
          <a:lstStyle/>
          <a:p>
            <a:pPr indent="0" marL="0">
              <a:buNone/>
            </a:pPr>
            <a:r>
              <a:rPr lang="en-US" sz="1700" b="1" dirty="0">
                <a:solidFill>
                  <a:schemeClr val="tx1"/>
                </a:solidFill>
              </a:rPr>
              <a:t>Taxmin qilmaydi</a:t>
            </a:r>
            <a:endParaRPr lang="en-US" sz="1700" dirty="0"/>
          </a:p>
        </p:txBody>
      </p:sp>
      <p:sp>
        <p:nvSpPr>
          <p:cNvPr id="17" name="Text 10"/>
          <p:cNvSpPr txBox="1"/>
          <p:nvPr/>
        </p:nvSpPr>
        <p:spPr>
          <a:xfrm>
            <a:off x="5897880" y="3995928"/>
            <a:ext cx="5760720" cy="292608"/>
          </a:xfrm>
          <a:prstGeom prst="rect">
            <a:avLst/>
          </a:prstGeom>
          <a:noFill/>
          <a:ln/>
        </p:spPr>
        <p:txBody>
          <a:bodyPr wrap="square" lIns="0" tIns="0" rIns="0" bIns="0" rtlCol="0" anchor="t"/>
          <a:lstStyle/>
          <a:p>
            <a:pPr indent="0" marL="0">
              <a:buNone/>
            </a:pPr>
            <a:r>
              <a:rPr lang="en-US" sz="1250" dirty="0">
                <a:solidFill>
                  <a:schemeClr val="accent6"/>
                </a:solidFill>
              </a:rPr>
              <a:t>Maʼlumot yetishmasa — aniq ogohlantirish</a:t>
            </a:r>
            <a:endParaRPr lang="en-US" sz="1250" dirty="0"/>
          </a:p>
        </p:txBody>
      </p:sp>
      <p:sp>
        <p:nvSpPr>
          <p:cNvPr id="18" name="Shape 11"/>
          <p:cNvSpPr/>
          <p:nvPr/>
        </p:nvSpPr>
        <p:spPr>
          <a:xfrm>
            <a:off x="5120640" y="4654296"/>
            <a:ext cx="548640" cy="548640"/>
          </a:xfrm>
          <a:prstGeom prst="roundRect">
            <a:avLst>
              <a:gd name="adj" fmla="val 24000"/>
            </a:avLst>
          </a:prstGeom>
          <a:solidFill>
            <a:schemeClr val="accent1"/>
          </a:solidFill>
          <a:ln/>
        </p:spPr>
      </p:sp>
      <p:pic>
        <p:nvPicPr>
          <p:cNvPr id="19" name="Image 4" descr="preencoded.png">    </p:cNvPr>
          <p:cNvPicPr>
            <a:picLocks noChangeAspect="1"/>
          </p:cNvPicPr>
          <p:nvPr/>
        </p:nvPicPr>
        <p:blipFill>
          <a:blip r:embed="rId5"/>
          <a:stretch>
            <a:fillRect/>
          </a:stretch>
        </p:blipFill>
        <p:spPr>
          <a:xfrm>
            <a:off x="5252314" y="4785970"/>
            <a:ext cx="285293" cy="285293"/>
          </a:xfrm>
          <a:prstGeom prst="rect">
            <a:avLst/>
          </a:prstGeom>
        </p:spPr>
      </p:pic>
      <p:sp>
        <p:nvSpPr>
          <p:cNvPr id="20" name="Text 12"/>
          <p:cNvSpPr txBox="1"/>
          <p:nvPr/>
        </p:nvSpPr>
        <p:spPr>
          <a:xfrm>
            <a:off x="5897880" y="4636008"/>
            <a:ext cx="5760720" cy="329184"/>
          </a:xfrm>
          <a:prstGeom prst="rect">
            <a:avLst/>
          </a:prstGeom>
          <a:noFill/>
          <a:ln/>
        </p:spPr>
        <p:txBody>
          <a:bodyPr wrap="square" lIns="0" tIns="0" rIns="0" bIns="0" rtlCol="0" anchor="t"/>
          <a:lstStyle/>
          <a:p>
            <a:pPr indent="0" marL="0">
              <a:buNone/>
            </a:pPr>
            <a:r>
              <a:rPr lang="en-US" sz="1700" b="1" dirty="0">
                <a:solidFill>
                  <a:schemeClr val="tx1"/>
                </a:solidFill>
              </a:rPr>
              <a:t>Qarorni shifokor qabul qiladi</a:t>
            </a:r>
            <a:endParaRPr lang="en-US" sz="1700" dirty="0"/>
          </a:p>
        </p:txBody>
      </p:sp>
      <p:sp>
        <p:nvSpPr>
          <p:cNvPr id="21" name="Text 13"/>
          <p:cNvSpPr txBox="1"/>
          <p:nvPr/>
        </p:nvSpPr>
        <p:spPr>
          <a:xfrm>
            <a:off x="5897880" y="4983480"/>
            <a:ext cx="5760720" cy="292608"/>
          </a:xfrm>
          <a:prstGeom prst="rect">
            <a:avLst/>
          </a:prstGeom>
          <a:noFill/>
          <a:ln/>
        </p:spPr>
        <p:txBody>
          <a:bodyPr wrap="square" lIns="0" tIns="0" rIns="0" bIns="0" rtlCol="0" anchor="t"/>
          <a:lstStyle/>
          <a:p>
            <a:pPr indent="0" marL="0">
              <a:buNone/>
            </a:pPr>
            <a:r>
              <a:rPr lang="en-US" sz="1250" dirty="0">
                <a:solidFill>
                  <a:schemeClr val="accent6"/>
                </a:solidFill>
              </a:rPr>
              <a:t>Har natijada xavfsizlik eslatmasi</a:t>
            </a:r>
            <a:endParaRPr lang="en-US" sz="1250" dirty="0"/>
          </a:p>
        </p:txBody>
      </p:sp>
      <p:sp>
        <p:nvSpPr>
          <p:cNvPr id="22" name="Shape 14"/>
          <p:cNvSpPr/>
          <p:nvPr/>
        </p:nvSpPr>
        <p:spPr>
          <a:xfrm>
            <a:off x="5120640" y="5669280"/>
            <a:ext cx="6519672" cy="457200"/>
          </a:xfrm>
          <a:prstGeom prst="roundRect">
            <a:avLst>
              <a:gd name="adj" fmla="val 24000"/>
            </a:avLst>
          </a:prstGeom>
          <a:solidFill>
            <a:schemeClr val="bg2"/>
          </a:solidFill>
          <a:ln/>
        </p:spPr>
      </p:sp>
      <p:sp>
        <p:nvSpPr>
          <p:cNvPr id="23" name="Text 15"/>
          <p:cNvSpPr txBox="1"/>
          <p:nvPr/>
        </p:nvSpPr>
        <p:spPr>
          <a:xfrm>
            <a:off x="5303520" y="5669280"/>
            <a:ext cx="6309360" cy="457200"/>
          </a:xfrm>
          <a:prstGeom prst="rect">
            <a:avLst/>
          </a:prstGeom>
          <a:noFill/>
          <a:ln/>
        </p:spPr>
        <p:txBody>
          <a:bodyPr wrap="square" lIns="0" tIns="0" rIns="0" bIns="0" rtlCol="0" anchor="ctr"/>
          <a:lstStyle/>
          <a:p>
            <a:pPr indent="0" marL="0">
              <a:buNone/>
            </a:pPr>
            <a:r>
              <a:rPr lang="en-US" sz="1200" dirty="0">
                <a:solidFill>
                  <a:schemeClr val="tx1"/>
                </a:solidFill>
              </a:rPr>
              <a:t>Misol: 62 yosh, 172 sm, erkak → FEV1/FVC 0,54 · obstruksiya · GOLD 2 (FEV1 61%)</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2-BOSQICH · SPIROMETR INTEGRATSIYASI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Portativ spirometr: oʻlchov oʻzi bemor kartasiga tushadi</a:t>
            </a:r>
            <a:endParaRPr lang="en-US" sz="2800" dirty="0"/>
          </a:p>
        </p:txBody>
      </p:sp>
      <p:pic>
        <p:nvPicPr>
          <p:cNvPr id="5" name="Image 0" descr="Portativ spirometr">    </p:cNvPr>
          <p:cNvPicPr>
            <a:picLocks noChangeAspect="1"/>
          </p:cNvPicPr>
          <p:nvPr/>
        </p:nvPicPr>
        <p:blipFill>
          <a:blip r:embed="rId1"/>
          <a:stretch>
            <a:fillRect/>
          </a:stretch>
        </p:blipFill>
        <p:spPr>
          <a:xfrm>
            <a:off x="502920" y="1325880"/>
            <a:ext cx="3108960" cy="3129018"/>
          </a:xfrm>
          <a:prstGeom prst="rect">
            <a:avLst/>
          </a:prstGeom>
        </p:spPr>
      </p:pic>
      <p:sp>
        <p:nvSpPr>
          <p:cNvPr id="6" name="Shape 2"/>
          <p:cNvSpPr/>
          <p:nvPr/>
        </p:nvSpPr>
        <p:spPr>
          <a:xfrm>
            <a:off x="3703320" y="3017520"/>
            <a:ext cx="1417320" cy="0"/>
          </a:xfrm>
          <a:prstGeom prst="line">
            <a:avLst/>
          </a:prstGeom>
          <a:noFill/>
          <a:ln w="25400">
            <a:solidFill>
              <a:schemeClr val="accent1"/>
            </a:solidFill>
            <a:prstDash val="dash"/>
            <a:tailEnd type="triangle"/>
          </a:ln>
        </p:spPr>
      </p:sp>
      <p:sp>
        <p:nvSpPr>
          <p:cNvPr id="7" name="Text 3"/>
          <p:cNvSpPr txBox="1"/>
          <p:nvPr/>
        </p:nvSpPr>
        <p:spPr>
          <a:xfrm>
            <a:off x="3611880" y="2670048"/>
            <a:ext cx="1645920" cy="274320"/>
          </a:xfrm>
          <a:prstGeom prst="rect">
            <a:avLst/>
          </a:prstGeom>
          <a:noFill/>
          <a:ln/>
        </p:spPr>
        <p:txBody>
          <a:bodyPr wrap="square" lIns="0" tIns="0" rIns="0" bIns="0" rtlCol="0" anchor="t"/>
          <a:lstStyle/>
          <a:p>
            <a:pPr algn="ctr" indent="0" marL="0">
              <a:buNone/>
            </a:pPr>
            <a:r>
              <a:rPr lang="en-US" sz="1100" b="1" dirty="0">
                <a:solidFill>
                  <a:schemeClr val="accent1"/>
                </a:solidFill>
              </a:rPr>
              <a:t>Bluetooth / USB</a:t>
            </a:r>
            <a:endParaRPr lang="en-US" sz="1100" dirty="0"/>
          </a:p>
        </p:txBody>
      </p:sp>
      <p:pic>
        <p:nvPicPr>
          <p:cNvPr id="8" name="Image 1" descr="Planshetda avtomatik talqin (konsept)">    </p:cNvPr>
          <p:cNvPicPr>
            <a:picLocks noChangeAspect="1"/>
          </p:cNvPicPr>
          <p:nvPr/>
        </p:nvPicPr>
        <p:blipFill>
          <a:blip r:embed="rId2"/>
          <a:stretch>
            <a:fillRect/>
          </a:stretch>
        </p:blipFill>
        <p:spPr>
          <a:xfrm>
            <a:off x="4983480" y="1188720"/>
            <a:ext cx="7040880" cy="5115639"/>
          </a:xfrm>
          <a:prstGeom prst="rect">
            <a:avLst/>
          </a:prstGeom>
        </p:spPr>
      </p:pic>
      <p:sp>
        <p:nvSpPr>
          <p:cNvPr id="9" name="Shape 4"/>
          <p:cNvSpPr/>
          <p:nvPr/>
        </p:nvSpPr>
        <p:spPr>
          <a:xfrm>
            <a:off x="548640" y="4526280"/>
            <a:ext cx="310896" cy="310896"/>
          </a:xfrm>
          <a:prstGeom prst="ellipse">
            <a:avLst/>
          </a:prstGeom>
          <a:solidFill>
            <a:schemeClr val="accent1"/>
          </a:solidFill>
          <a:ln/>
        </p:spPr>
      </p:sp>
      <p:sp>
        <p:nvSpPr>
          <p:cNvPr id="10" name="Text 5"/>
          <p:cNvSpPr txBox="1"/>
          <p:nvPr/>
        </p:nvSpPr>
        <p:spPr>
          <a:xfrm>
            <a:off x="548640" y="452628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1" name="Text 6"/>
          <p:cNvSpPr txBox="1"/>
          <p:nvPr/>
        </p:nvSpPr>
        <p:spPr>
          <a:xfrm>
            <a:off x="987552" y="4526280"/>
            <a:ext cx="4114800" cy="310896"/>
          </a:xfrm>
          <a:prstGeom prst="rect">
            <a:avLst/>
          </a:prstGeom>
          <a:noFill/>
          <a:ln/>
        </p:spPr>
        <p:txBody>
          <a:bodyPr wrap="square" lIns="0" tIns="0" rIns="0" bIns="0" rtlCol="0" anchor="ctr"/>
          <a:lstStyle/>
          <a:p>
            <a:pPr indent="0" marL="0">
              <a:buNone/>
            </a:pPr>
            <a:r>
              <a:rPr lang="en-US" sz="1250" dirty="0">
                <a:solidFill>
                  <a:schemeClr val="tx1"/>
                </a:solidFill>
              </a:rPr>
              <a:t>Bemor puflaydi — FEV1, FVC, egri chiziq</a:t>
            </a:r>
            <a:endParaRPr lang="en-US" sz="1250" dirty="0"/>
          </a:p>
        </p:txBody>
      </p:sp>
      <p:sp>
        <p:nvSpPr>
          <p:cNvPr id="12" name="Shape 7"/>
          <p:cNvSpPr/>
          <p:nvPr/>
        </p:nvSpPr>
        <p:spPr>
          <a:xfrm>
            <a:off x="548640" y="4937760"/>
            <a:ext cx="310896" cy="310896"/>
          </a:xfrm>
          <a:prstGeom prst="ellipse">
            <a:avLst/>
          </a:prstGeom>
          <a:solidFill>
            <a:schemeClr val="accent1"/>
          </a:solidFill>
          <a:ln/>
        </p:spPr>
      </p:sp>
      <p:sp>
        <p:nvSpPr>
          <p:cNvPr id="13" name="Text 8"/>
          <p:cNvSpPr txBox="1"/>
          <p:nvPr/>
        </p:nvSpPr>
        <p:spPr>
          <a:xfrm>
            <a:off x="548640" y="493776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4" name="Text 9"/>
          <p:cNvSpPr txBox="1"/>
          <p:nvPr/>
        </p:nvSpPr>
        <p:spPr>
          <a:xfrm>
            <a:off x="987552" y="4937760"/>
            <a:ext cx="4114800" cy="310896"/>
          </a:xfrm>
          <a:prstGeom prst="rect">
            <a:avLst/>
          </a:prstGeom>
          <a:noFill/>
          <a:ln/>
        </p:spPr>
        <p:txBody>
          <a:bodyPr wrap="square" lIns="0" tIns="0" rIns="0" bIns="0" rtlCol="0" anchor="ctr"/>
          <a:lstStyle/>
          <a:p>
            <a:pPr indent="0" marL="0">
              <a:buNone/>
            </a:pPr>
            <a:r>
              <a:rPr lang="en-US" sz="1250" dirty="0">
                <a:solidFill>
                  <a:schemeClr val="tx1"/>
                </a:solidFill>
              </a:rPr>
              <a:t>Qoʻlda kiritish yoʻq — xato yoʻq</a:t>
            </a:r>
            <a:endParaRPr lang="en-US" sz="1250" dirty="0"/>
          </a:p>
        </p:txBody>
      </p:sp>
      <p:sp>
        <p:nvSpPr>
          <p:cNvPr id="15" name="Shape 10"/>
          <p:cNvSpPr/>
          <p:nvPr/>
        </p:nvSpPr>
        <p:spPr>
          <a:xfrm>
            <a:off x="548640" y="5349240"/>
            <a:ext cx="310896" cy="310896"/>
          </a:xfrm>
          <a:prstGeom prst="ellipse">
            <a:avLst/>
          </a:prstGeom>
          <a:solidFill>
            <a:schemeClr val="accent1"/>
          </a:solidFill>
          <a:ln/>
        </p:spPr>
      </p:sp>
      <p:sp>
        <p:nvSpPr>
          <p:cNvPr id="16" name="Text 11"/>
          <p:cNvSpPr txBox="1"/>
          <p:nvPr/>
        </p:nvSpPr>
        <p:spPr>
          <a:xfrm>
            <a:off x="548640" y="5349240"/>
            <a:ext cx="310896" cy="310896"/>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7" name="Text 12"/>
          <p:cNvSpPr txBox="1"/>
          <p:nvPr/>
        </p:nvSpPr>
        <p:spPr>
          <a:xfrm>
            <a:off x="987552" y="5349240"/>
            <a:ext cx="4114800" cy="310896"/>
          </a:xfrm>
          <a:prstGeom prst="rect">
            <a:avLst/>
          </a:prstGeom>
          <a:noFill/>
          <a:ln/>
        </p:spPr>
        <p:txBody>
          <a:bodyPr wrap="square" lIns="0" tIns="0" rIns="0" bIns="0" rtlCol="0" anchor="ctr"/>
          <a:lstStyle/>
          <a:p>
            <a:pPr indent="0" marL="0">
              <a:buNone/>
            </a:pPr>
            <a:r>
              <a:rPr lang="en-US" sz="1250" dirty="0">
                <a:solidFill>
                  <a:schemeClr val="tx1"/>
                </a:solidFill>
              </a:rPr>
              <a:t>Sifat nazorati + talqin → bemor kartasi</a:t>
            </a:r>
            <a:endParaRPr lang="en-US" sz="1250" dirty="0"/>
          </a:p>
        </p:txBody>
      </p:sp>
      <p:sp>
        <p:nvSpPr>
          <p:cNvPr id="18" name="Shape 13"/>
          <p:cNvSpPr/>
          <p:nvPr/>
        </p:nvSpPr>
        <p:spPr>
          <a:xfrm>
            <a:off x="548640" y="5788152"/>
            <a:ext cx="4434840" cy="384048"/>
          </a:xfrm>
          <a:prstGeom prst="roundRect">
            <a:avLst>
              <a:gd name="adj" fmla="val 28571"/>
            </a:avLst>
          </a:prstGeom>
          <a:solidFill>
            <a:schemeClr val="accent1">
              <a:alpha val="10000"/>
            </a:schemeClr>
          </a:solidFill>
          <a:ln/>
        </p:spPr>
      </p:sp>
      <p:sp>
        <p:nvSpPr>
          <p:cNvPr id="19" name="Text 14"/>
          <p:cNvSpPr txBox="1"/>
          <p:nvPr/>
        </p:nvSpPr>
        <p:spPr>
          <a:xfrm>
            <a:off x="685800" y="5788152"/>
            <a:ext cx="4297680" cy="384048"/>
          </a:xfrm>
          <a:prstGeom prst="rect">
            <a:avLst/>
          </a:prstGeom>
          <a:noFill/>
          <a:ln/>
        </p:spPr>
        <p:txBody>
          <a:bodyPr wrap="square" lIns="0" tIns="0" rIns="0" bIns="0" rtlCol="0" anchor="ctr"/>
          <a:lstStyle/>
          <a:p>
            <a:pPr indent="0" marL="0">
              <a:buNone/>
            </a:pPr>
            <a:r>
              <a:rPr lang="en-US" sz="1100" b="1" dirty="0">
                <a:solidFill>
                  <a:schemeClr val="accent1"/>
                </a:solidFill>
              </a:rPr>
              <a:t>Dalil: </a:t>
            </a:r>
            <a:pPr indent="0" marL="0">
              <a:buNone/>
            </a:pPr>
            <a:r>
              <a:rPr lang="en-US" sz="1100" dirty="0">
                <a:solidFill>
                  <a:schemeClr val="tx1"/>
                </a:solidFill>
              </a:rPr>
              <a:t>Air Next (2020) — stol spirometri bilan r &gt; 0,94</a:t>
            </a:r>
            <a:endParaRPr lang="en-US" sz="1100" dirty="0"/>
          </a:p>
        </p:txBody>
      </p:sp>
      <p:sp>
        <p:nvSpPr>
          <p:cNvPr id="20" name="Text 15"/>
          <p:cNvSpPr txBox="1"/>
          <p:nvPr/>
        </p:nvSpPr>
        <p:spPr>
          <a:xfrm>
            <a:off x="6858000" y="6053328"/>
            <a:ext cx="4782312" cy="228600"/>
          </a:xfrm>
          <a:prstGeom prst="rect">
            <a:avLst/>
          </a:prstGeom>
          <a:noFill/>
          <a:ln/>
        </p:spPr>
        <p:txBody>
          <a:bodyPr wrap="square" lIns="0" tIns="0" rIns="0" bIns="0" rtlCol="0" anchor="t"/>
          <a:lstStyle/>
          <a:p>
            <a:pPr algn="r" indent="0" marL="0">
              <a:buNone/>
            </a:pPr>
            <a:r>
              <a:rPr lang="en-US" sz="900" dirty="0">
                <a:solidFill>
                  <a:schemeClr val="accent6"/>
                </a:solidFill>
              </a:rPr>
              <a:t>Ekran — konsept dizayn; qiymatlar demo bemordan</a:t>
            </a:r>
            <a:endParaRPr lang="en-US" sz="9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5"/>
                </a:solidFill>
              </a:rPr>
              <a:t>3-BOSQICH · TELEFON ILOVASI</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bg1"/>
                </a:solidFill>
              </a:rPr>
              <a:t>Bemor qoʻlida: oʻzini baholash, eslatma va nafas testi</a:t>
            </a:r>
            <a:endParaRPr lang="en-US" sz="2800" dirty="0"/>
          </a:p>
        </p:txBody>
      </p:sp>
      <p:pic>
        <p:nvPicPr>
          <p:cNvPr id="5" name="Image 0" descr="Oʻzini baholash (konsept)">    </p:cNvPr>
          <p:cNvPicPr>
            <a:picLocks noChangeAspect="1"/>
          </p:cNvPicPr>
          <p:nvPr/>
        </p:nvPicPr>
        <p:blipFill>
          <a:blip r:embed="rId1"/>
          <a:stretch>
            <a:fillRect/>
          </a:stretch>
        </p:blipFill>
        <p:spPr>
          <a:xfrm>
            <a:off x="411480" y="1143000"/>
            <a:ext cx="2240280" cy="3707130"/>
          </a:xfrm>
          <a:prstGeom prst="rect">
            <a:avLst/>
          </a:prstGeom>
        </p:spPr>
      </p:pic>
      <p:sp>
        <p:nvSpPr>
          <p:cNvPr id="6" name="Text 2"/>
          <p:cNvSpPr txBox="1"/>
          <p:nvPr/>
        </p:nvSpPr>
        <p:spPr>
          <a:xfrm>
            <a:off x="548640" y="5440680"/>
            <a:ext cx="1965960" cy="274320"/>
          </a:xfrm>
          <a:prstGeom prst="rect">
            <a:avLst/>
          </a:prstGeom>
          <a:noFill/>
          <a:ln/>
        </p:spPr>
        <p:txBody>
          <a:bodyPr wrap="square" lIns="0" tIns="0" rIns="0" bIns="0" rtlCol="0" anchor="t"/>
          <a:lstStyle/>
          <a:p>
            <a:pPr algn="ctr" indent="0" marL="0">
              <a:buNone/>
            </a:pPr>
            <a:r>
              <a:rPr lang="en-US" sz="1300" b="1" dirty="0">
                <a:solidFill>
                  <a:schemeClr val="bg1"/>
                </a:solidFill>
              </a:rPr>
              <a:t>Oʻzini baholash</a:t>
            </a:r>
            <a:endParaRPr lang="en-US" sz="1300" dirty="0"/>
          </a:p>
        </p:txBody>
      </p:sp>
      <p:sp>
        <p:nvSpPr>
          <p:cNvPr id="7" name="Text 3"/>
          <p:cNvSpPr txBox="1"/>
          <p:nvPr/>
        </p:nvSpPr>
        <p:spPr>
          <a:xfrm>
            <a:off x="548640" y="5715000"/>
            <a:ext cx="1965960" cy="256032"/>
          </a:xfrm>
          <a:prstGeom prst="rect">
            <a:avLst/>
          </a:prstGeom>
          <a:noFill/>
          <a:ln/>
        </p:spPr>
        <p:txBody>
          <a:bodyPr wrap="square" lIns="0" tIns="0" rIns="0" bIns="0" rtlCol="0" anchor="t"/>
          <a:lstStyle/>
          <a:p>
            <a:pPr algn="ctr" indent="0" marL="0">
              <a:buNone/>
            </a:pPr>
            <a:r>
              <a:rPr lang="en-US" sz="1050" dirty="0">
                <a:solidFill>
                  <a:schemeClr val="accent5"/>
                </a:solidFill>
              </a:rPr>
              <a:t>CAT va mMRC, ovozli savollar</a:t>
            </a:r>
            <a:endParaRPr lang="en-US" sz="1050" dirty="0"/>
          </a:p>
        </p:txBody>
      </p:sp>
      <p:pic>
        <p:nvPicPr>
          <p:cNvPr id="8" name="Image 1" descr="Nafas testi (konsept)">    </p:cNvPr>
          <p:cNvPicPr>
            <a:picLocks noChangeAspect="1"/>
          </p:cNvPicPr>
          <p:nvPr/>
        </p:nvPicPr>
        <p:blipFill>
          <a:blip r:embed="rId2"/>
          <a:stretch>
            <a:fillRect/>
          </a:stretch>
        </p:blipFill>
        <p:spPr>
          <a:xfrm>
            <a:off x="2834640" y="1143000"/>
            <a:ext cx="2240280" cy="3707130"/>
          </a:xfrm>
          <a:prstGeom prst="rect">
            <a:avLst/>
          </a:prstGeom>
        </p:spPr>
      </p:pic>
      <p:sp>
        <p:nvSpPr>
          <p:cNvPr id="9" name="Text 4"/>
          <p:cNvSpPr txBox="1"/>
          <p:nvPr/>
        </p:nvSpPr>
        <p:spPr>
          <a:xfrm>
            <a:off x="2971800" y="5440680"/>
            <a:ext cx="1965960" cy="274320"/>
          </a:xfrm>
          <a:prstGeom prst="rect">
            <a:avLst/>
          </a:prstGeom>
          <a:noFill/>
          <a:ln/>
        </p:spPr>
        <p:txBody>
          <a:bodyPr wrap="square" lIns="0" tIns="0" rIns="0" bIns="0" rtlCol="0" anchor="t"/>
          <a:lstStyle/>
          <a:p>
            <a:pPr algn="ctr" indent="0" marL="0">
              <a:buNone/>
            </a:pPr>
            <a:r>
              <a:rPr lang="en-US" sz="1300" b="1" dirty="0">
                <a:solidFill>
                  <a:schemeClr val="bg1"/>
                </a:solidFill>
              </a:rPr>
              <a:t>Nafas testi</a:t>
            </a:r>
            <a:endParaRPr lang="en-US" sz="1300" dirty="0"/>
          </a:p>
        </p:txBody>
      </p:sp>
      <p:sp>
        <p:nvSpPr>
          <p:cNvPr id="10" name="Text 5"/>
          <p:cNvSpPr txBox="1"/>
          <p:nvPr/>
        </p:nvSpPr>
        <p:spPr>
          <a:xfrm>
            <a:off x="2971800" y="5715000"/>
            <a:ext cx="1965960" cy="256032"/>
          </a:xfrm>
          <a:prstGeom prst="rect">
            <a:avLst/>
          </a:prstGeom>
          <a:noFill/>
          <a:ln/>
        </p:spPr>
        <p:txBody>
          <a:bodyPr wrap="square" lIns="0" tIns="0" rIns="0" bIns="0" rtlCol="0" anchor="t"/>
          <a:lstStyle/>
          <a:p>
            <a:pPr algn="ctr" indent="0" marL="0">
              <a:buNone/>
            </a:pPr>
            <a:r>
              <a:rPr lang="en-US" sz="1050" dirty="0">
                <a:solidFill>
                  <a:schemeClr val="accent5"/>
                </a:solidFill>
              </a:rPr>
              <a:t>mikrofon orqali · tadqiqot</a:t>
            </a:r>
            <a:endParaRPr lang="en-US" sz="1050" dirty="0"/>
          </a:p>
        </p:txBody>
      </p:sp>
      <p:pic>
        <p:nvPicPr>
          <p:cNvPr id="11" name="Image 2" descr="Natija va eslatma (konsept)">    </p:cNvPr>
          <p:cNvPicPr>
            <a:picLocks noChangeAspect="1"/>
          </p:cNvPicPr>
          <p:nvPr/>
        </p:nvPicPr>
        <p:blipFill>
          <a:blip r:embed="rId3"/>
          <a:stretch>
            <a:fillRect/>
          </a:stretch>
        </p:blipFill>
        <p:spPr>
          <a:xfrm>
            <a:off x="5257800" y="1143000"/>
            <a:ext cx="2240280" cy="3707130"/>
          </a:xfrm>
          <a:prstGeom prst="rect">
            <a:avLst/>
          </a:prstGeom>
        </p:spPr>
      </p:pic>
      <p:sp>
        <p:nvSpPr>
          <p:cNvPr id="12" name="Text 6"/>
          <p:cNvSpPr txBox="1"/>
          <p:nvPr/>
        </p:nvSpPr>
        <p:spPr>
          <a:xfrm>
            <a:off x="5394960" y="5440680"/>
            <a:ext cx="1965960" cy="274320"/>
          </a:xfrm>
          <a:prstGeom prst="rect">
            <a:avLst/>
          </a:prstGeom>
          <a:noFill/>
          <a:ln/>
        </p:spPr>
        <p:txBody>
          <a:bodyPr wrap="square" lIns="0" tIns="0" rIns="0" bIns="0" rtlCol="0" anchor="t"/>
          <a:lstStyle/>
          <a:p>
            <a:pPr algn="ctr" indent="0" marL="0">
              <a:buNone/>
            </a:pPr>
            <a:r>
              <a:rPr lang="en-US" sz="1300" b="1" dirty="0">
                <a:solidFill>
                  <a:schemeClr val="bg1"/>
                </a:solidFill>
              </a:rPr>
              <a:t>Natija va eslatma</a:t>
            </a:r>
            <a:endParaRPr lang="en-US" sz="1300" dirty="0"/>
          </a:p>
        </p:txBody>
      </p:sp>
      <p:sp>
        <p:nvSpPr>
          <p:cNvPr id="13" name="Text 7"/>
          <p:cNvSpPr txBox="1"/>
          <p:nvPr/>
        </p:nvSpPr>
        <p:spPr>
          <a:xfrm>
            <a:off x="5394960" y="5715000"/>
            <a:ext cx="1965960" cy="256032"/>
          </a:xfrm>
          <a:prstGeom prst="rect">
            <a:avLst/>
          </a:prstGeom>
          <a:noFill/>
          <a:ln/>
        </p:spPr>
        <p:txBody>
          <a:bodyPr wrap="square" lIns="0" tIns="0" rIns="0" bIns="0" rtlCol="0" anchor="t"/>
          <a:lstStyle/>
          <a:p>
            <a:pPr algn="ctr" indent="0" marL="0">
              <a:buNone/>
            </a:pPr>
            <a:r>
              <a:rPr lang="en-US" sz="1050" dirty="0">
                <a:solidFill>
                  <a:schemeClr val="accent5"/>
                </a:solidFill>
              </a:rPr>
              <a:t>shifokorga yuboriladi</a:t>
            </a:r>
            <a:endParaRPr lang="en-US" sz="1050" dirty="0"/>
          </a:p>
        </p:txBody>
      </p:sp>
      <p:sp>
        <p:nvSpPr>
          <p:cNvPr id="14" name="Shape 8"/>
          <p:cNvSpPr/>
          <p:nvPr/>
        </p:nvSpPr>
        <p:spPr>
          <a:xfrm>
            <a:off x="8229600" y="1463040"/>
            <a:ext cx="3413455" cy="4663440"/>
          </a:xfrm>
          <a:prstGeom prst="roundRect">
            <a:avLst>
              <a:gd name="adj" fmla="val 3215"/>
            </a:avLst>
          </a:prstGeom>
          <a:solidFill>
            <a:schemeClr val="bg1">
              <a:alpha val="7000"/>
            </a:schemeClr>
          </a:solidFill>
          <a:ln w="9525">
            <a:solidFill>
              <a:schemeClr val="accent5">
                <a:alpha val="30000"/>
              </a:schemeClr>
            </a:solidFill>
            <a:prstDash val="solid"/>
          </a:ln>
        </p:spPr>
      </p:sp>
      <p:sp>
        <p:nvSpPr>
          <p:cNvPr id="15" name="Text 9"/>
          <p:cNvSpPr txBox="1"/>
          <p:nvPr/>
        </p:nvSpPr>
        <p:spPr>
          <a:xfrm>
            <a:off x="8503920" y="1691640"/>
            <a:ext cx="2864815"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ILMIY ASOS</a:t>
            </a:r>
            <a:endParaRPr lang="en-US" sz="1100" dirty="0"/>
          </a:p>
        </p:txBody>
      </p:sp>
      <p:sp>
        <p:nvSpPr>
          <p:cNvPr id="16" name="Text 10"/>
          <p:cNvSpPr txBox="1"/>
          <p:nvPr/>
        </p:nvSpPr>
        <p:spPr>
          <a:xfrm>
            <a:off x="8503920" y="2103120"/>
            <a:ext cx="2864815" cy="594360"/>
          </a:xfrm>
          <a:prstGeom prst="rect">
            <a:avLst/>
          </a:prstGeom>
          <a:noFill/>
          <a:ln/>
        </p:spPr>
        <p:txBody>
          <a:bodyPr wrap="square" lIns="0" tIns="0" rIns="0" bIns="0" rtlCol="0" anchor="t"/>
          <a:lstStyle/>
          <a:p>
            <a:pPr indent="0" marL="0">
              <a:buNone/>
            </a:pPr>
            <a:r>
              <a:rPr lang="en-US" sz="3600" b="1" dirty="0">
                <a:solidFill>
                  <a:schemeClr val="bg1"/>
                </a:solidFill>
              </a:rPr>
              <a:t>≈ 5%</a:t>
            </a:r>
            <a:endParaRPr lang="en-US" sz="3600" dirty="0"/>
          </a:p>
        </p:txBody>
      </p:sp>
      <p:sp>
        <p:nvSpPr>
          <p:cNvPr id="17" name="Text 11"/>
          <p:cNvSpPr txBox="1"/>
          <p:nvPr/>
        </p:nvSpPr>
        <p:spPr>
          <a:xfrm>
            <a:off x="8503920" y="2706624"/>
            <a:ext cx="2864815" cy="548640"/>
          </a:xfrm>
          <a:prstGeom prst="rect">
            <a:avLst/>
          </a:prstGeom>
          <a:noFill/>
          <a:ln/>
        </p:spPr>
        <p:txBody>
          <a:bodyPr wrap="square" lIns="0" tIns="0" rIns="0" bIns="0" rtlCol="0" anchor="t"/>
          <a:lstStyle/>
          <a:p>
            <a:pPr indent="0" marL="0">
              <a:buNone/>
            </a:pPr>
            <a:r>
              <a:rPr lang="en-US" sz="1150" dirty="0">
                <a:solidFill>
                  <a:schemeClr val="bg2"/>
                </a:solidFill>
              </a:rPr>
              <a:t>SpiroSmart (2012): telefon mikrofoni, 52 kishi — oʻrtacha xato</a:t>
            </a:r>
            <a:endParaRPr lang="en-US" sz="1150" dirty="0"/>
          </a:p>
        </p:txBody>
      </p:sp>
      <p:sp>
        <p:nvSpPr>
          <p:cNvPr id="18" name="Text 12"/>
          <p:cNvSpPr txBox="1"/>
          <p:nvPr/>
        </p:nvSpPr>
        <p:spPr>
          <a:xfrm>
            <a:off x="8503920" y="3337560"/>
            <a:ext cx="2864815" cy="594360"/>
          </a:xfrm>
          <a:prstGeom prst="rect">
            <a:avLst/>
          </a:prstGeom>
          <a:noFill/>
          <a:ln/>
        </p:spPr>
        <p:txBody>
          <a:bodyPr wrap="square" lIns="0" tIns="0" rIns="0" bIns="0" rtlCol="0" anchor="t"/>
          <a:lstStyle/>
          <a:p>
            <a:pPr indent="0" marL="0">
              <a:buNone/>
            </a:pPr>
            <a:r>
              <a:rPr lang="en-US" sz="3600" b="1" dirty="0">
                <a:solidFill>
                  <a:schemeClr val="bg1"/>
                </a:solidFill>
              </a:rPr>
              <a:t>&lt; 3%</a:t>
            </a:r>
            <a:endParaRPr lang="en-US" sz="3600" dirty="0"/>
          </a:p>
        </p:txBody>
      </p:sp>
      <p:sp>
        <p:nvSpPr>
          <p:cNvPr id="19" name="Text 13"/>
          <p:cNvSpPr txBox="1"/>
          <p:nvPr/>
        </p:nvSpPr>
        <p:spPr>
          <a:xfrm>
            <a:off x="8503920" y="3941064"/>
            <a:ext cx="2864815" cy="548640"/>
          </a:xfrm>
          <a:prstGeom prst="rect">
            <a:avLst/>
          </a:prstGeom>
          <a:noFill/>
          <a:ln/>
        </p:spPr>
        <p:txBody>
          <a:bodyPr wrap="square" lIns="0" tIns="0" rIns="0" bIns="0" rtlCol="0" anchor="t"/>
          <a:lstStyle/>
          <a:p>
            <a:pPr indent="0" marL="0">
              <a:buNone/>
            </a:pPr>
            <a:r>
              <a:rPr lang="en-US" sz="1150" dirty="0">
                <a:solidFill>
                  <a:schemeClr val="bg2"/>
                </a:solidFill>
              </a:rPr>
              <a:t>SpiroSonic (2020): sogʻlomlarda; 83 bemor bolada 5–10%</a:t>
            </a:r>
            <a:endParaRPr lang="en-US" sz="1150" dirty="0"/>
          </a:p>
        </p:txBody>
      </p:sp>
      <p:sp>
        <p:nvSpPr>
          <p:cNvPr id="20" name="Text 14"/>
          <p:cNvSpPr txBox="1"/>
          <p:nvPr/>
        </p:nvSpPr>
        <p:spPr>
          <a:xfrm>
            <a:off x="8503920" y="4709160"/>
            <a:ext cx="2864815" cy="822960"/>
          </a:xfrm>
          <a:prstGeom prst="rect">
            <a:avLst/>
          </a:prstGeom>
          <a:noFill/>
          <a:ln/>
        </p:spPr>
        <p:txBody>
          <a:bodyPr wrap="square" lIns="0" tIns="0" rIns="0" bIns="0" rtlCol="0" anchor="t"/>
          <a:lstStyle/>
          <a:p>
            <a:pPr indent="0" marL="0">
              <a:buNone/>
            </a:pPr>
            <a:r>
              <a:rPr lang="en-US" sz="1250" b="1" dirty="0">
                <a:solidFill>
                  <a:schemeClr val="accent5"/>
                </a:solidFill>
              </a:rPr>
              <a:t>Tashxis emas — skrining va kuzatuv. Mahalliy aholida spirometr bilan juft oʻlchovda tasdiqlanadi.</a:t>
            </a:r>
            <a:endParaRPr lang="en-US" sz="1250" dirty="0"/>
          </a:p>
        </p:txBody>
      </p:sp>
      <p:sp>
        <p:nvSpPr>
          <p:cNvPr id="21" name="Text 15"/>
          <p:cNvSpPr txBox="1"/>
          <p:nvPr/>
        </p:nvSpPr>
        <p:spPr>
          <a:xfrm>
            <a:off x="8503920" y="5623560"/>
            <a:ext cx="2864815" cy="274320"/>
          </a:xfrm>
          <a:prstGeom prst="rect">
            <a:avLst/>
          </a:prstGeom>
          <a:noFill/>
          <a:ln/>
        </p:spPr>
        <p:txBody>
          <a:bodyPr wrap="square" lIns="0" tIns="0" rIns="0" bIns="0" rtlCol="0" anchor="t"/>
          <a:lstStyle/>
          <a:p>
            <a:pPr indent="0" marL="0">
              <a:buNone/>
            </a:pPr>
            <a:r>
              <a:rPr lang="en-US" sz="950" dirty="0">
                <a:solidFill>
                  <a:schemeClr val="bg2"/>
                </a:solidFill>
              </a:rPr>
              <a:t>Ekranlar — konsept dizayn</a:t>
            </a:r>
            <a:endParaRPr lang="en-US" sz="95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DALILLAR</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Jahon tadqiqotlari: yondashuv isbotlangan</a:t>
            </a:r>
            <a:endParaRPr lang="en-US" sz="2800" dirty="0"/>
          </a:p>
        </p:txBody>
      </p:sp>
      <p:sp>
        <p:nvSpPr>
          <p:cNvPr id="5" name="Text 2"/>
          <p:cNvSpPr txBox="1"/>
          <p:nvPr/>
        </p:nvSpPr>
        <p:spPr>
          <a:xfrm>
            <a:off x="548640" y="1481328"/>
            <a:ext cx="3545738"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1-BOSQICH · FAOL IZLASH</a:t>
            </a:r>
            <a:endParaRPr lang="en-US" sz="1100" dirty="0"/>
          </a:p>
        </p:txBody>
      </p:sp>
      <p:sp>
        <p:nvSpPr>
          <p:cNvPr id="6" name="Text 3"/>
          <p:cNvSpPr txBox="1"/>
          <p:nvPr/>
        </p:nvSpPr>
        <p:spPr>
          <a:xfrm>
            <a:off x="4322978" y="1481328"/>
            <a:ext cx="3545738"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2-BOSQICH · PORTATIV SPIROMETR</a:t>
            </a:r>
            <a:endParaRPr lang="en-US" sz="1100" dirty="0"/>
          </a:p>
        </p:txBody>
      </p:sp>
      <p:sp>
        <p:nvSpPr>
          <p:cNvPr id="7" name="Text 4"/>
          <p:cNvSpPr txBox="1"/>
          <p:nvPr/>
        </p:nvSpPr>
        <p:spPr>
          <a:xfrm>
            <a:off x="8097317" y="1481328"/>
            <a:ext cx="3545738" cy="256032"/>
          </a:xfrm>
          <a:prstGeom prst="rect">
            <a:avLst/>
          </a:prstGeom>
          <a:noFill/>
          <a:ln/>
        </p:spPr>
        <p:txBody>
          <a:bodyPr wrap="square" lIns="0" tIns="0" rIns="0" bIns="0" rtlCol="0" anchor="t"/>
          <a:lstStyle/>
          <a:p>
            <a:pPr indent="0" marL="0">
              <a:buNone/>
            </a:pPr>
            <a:r>
              <a:rPr lang="en-US" sz="1100" b="1" spc="150" kern="0" dirty="0">
                <a:solidFill>
                  <a:schemeClr val="accent1"/>
                </a:solidFill>
              </a:rPr>
              <a:t>3-BOSQICH · TELEFON</a:t>
            </a:r>
            <a:endParaRPr lang="en-US" sz="1100" dirty="0"/>
          </a:p>
        </p:txBody>
      </p:sp>
      <p:sp>
        <p:nvSpPr>
          <p:cNvPr id="8" name="study1"/>
          <p:cNvSpPr/>
          <p:nvPr/>
        </p:nvSpPr>
        <p:spPr>
          <a:xfrm>
            <a:off x="548640" y="1810512"/>
            <a:ext cx="3545738" cy="1828800"/>
          </a:xfrm>
          <a:prstGeom prst="roundRect">
            <a:avLst>
              <a:gd name="adj" fmla="val 6000"/>
            </a:avLst>
          </a:prstGeom>
          <a:solidFill>
            <a:schemeClr val="bg2"/>
          </a:solidFill>
          <a:ln/>
        </p:spPr>
      </p:sp>
      <p:sp>
        <p:nvSpPr>
          <p:cNvPr id="9" name="Text 6"/>
          <p:cNvSpPr txBox="1"/>
          <p:nvPr/>
        </p:nvSpPr>
        <p:spPr>
          <a:xfrm>
            <a:off x="777240" y="199339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4% vs 1%</a:t>
            </a:r>
            <a:endParaRPr lang="en-US" sz="3000" dirty="0"/>
          </a:p>
        </p:txBody>
      </p:sp>
      <p:sp>
        <p:nvSpPr>
          <p:cNvPr id="10" name="Text 7"/>
          <p:cNvSpPr txBox="1"/>
          <p:nvPr/>
        </p:nvSpPr>
        <p:spPr>
          <a:xfrm>
            <a:off x="777240" y="2587752"/>
            <a:ext cx="3088538" cy="594360"/>
          </a:xfrm>
          <a:prstGeom prst="rect">
            <a:avLst/>
          </a:prstGeom>
          <a:noFill/>
          <a:ln/>
        </p:spPr>
        <p:txBody>
          <a:bodyPr wrap="square" lIns="0" tIns="0" rIns="0" bIns="0" rtlCol="0" anchor="t"/>
          <a:lstStyle/>
          <a:p>
            <a:pPr indent="0" marL="0">
              <a:buNone/>
            </a:pPr>
            <a:r>
              <a:rPr lang="en-US" sz="1150" dirty="0">
                <a:solidFill>
                  <a:schemeClr val="tx1"/>
                </a:solidFill>
              </a:rPr>
              <a:t>Faol izlash: yangi tashxislar 4 barobar koʻp (~75 000 bemor, Buyuk Britaniya)</a:t>
            </a:r>
            <a:endParaRPr lang="en-US" sz="1150" dirty="0"/>
          </a:p>
        </p:txBody>
      </p:sp>
      <p:sp>
        <p:nvSpPr>
          <p:cNvPr id="11" name="Text 8"/>
          <p:cNvSpPr txBox="1"/>
          <p:nvPr/>
        </p:nvSpPr>
        <p:spPr>
          <a:xfrm>
            <a:off x="777240" y="3291840"/>
            <a:ext cx="3088538" cy="228600"/>
          </a:xfrm>
          <a:prstGeom prst="rect">
            <a:avLst/>
          </a:prstGeom>
          <a:noFill/>
          <a:ln/>
        </p:spPr>
        <p:txBody>
          <a:bodyPr wrap="square" lIns="0" tIns="0" rIns="0" bIns="0" rtlCol="0" anchor="t"/>
          <a:lstStyle/>
          <a:p>
            <a:pPr indent="0" marL="0">
              <a:buNone/>
            </a:pPr>
            <a:r>
              <a:rPr lang="en-US" sz="900" dirty="0">
                <a:solidFill>
                  <a:schemeClr val="accent6"/>
                </a:solidFill>
              </a:rPr>
              <a:t>TargetCOPD · Jordan va b., Lancet Respir Med, 2016</a:t>
            </a:r>
            <a:endParaRPr lang="en-US" sz="900" dirty="0"/>
          </a:p>
        </p:txBody>
      </p:sp>
      <p:sp>
        <p:nvSpPr>
          <p:cNvPr id="12" name="study2"/>
          <p:cNvSpPr/>
          <p:nvPr/>
        </p:nvSpPr>
        <p:spPr>
          <a:xfrm>
            <a:off x="548640" y="3776472"/>
            <a:ext cx="3545738" cy="1828800"/>
          </a:xfrm>
          <a:prstGeom prst="roundRect">
            <a:avLst>
              <a:gd name="adj" fmla="val 6000"/>
            </a:avLst>
          </a:prstGeom>
          <a:solidFill>
            <a:schemeClr val="bg2"/>
          </a:solidFill>
          <a:ln/>
        </p:spPr>
      </p:sp>
      <p:sp>
        <p:nvSpPr>
          <p:cNvPr id="13" name="Text 10"/>
          <p:cNvSpPr txBox="1"/>
          <p:nvPr/>
        </p:nvSpPr>
        <p:spPr>
          <a:xfrm>
            <a:off x="777240" y="395935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3,2–6,7%</a:t>
            </a:r>
            <a:endParaRPr lang="en-US" sz="3000" dirty="0"/>
          </a:p>
        </p:txBody>
      </p:sp>
      <p:sp>
        <p:nvSpPr>
          <p:cNvPr id="14" name="Text 11"/>
          <p:cNvSpPr txBox="1"/>
          <p:nvPr/>
        </p:nvSpPr>
        <p:spPr>
          <a:xfrm>
            <a:off x="777240" y="4553712"/>
            <a:ext cx="3088538" cy="594360"/>
          </a:xfrm>
          <a:prstGeom prst="rect">
            <a:avLst/>
          </a:prstGeom>
          <a:noFill/>
          <a:ln/>
        </p:spPr>
        <p:txBody>
          <a:bodyPr wrap="square" lIns="0" tIns="0" rIns="0" bIns="0" rtlCol="0" anchor="t"/>
          <a:lstStyle/>
          <a:p>
            <a:pPr indent="0" marL="0">
              <a:buNone/>
            </a:pPr>
            <a:r>
              <a:rPr lang="en-US" sz="1150" dirty="0">
                <a:solidFill>
                  <a:schemeClr val="tx1"/>
                </a:solidFill>
              </a:rPr>
              <a:t>Spirometriya bilan OSOK (Kiyev, Olmaota, Boku) — deyarli hammasi ilk bor aniqlangan</a:t>
            </a:r>
            <a:endParaRPr lang="en-US" sz="1150" dirty="0"/>
          </a:p>
        </p:txBody>
      </p:sp>
      <p:sp>
        <p:nvSpPr>
          <p:cNvPr id="15" name="Text 12"/>
          <p:cNvSpPr txBox="1"/>
          <p:nvPr/>
        </p:nvSpPr>
        <p:spPr>
          <a:xfrm>
            <a:off x="777240" y="5257800"/>
            <a:ext cx="3088538" cy="228600"/>
          </a:xfrm>
          <a:prstGeom prst="rect">
            <a:avLst/>
          </a:prstGeom>
          <a:noFill/>
          <a:ln/>
        </p:spPr>
        <p:txBody>
          <a:bodyPr wrap="square" lIns="0" tIns="0" rIns="0" bIns="0" rtlCol="0" anchor="t"/>
          <a:lstStyle/>
          <a:p>
            <a:pPr indent="0" marL="0">
              <a:buNone/>
            </a:pPr>
            <a:r>
              <a:rPr lang="en-US" sz="900" dirty="0">
                <a:solidFill>
                  <a:schemeClr val="accent6"/>
                </a:solidFill>
              </a:rPr>
              <a:t>CORE · BMC Pulm Med, 2018</a:t>
            </a:r>
            <a:endParaRPr lang="en-US" sz="900" dirty="0"/>
          </a:p>
        </p:txBody>
      </p:sp>
      <p:sp>
        <p:nvSpPr>
          <p:cNvPr id="16" name="study3"/>
          <p:cNvSpPr/>
          <p:nvPr/>
        </p:nvSpPr>
        <p:spPr>
          <a:xfrm>
            <a:off x="4322978" y="1810512"/>
            <a:ext cx="3545738" cy="1828800"/>
          </a:xfrm>
          <a:prstGeom prst="roundRect">
            <a:avLst>
              <a:gd name="adj" fmla="val 6000"/>
            </a:avLst>
          </a:prstGeom>
          <a:solidFill>
            <a:schemeClr val="bg2"/>
          </a:solidFill>
          <a:ln/>
        </p:spPr>
      </p:sp>
      <p:sp>
        <p:nvSpPr>
          <p:cNvPr id="17" name="Text 14"/>
          <p:cNvSpPr txBox="1"/>
          <p:nvPr/>
        </p:nvSpPr>
        <p:spPr>
          <a:xfrm>
            <a:off x="4551578" y="199339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r &gt; 0,94</a:t>
            </a:r>
            <a:endParaRPr lang="en-US" sz="3000" dirty="0"/>
          </a:p>
        </p:txBody>
      </p:sp>
      <p:sp>
        <p:nvSpPr>
          <p:cNvPr id="18" name="Text 15"/>
          <p:cNvSpPr txBox="1"/>
          <p:nvPr/>
        </p:nvSpPr>
        <p:spPr>
          <a:xfrm>
            <a:off x="4551578" y="2587752"/>
            <a:ext cx="3088538" cy="594360"/>
          </a:xfrm>
          <a:prstGeom prst="rect">
            <a:avLst/>
          </a:prstGeom>
          <a:noFill/>
          <a:ln/>
        </p:spPr>
        <p:txBody>
          <a:bodyPr wrap="square" lIns="0" tIns="0" rIns="0" bIns="0" rtlCol="0" anchor="t"/>
          <a:lstStyle/>
          <a:p>
            <a:pPr indent="0" marL="0">
              <a:buNone/>
            </a:pPr>
            <a:r>
              <a:rPr lang="en-US" sz="1150" dirty="0">
                <a:solidFill>
                  <a:schemeClr val="tx1"/>
                </a:solidFill>
              </a:rPr>
              <a:t>Bluetooth spirometr vs stol spirometri: 200 bemor + 50 sogʻlom</a:t>
            </a:r>
            <a:endParaRPr lang="en-US" sz="1150" dirty="0"/>
          </a:p>
        </p:txBody>
      </p:sp>
      <p:sp>
        <p:nvSpPr>
          <p:cNvPr id="19" name="Text 16"/>
          <p:cNvSpPr txBox="1"/>
          <p:nvPr/>
        </p:nvSpPr>
        <p:spPr>
          <a:xfrm>
            <a:off x="4551578" y="3291840"/>
            <a:ext cx="3088538" cy="228600"/>
          </a:xfrm>
          <a:prstGeom prst="rect">
            <a:avLst/>
          </a:prstGeom>
          <a:noFill/>
          <a:ln/>
        </p:spPr>
        <p:txBody>
          <a:bodyPr wrap="square" lIns="0" tIns="0" rIns="0" bIns="0" rtlCol="0" anchor="t"/>
          <a:lstStyle/>
          <a:p>
            <a:pPr indent="0" marL="0">
              <a:buNone/>
            </a:pPr>
            <a:r>
              <a:rPr lang="en-US" sz="900" dirty="0">
                <a:solidFill>
                  <a:schemeClr val="accent6"/>
                </a:solidFill>
              </a:rPr>
              <a:t>Air Next · Exarchos va b., Respir Res, 2020</a:t>
            </a:r>
            <a:endParaRPr lang="en-US" sz="900" dirty="0"/>
          </a:p>
        </p:txBody>
      </p:sp>
      <p:sp>
        <p:nvSpPr>
          <p:cNvPr id="20" name="study4"/>
          <p:cNvSpPr/>
          <p:nvPr/>
        </p:nvSpPr>
        <p:spPr>
          <a:xfrm>
            <a:off x="4322978" y="3776472"/>
            <a:ext cx="3545738" cy="1828800"/>
          </a:xfrm>
          <a:prstGeom prst="roundRect">
            <a:avLst>
              <a:gd name="adj" fmla="val 6000"/>
            </a:avLst>
          </a:prstGeom>
          <a:solidFill>
            <a:schemeClr val="bg2"/>
          </a:solidFill>
          <a:ln/>
        </p:spPr>
      </p:sp>
      <p:sp>
        <p:nvSpPr>
          <p:cNvPr id="21" name="Text 18"/>
          <p:cNvSpPr txBox="1"/>
          <p:nvPr/>
        </p:nvSpPr>
        <p:spPr>
          <a:xfrm>
            <a:off x="4551578" y="395935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66% / 79%</a:t>
            </a:r>
            <a:endParaRPr lang="en-US" sz="3000" dirty="0"/>
          </a:p>
        </p:txBody>
      </p:sp>
      <p:sp>
        <p:nvSpPr>
          <p:cNvPr id="22" name="Text 19"/>
          <p:cNvSpPr txBox="1"/>
          <p:nvPr/>
        </p:nvSpPr>
        <p:spPr>
          <a:xfrm>
            <a:off x="4551578" y="4553712"/>
            <a:ext cx="3088538" cy="594360"/>
          </a:xfrm>
          <a:prstGeom prst="rect">
            <a:avLst/>
          </a:prstGeom>
          <a:noFill/>
          <a:ln/>
        </p:spPr>
        <p:txBody>
          <a:bodyPr wrap="square" lIns="0" tIns="0" rIns="0" bIns="0" rtlCol="0" anchor="t"/>
          <a:lstStyle/>
          <a:p>
            <a:pPr indent="0" marL="0">
              <a:buNone/>
            </a:pPr>
            <a:r>
              <a:rPr lang="en-US" sz="1150" dirty="0">
                <a:solidFill>
                  <a:schemeClr val="tx1"/>
                </a:solidFill>
              </a:rPr>
              <a:t>Qoʻl spirometri (COPD-6) umumiy amaliyotda: sezgirlik / oʻziga xoslik</a:t>
            </a:r>
            <a:endParaRPr lang="en-US" sz="1150" dirty="0"/>
          </a:p>
        </p:txBody>
      </p:sp>
      <p:sp>
        <p:nvSpPr>
          <p:cNvPr id="23" name="Text 20"/>
          <p:cNvSpPr txBox="1"/>
          <p:nvPr/>
        </p:nvSpPr>
        <p:spPr>
          <a:xfrm>
            <a:off x="4551578" y="5257800"/>
            <a:ext cx="3088538" cy="228600"/>
          </a:xfrm>
          <a:prstGeom prst="rect">
            <a:avLst/>
          </a:prstGeom>
          <a:noFill/>
          <a:ln/>
        </p:spPr>
        <p:txBody>
          <a:bodyPr wrap="square" lIns="0" tIns="0" rIns="0" bIns="0" rtlCol="0" anchor="t"/>
          <a:lstStyle/>
          <a:p>
            <a:pPr indent="0" marL="0">
              <a:buNone/>
            </a:pPr>
            <a:r>
              <a:rPr lang="en-US" sz="900" dirty="0">
                <a:solidFill>
                  <a:schemeClr val="accent6"/>
                </a:solidFill>
              </a:rPr>
              <a:t>RADICALS, 2023</a:t>
            </a:r>
            <a:endParaRPr lang="en-US" sz="900" dirty="0"/>
          </a:p>
        </p:txBody>
      </p:sp>
      <p:sp>
        <p:nvSpPr>
          <p:cNvPr id="24" name="study5"/>
          <p:cNvSpPr/>
          <p:nvPr/>
        </p:nvSpPr>
        <p:spPr>
          <a:xfrm>
            <a:off x="8097317" y="1810512"/>
            <a:ext cx="3545738" cy="1828800"/>
          </a:xfrm>
          <a:prstGeom prst="roundRect">
            <a:avLst>
              <a:gd name="adj" fmla="val 6000"/>
            </a:avLst>
          </a:prstGeom>
          <a:solidFill>
            <a:schemeClr val="bg2"/>
          </a:solidFill>
          <a:ln/>
        </p:spPr>
      </p:sp>
      <p:sp>
        <p:nvSpPr>
          <p:cNvPr id="25" name="Text 22"/>
          <p:cNvSpPr txBox="1"/>
          <p:nvPr/>
        </p:nvSpPr>
        <p:spPr>
          <a:xfrm>
            <a:off x="8325917" y="199339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5,1%</a:t>
            </a:r>
            <a:endParaRPr lang="en-US" sz="3000" dirty="0"/>
          </a:p>
        </p:txBody>
      </p:sp>
      <p:sp>
        <p:nvSpPr>
          <p:cNvPr id="26" name="Text 23"/>
          <p:cNvSpPr txBox="1"/>
          <p:nvPr/>
        </p:nvSpPr>
        <p:spPr>
          <a:xfrm>
            <a:off x="8325917" y="2587752"/>
            <a:ext cx="3088538" cy="594360"/>
          </a:xfrm>
          <a:prstGeom prst="rect">
            <a:avLst/>
          </a:prstGeom>
          <a:noFill/>
          <a:ln/>
        </p:spPr>
        <p:txBody>
          <a:bodyPr wrap="square" lIns="0" tIns="0" rIns="0" bIns="0" rtlCol="0" anchor="t"/>
          <a:lstStyle/>
          <a:p>
            <a:pPr indent="0" marL="0">
              <a:buNone/>
            </a:pPr>
            <a:r>
              <a:rPr lang="en-US" sz="1150" dirty="0">
                <a:solidFill>
                  <a:schemeClr val="tx1"/>
                </a:solidFill>
              </a:rPr>
              <a:t>Telefon mikrofoni bilan oʻpka funksiyasi: 52 kishi, oʻrtacha xato</a:t>
            </a:r>
            <a:endParaRPr lang="en-US" sz="1150" dirty="0"/>
          </a:p>
        </p:txBody>
      </p:sp>
      <p:sp>
        <p:nvSpPr>
          <p:cNvPr id="27" name="Text 24"/>
          <p:cNvSpPr txBox="1"/>
          <p:nvPr/>
        </p:nvSpPr>
        <p:spPr>
          <a:xfrm>
            <a:off x="8325917" y="3291840"/>
            <a:ext cx="3088538" cy="228600"/>
          </a:xfrm>
          <a:prstGeom prst="rect">
            <a:avLst/>
          </a:prstGeom>
          <a:noFill/>
          <a:ln/>
        </p:spPr>
        <p:txBody>
          <a:bodyPr wrap="square" lIns="0" tIns="0" rIns="0" bIns="0" rtlCol="0" anchor="t"/>
          <a:lstStyle/>
          <a:p>
            <a:pPr indent="0" marL="0">
              <a:buNone/>
            </a:pPr>
            <a:r>
              <a:rPr lang="en-US" sz="900" dirty="0">
                <a:solidFill>
                  <a:schemeClr val="accent6"/>
                </a:solidFill>
              </a:rPr>
              <a:t>SpiroSmart · Larson va b., UbiComp, 2012</a:t>
            </a:r>
            <a:endParaRPr lang="en-US" sz="900" dirty="0"/>
          </a:p>
        </p:txBody>
      </p:sp>
      <p:sp>
        <p:nvSpPr>
          <p:cNvPr id="28" name="study6"/>
          <p:cNvSpPr/>
          <p:nvPr/>
        </p:nvSpPr>
        <p:spPr>
          <a:xfrm>
            <a:off x="8097317" y="3776472"/>
            <a:ext cx="3545738" cy="1828800"/>
          </a:xfrm>
          <a:prstGeom prst="roundRect">
            <a:avLst>
              <a:gd name="adj" fmla="val 6000"/>
            </a:avLst>
          </a:prstGeom>
          <a:solidFill>
            <a:schemeClr val="bg2"/>
          </a:solidFill>
          <a:ln/>
        </p:spPr>
      </p:sp>
      <p:sp>
        <p:nvSpPr>
          <p:cNvPr id="29" name="Text 26"/>
          <p:cNvSpPr txBox="1"/>
          <p:nvPr/>
        </p:nvSpPr>
        <p:spPr>
          <a:xfrm>
            <a:off x="8325917" y="3959352"/>
            <a:ext cx="3088538" cy="548640"/>
          </a:xfrm>
          <a:prstGeom prst="rect">
            <a:avLst/>
          </a:prstGeom>
          <a:noFill/>
          <a:ln/>
        </p:spPr>
        <p:txBody>
          <a:bodyPr wrap="square" lIns="0" tIns="0" rIns="0" bIns="0" rtlCol="0" anchor="t"/>
          <a:lstStyle/>
          <a:p>
            <a:pPr indent="0" marL="0">
              <a:buNone/>
            </a:pPr>
            <a:r>
              <a:rPr lang="en-US" sz="3000" b="1" dirty="0">
                <a:solidFill>
                  <a:schemeClr val="accent1"/>
                </a:solidFill>
              </a:rPr>
              <a:t>&lt; 3%</a:t>
            </a:r>
            <a:endParaRPr lang="en-US" sz="3000" dirty="0"/>
          </a:p>
        </p:txBody>
      </p:sp>
      <p:sp>
        <p:nvSpPr>
          <p:cNvPr id="30" name="Text 27"/>
          <p:cNvSpPr txBox="1"/>
          <p:nvPr/>
        </p:nvSpPr>
        <p:spPr>
          <a:xfrm>
            <a:off x="8325917" y="4553712"/>
            <a:ext cx="3088538" cy="594360"/>
          </a:xfrm>
          <a:prstGeom prst="rect">
            <a:avLst/>
          </a:prstGeom>
          <a:noFill/>
          <a:ln/>
        </p:spPr>
        <p:txBody>
          <a:bodyPr wrap="square" lIns="0" tIns="0" rIns="0" bIns="0" rtlCol="0" anchor="t"/>
          <a:lstStyle/>
          <a:p>
            <a:pPr indent="0" marL="0">
              <a:buNone/>
            </a:pPr>
            <a:r>
              <a:rPr lang="en-US" sz="1150" dirty="0">
                <a:solidFill>
                  <a:schemeClr val="tx1"/>
                </a:solidFill>
              </a:rPr>
              <a:t>Sogʻlomlarda xato; 83 bemor bolada 5–10%</a:t>
            </a:r>
            <a:endParaRPr lang="en-US" sz="1150" dirty="0"/>
          </a:p>
        </p:txBody>
      </p:sp>
      <p:sp>
        <p:nvSpPr>
          <p:cNvPr id="31" name="Text 28"/>
          <p:cNvSpPr txBox="1"/>
          <p:nvPr/>
        </p:nvSpPr>
        <p:spPr>
          <a:xfrm>
            <a:off x="8325917" y="5257800"/>
            <a:ext cx="3088538" cy="228600"/>
          </a:xfrm>
          <a:prstGeom prst="rect">
            <a:avLst/>
          </a:prstGeom>
          <a:noFill/>
          <a:ln/>
        </p:spPr>
        <p:txBody>
          <a:bodyPr wrap="square" lIns="0" tIns="0" rIns="0" bIns="0" rtlCol="0" anchor="t"/>
          <a:lstStyle/>
          <a:p>
            <a:pPr indent="0" marL="0">
              <a:buNone/>
            </a:pPr>
            <a:r>
              <a:rPr lang="en-US" sz="900" dirty="0">
                <a:solidFill>
                  <a:schemeClr val="accent6"/>
                </a:solidFill>
              </a:rPr>
              <a:t>SpiroSonic · Song va b., MobiCom, 2020</a:t>
            </a:r>
            <a:endParaRPr lang="en-US" sz="900" dirty="0"/>
          </a:p>
        </p:txBody>
      </p:sp>
      <p:sp>
        <p:nvSpPr>
          <p:cNvPr id="32" name="Shape 29"/>
          <p:cNvSpPr/>
          <p:nvPr/>
        </p:nvSpPr>
        <p:spPr>
          <a:xfrm>
            <a:off x="548640" y="5733288"/>
            <a:ext cx="11094415" cy="411480"/>
          </a:xfrm>
          <a:prstGeom prst="roundRect">
            <a:avLst>
              <a:gd name="adj" fmla="val 26667"/>
            </a:avLst>
          </a:prstGeom>
          <a:solidFill>
            <a:schemeClr val="accent1">
              <a:alpha val="10000"/>
            </a:schemeClr>
          </a:solidFill>
          <a:ln/>
        </p:spPr>
      </p:sp>
      <p:sp>
        <p:nvSpPr>
          <p:cNvPr id="33" name="Text 30"/>
          <p:cNvSpPr txBox="1"/>
          <p:nvPr/>
        </p:nvSpPr>
        <p:spPr>
          <a:xfrm>
            <a:off x="731520" y="5733288"/>
            <a:ext cx="10728655" cy="411480"/>
          </a:xfrm>
          <a:prstGeom prst="rect">
            <a:avLst/>
          </a:prstGeom>
          <a:noFill/>
          <a:ln/>
        </p:spPr>
        <p:txBody>
          <a:bodyPr wrap="square" lIns="0" tIns="0" rIns="0" bIns="0" rtlCol="0" anchor="ctr"/>
          <a:lstStyle/>
          <a:p>
            <a:pPr indent="0" marL="0">
              <a:buNone/>
            </a:pPr>
            <a:r>
              <a:rPr lang="en-US" sz="1200" b="1" dirty="0">
                <a:solidFill>
                  <a:schemeClr val="accent1"/>
                </a:solidFill>
              </a:rPr>
              <a:t>GOLD 2025: </a:t>
            </a:r>
            <a:pPr indent="0" marL="0">
              <a:buNone/>
            </a:pPr>
            <a:r>
              <a:rPr lang="en-US" sz="1200" dirty="0">
                <a:solidFill>
                  <a:schemeClr val="tx1"/>
                </a:solidFill>
              </a:rPr>
              <a:t>simptomi va xavf omili bor odamlarni faol izlash va spirometriya tavsiya etiladi — NafasNazorat buni birlamchi boʻgʻinga olib kiradi.</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MAʼLUMOTLAR BAZASI VA XAVFSIZLIK</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tx1"/>
                </a:solidFill>
              </a:rPr>
              <a:t>Maʼlumotlar qanday saqlanadi</a:t>
            </a:r>
            <a:endParaRPr lang="en-US" sz="2800" dirty="0"/>
          </a:p>
        </p:txBody>
      </p:sp>
      <p:sp>
        <p:nvSpPr>
          <p:cNvPr id="5" name="tbl-patients"/>
          <p:cNvSpPr/>
          <p:nvPr/>
        </p:nvSpPr>
        <p:spPr>
          <a:xfrm>
            <a:off x="548640" y="1554480"/>
            <a:ext cx="6172200" cy="1097280"/>
          </a:xfrm>
          <a:prstGeom prst="roundRect">
            <a:avLst>
              <a:gd name="adj" fmla="val 10000"/>
            </a:avLst>
          </a:prstGeom>
          <a:solidFill>
            <a:schemeClr val="accent1"/>
          </a:solidFill>
          <a:ln/>
        </p:spPr>
      </p:sp>
      <p:sp>
        <p:nvSpPr>
          <p:cNvPr id="6" name="Shape 3"/>
          <p:cNvSpPr/>
          <p:nvPr/>
        </p:nvSpPr>
        <p:spPr>
          <a:xfrm>
            <a:off x="749808" y="1810512"/>
            <a:ext cx="566928" cy="566928"/>
          </a:xfrm>
          <a:prstGeom prst="roundRect">
            <a:avLst>
              <a:gd name="adj" fmla="val 24000"/>
            </a:avLst>
          </a:prstGeom>
          <a:solidFill>
            <a:schemeClr val="bg1"/>
          </a:solidFill>
          <a:ln/>
        </p:spPr>
      </p:sp>
      <p:pic>
        <p:nvPicPr>
          <p:cNvPr id="7" name="Image 0" descr="preencoded.png">    </p:cNvPr>
          <p:cNvPicPr>
            <a:picLocks noChangeAspect="1"/>
          </p:cNvPicPr>
          <p:nvPr/>
        </p:nvPicPr>
        <p:blipFill>
          <a:blip r:embed="rId1"/>
          <a:stretch>
            <a:fillRect/>
          </a:stretch>
        </p:blipFill>
        <p:spPr>
          <a:xfrm>
            <a:off x="885871" y="1946575"/>
            <a:ext cx="294803" cy="294803"/>
          </a:xfrm>
          <a:prstGeom prst="rect">
            <a:avLst/>
          </a:prstGeom>
        </p:spPr>
      </p:pic>
      <p:sp>
        <p:nvSpPr>
          <p:cNvPr id="8" name="Text 4"/>
          <p:cNvSpPr txBox="1"/>
          <p:nvPr/>
        </p:nvSpPr>
        <p:spPr>
          <a:xfrm>
            <a:off x="1508760" y="1664208"/>
            <a:ext cx="5029200" cy="292608"/>
          </a:xfrm>
          <a:prstGeom prst="rect">
            <a:avLst/>
          </a:prstGeom>
          <a:noFill/>
          <a:ln/>
        </p:spPr>
        <p:txBody>
          <a:bodyPr wrap="square" lIns="0" tIns="0" rIns="0" bIns="0" rtlCol="0" anchor="t"/>
          <a:lstStyle/>
          <a:p>
            <a:pPr indent="0" marL="0">
              <a:buNone/>
            </a:pPr>
            <a:r>
              <a:rPr lang="en-US" sz="1500" b="1" dirty="0">
                <a:solidFill>
                  <a:schemeClr val="bg1"/>
                </a:solidFill>
                <a:latin typeface="Courier New" pitchFamily="34" charset="0"/>
                <a:ea typeface="Courier New" pitchFamily="34" charset="-122"/>
                <a:cs typeface="Courier New" pitchFamily="34" charset="-120"/>
              </a:rPr>
              <a:t>patients</a:t>
            </a:r>
            <a:endParaRPr lang="en-US" sz="1500" dirty="0"/>
          </a:p>
        </p:txBody>
      </p:sp>
      <p:sp>
        <p:nvSpPr>
          <p:cNvPr id="9" name="Text 5"/>
          <p:cNvSpPr txBox="1"/>
          <p:nvPr/>
        </p:nvSpPr>
        <p:spPr>
          <a:xfrm>
            <a:off x="1508760" y="1965960"/>
            <a:ext cx="5029200" cy="594360"/>
          </a:xfrm>
          <a:prstGeom prst="rect">
            <a:avLst/>
          </a:prstGeom>
          <a:noFill/>
          <a:ln/>
        </p:spPr>
        <p:txBody>
          <a:bodyPr wrap="square" lIns="0" tIns="0" rIns="0" bIns="0" rtlCol="0" anchor="t"/>
          <a:lstStyle/>
          <a:p>
            <a:pPr indent="0" marL="0">
              <a:buNone/>
            </a:pPr>
            <a:r>
              <a:rPr lang="en-US" sz="1100" dirty="0">
                <a:solidFill>
                  <a:schemeClr val="bg1"/>
                </a:solidFill>
              </a:rPr>
              <a:t>Shaxsiy maʼlumot faqat shu yerda: F.I.Sh., tugʻilgan sana, telefon · psevdonim NN-XXXX-XXXX · tadqiqotga rozilik</a:t>
            </a:r>
            <a:endParaRPr lang="en-US" sz="1100" dirty="0"/>
          </a:p>
        </p:txBody>
      </p:sp>
      <p:sp>
        <p:nvSpPr>
          <p:cNvPr id="10" name="Shape 6"/>
          <p:cNvSpPr/>
          <p:nvPr/>
        </p:nvSpPr>
        <p:spPr>
          <a:xfrm>
            <a:off x="1516380" y="2651760"/>
            <a:ext cx="0" cy="411480"/>
          </a:xfrm>
          <a:prstGeom prst="line">
            <a:avLst/>
          </a:prstGeom>
          <a:noFill/>
          <a:ln w="19050">
            <a:solidFill>
              <a:schemeClr val="accent1"/>
            </a:solidFill>
            <a:prstDash val="solid"/>
          </a:ln>
        </p:spPr>
      </p:sp>
      <p:sp>
        <p:nvSpPr>
          <p:cNvPr id="11" name="tbl-assessments"/>
          <p:cNvSpPr/>
          <p:nvPr/>
        </p:nvSpPr>
        <p:spPr>
          <a:xfrm>
            <a:off x="548640" y="3063240"/>
            <a:ext cx="1935480" cy="1097280"/>
          </a:xfrm>
          <a:prstGeom prst="roundRect">
            <a:avLst>
              <a:gd name="adj" fmla="val 10000"/>
            </a:avLst>
          </a:prstGeom>
          <a:solidFill>
            <a:schemeClr val="accent1">
              <a:alpha val="12000"/>
            </a:schemeClr>
          </a:solidFill>
          <a:ln/>
        </p:spPr>
      </p:sp>
      <p:sp>
        <p:nvSpPr>
          <p:cNvPr id="12" name="Text 8"/>
          <p:cNvSpPr txBox="1"/>
          <p:nvPr/>
        </p:nvSpPr>
        <p:spPr>
          <a:xfrm>
            <a:off x="685800" y="3182112"/>
            <a:ext cx="1661160" cy="274320"/>
          </a:xfrm>
          <a:prstGeom prst="rect">
            <a:avLst/>
          </a:prstGeom>
          <a:noFill/>
          <a:ln/>
        </p:spPr>
        <p:txBody>
          <a:bodyPr wrap="square" lIns="0" tIns="0" rIns="0" bIns="0" rtlCol="0" anchor="t"/>
          <a:lstStyle/>
          <a:p>
            <a:pPr indent="0" marL="0">
              <a:buNone/>
            </a:pPr>
            <a:r>
              <a:rPr lang="en-US" sz="1150" b="1" dirty="0">
                <a:solidFill>
                  <a:schemeClr val="accent1"/>
                </a:solidFill>
                <a:latin typeface="Courier New" pitchFamily="34" charset="0"/>
                <a:ea typeface="Courier New" pitchFamily="34" charset="-122"/>
                <a:cs typeface="Courier New" pitchFamily="34" charset="-120"/>
              </a:rPr>
              <a:t>assessments</a:t>
            </a:r>
            <a:endParaRPr lang="en-US" sz="1150" dirty="0"/>
          </a:p>
        </p:txBody>
      </p:sp>
      <p:sp>
        <p:nvSpPr>
          <p:cNvPr id="13" name="Text 9"/>
          <p:cNvSpPr txBox="1"/>
          <p:nvPr/>
        </p:nvSpPr>
        <p:spPr>
          <a:xfrm>
            <a:off x="685800" y="3493008"/>
            <a:ext cx="1661160" cy="594360"/>
          </a:xfrm>
          <a:prstGeom prst="rect">
            <a:avLst/>
          </a:prstGeom>
          <a:noFill/>
          <a:ln/>
        </p:spPr>
        <p:txBody>
          <a:bodyPr wrap="square" lIns="0" tIns="0" rIns="0" bIns="0" rtlCol="0" anchor="t"/>
          <a:lstStyle/>
          <a:p>
            <a:pPr indent="0" marL="0">
              <a:buNone/>
            </a:pPr>
            <a:r>
              <a:rPr lang="en-US" sz="1100" dirty="0">
                <a:solidFill>
                  <a:schemeClr val="tx1"/>
                </a:solidFill>
              </a:rPr>
              <a:t>javoblar, ball, model versiyasi</a:t>
            </a:r>
            <a:endParaRPr lang="en-US" sz="1100" dirty="0"/>
          </a:p>
        </p:txBody>
      </p:sp>
      <p:sp>
        <p:nvSpPr>
          <p:cNvPr id="14" name="Shape 10"/>
          <p:cNvSpPr/>
          <p:nvPr/>
        </p:nvSpPr>
        <p:spPr>
          <a:xfrm>
            <a:off x="3634740" y="2651760"/>
            <a:ext cx="0" cy="411480"/>
          </a:xfrm>
          <a:prstGeom prst="line">
            <a:avLst/>
          </a:prstGeom>
          <a:noFill/>
          <a:ln w="19050">
            <a:solidFill>
              <a:schemeClr val="accent1"/>
            </a:solidFill>
            <a:prstDash val="solid"/>
          </a:ln>
        </p:spPr>
      </p:sp>
      <p:sp>
        <p:nvSpPr>
          <p:cNvPr id="15" name="tbl-spirometry_results"/>
          <p:cNvSpPr/>
          <p:nvPr/>
        </p:nvSpPr>
        <p:spPr>
          <a:xfrm>
            <a:off x="2667000" y="3063240"/>
            <a:ext cx="1935480" cy="1097280"/>
          </a:xfrm>
          <a:prstGeom prst="roundRect">
            <a:avLst>
              <a:gd name="adj" fmla="val 10000"/>
            </a:avLst>
          </a:prstGeom>
          <a:solidFill>
            <a:schemeClr val="accent1">
              <a:alpha val="12000"/>
            </a:schemeClr>
          </a:solidFill>
          <a:ln/>
        </p:spPr>
      </p:sp>
      <p:sp>
        <p:nvSpPr>
          <p:cNvPr id="16" name="Text 12"/>
          <p:cNvSpPr txBox="1"/>
          <p:nvPr/>
        </p:nvSpPr>
        <p:spPr>
          <a:xfrm>
            <a:off x="2804160" y="3182112"/>
            <a:ext cx="1661160" cy="274320"/>
          </a:xfrm>
          <a:prstGeom prst="rect">
            <a:avLst/>
          </a:prstGeom>
          <a:noFill/>
          <a:ln/>
        </p:spPr>
        <p:txBody>
          <a:bodyPr wrap="square" lIns="0" tIns="0" rIns="0" bIns="0" rtlCol="0" anchor="t"/>
          <a:lstStyle/>
          <a:p>
            <a:pPr indent="0" marL="0">
              <a:buNone/>
            </a:pPr>
            <a:r>
              <a:rPr lang="en-US" sz="1150" b="1" dirty="0">
                <a:solidFill>
                  <a:schemeClr val="accent1"/>
                </a:solidFill>
                <a:latin typeface="Courier New" pitchFamily="34" charset="0"/>
                <a:ea typeface="Courier New" pitchFamily="34" charset="-122"/>
                <a:cs typeface="Courier New" pitchFamily="34" charset="-120"/>
              </a:rPr>
              <a:t>spirometry_results</a:t>
            </a:r>
            <a:endParaRPr lang="en-US" sz="1150" dirty="0"/>
          </a:p>
        </p:txBody>
      </p:sp>
      <p:sp>
        <p:nvSpPr>
          <p:cNvPr id="17" name="Text 13"/>
          <p:cNvSpPr txBox="1"/>
          <p:nvPr/>
        </p:nvSpPr>
        <p:spPr>
          <a:xfrm>
            <a:off x="2804160" y="3493008"/>
            <a:ext cx="1661160" cy="594360"/>
          </a:xfrm>
          <a:prstGeom prst="rect">
            <a:avLst/>
          </a:prstGeom>
          <a:noFill/>
          <a:ln/>
        </p:spPr>
        <p:txBody>
          <a:bodyPr wrap="square" lIns="0" tIns="0" rIns="0" bIns="0" rtlCol="0" anchor="t"/>
          <a:lstStyle/>
          <a:p>
            <a:pPr indent="0" marL="0">
              <a:buNone/>
            </a:pPr>
            <a:r>
              <a:rPr lang="en-US" sz="1100" dirty="0">
                <a:solidFill>
                  <a:schemeClr val="tx1"/>
                </a:solidFill>
              </a:rPr>
              <a:t>qiymatlar, GLI-2012, talqin</a:t>
            </a:r>
            <a:endParaRPr lang="en-US" sz="1100" dirty="0"/>
          </a:p>
        </p:txBody>
      </p:sp>
      <p:sp>
        <p:nvSpPr>
          <p:cNvPr id="18" name="Shape 14"/>
          <p:cNvSpPr/>
          <p:nvPr/>
        </p:nvSpPr>
        <p:spPr>
          <a:xfrm>
            <a:off x="5753100" y="2651760"/>
            <a:ext cx="0" cy="411480"/>
          </a:xfrm>
          <a:prstGeom prst="line">
            <a:avLst/>
          </a:prstGeom>
          <a:noFill/>
          <a:ln w="19050">
            <a:solidFill>
              <a:schemeClr val="accent1"/>
            </a:solidFill>
            <a:prstDash val="solid"/>
          </a:ln>
        </p:spPr>
      </p:sp>
      <p:sp>
        <p:nvSpPr>
          <p:cNvPr id="19" name="tbl-referrals"/>
          <p:cNvSpPr/>
          <p:nvPr/>
        </p:nvSpPr>
        <p:spPr>
          <a:xfrm>
            <a:off x="4785360" y="3063240"/>
            <a:ext cx="1935480" cy="1097280"/>
          </a:xfrm>
          <a:prstGeom prst="roundRect">
            <a:avLst>
              <a:gd name="adj" fmla="val 10000"/>
            </a:avLst>
          </a:prstGeom>
          <a:solidFill>
            <a:schemeClr val="accent1">
              <a:alpha val="12000"/>
            </a:schemeClr>
          </a:solidFill>
          <a:ln/>
        </p:spPr>
      </p:sp>
      <p:sp>
        <p:nvSpPr>
          <p:cNvPr id="20" name="Text 16"/>
          <p:cNvSpPr txBox="1"/>
          <p:nvPr/>
        </p:nvSpPr>
        <p:spPr>
          <a:xfrm>
            <a:off x="4922520" y="3182112"/>
            <a:ext cx="1661160" cy="274320"/>
          </a:xfrm>
          <a:prstGeom prst="rect">
            <a:avLst/>
          </a:prstGeom>
          <a:noFill/>
          <a:ln/>
        </p:spPr>
        <p:txBody>
          <a:bodyPr wrap="square" lIns="0" tIns="0" rIns="0" bIns="0" rtlCol="0" anchor="t"/>
          <a:lstStyle/>
          <a:p>
            <a:pPr indent="0" marL="0">
              <a:buNone/>
            </a:pPr>
            <a:r>
              <a:rPr lang="en-US" sz="1150" b="1" dirty="0">
                <a:solidFill>
                  <a:schemeClr val="accent1"/>
                </a:solidFill>
                <a:latin typeface="Courier New" pitchFamily="34" charset="0"/>
                <a:ea typeface="Courier New" pitchFamily="34" charset="-122"/>
                <a:cs typeface="Courier New" pitchFamily="34" charset="-120"/>
              </a:rPr>
              <a:t>referrals</a:t>
            </a:r>
            <a:endParaRPr lang="en-US" sz="1150" dirty="0"/>
          </a:p>
        </p:txBody>
      </p:sp>
      <p:sp>
        <p:nvSpPr>
          <p:cNvPr id="21" name="Text 17"/>
          <p:cNvSpPr txBox="1"/>
          <p:nvPr/>
        </p:nvSpPr>
        <p:spPr>
          <a:xfrm>
            <a:off x="4922520" y="3493008"/>
            <a:ext cx="1661160" cy="594360"/>
          </a:xfrm>
          <a:prstGeom prst="rect">
            <a:avLst/>
          </a:prstGeom>
          <a:noFill/>
          <a:ln/>
        </p:spPr>
        <p:txBody>
          <a:bodyPr wrap="square" lIns="0" tIns="0" rIns="0" bIns="0" rtlCol="0" anchor="t"/>
          <a:lstStyle/>
          <a:p>
            <a:pPr indent="0" marL="0">
              <a:buNone/>
            </a:pPr>
            <a:r>
              <a:rPr lang="en-US" sz="1100" dirty="0">
                <a:solidFill>
                  <a:schemeClr val="tx1"/>
                </a:solidFill>
              </a:rPr>
              <a:t>yoʻllanma va uning holati</a:t>
            </a:r>
            <a:endParaRPr lang="en-US" sz="1100" dirty="0"/>
          </a:p>
        </p:txBody>
      </p:sp>
      <p:sp>
        <p:nvSpPr>
          <p:cNvPr id="22" name="Text 18"/>
          <p:cNvSpPr txBox="1"/>
          <p:nvPr/>
        </p:nvSpPr>
        <p:spPr>
          <a:xfrm>
            <a:off x="548640" y="4224528"/>
            <a:ext cx="6172200" cy="256032"/>
          </a:xfrm>
          <a:prstGeom prst="rect">
            <a:avLst/>
          </a:prstGeom>
          <a:noFill/>
          <a:ln/>
        </p:spPr>
        <p:txBody>
          <a:bodyPr wrap="square" lIns="0" tIns="0" rIns="0" bIns="0" rtlCol="0" anchor="t"/>
          <a:lstStyle/>
          <a:p>
            <a:pPr indent="0" marL="0">
              <a:buNone/>
            </a:pPr>
            <a:r>
              <a:rPr lang="en-US" sz="1000" i="1" dirty="0">
                <a:solidFill>
                  <a:schemeClr val="accent6"/>
                </a:solidFill>
              </a:rPr>
              <a:t>Klinik maʼlumot bemorga faqat ichki ID orqali bogʻlanadi</a:t>
            </a:r>
            <a:endParaRPr lang="en-US" sz="1000" dirty="0"/>
          </a:p>
        </p:txBody>
      </p:sp>
      <p:sp>
        <p:nvSpPr>
          <p:cNvPr id="23" name="tbl-users"/>
          <p:cNvSpPr/>
          <p:nvPr/>
        </p:nvSpPr>
        <p:spPr>
          <a:xfrm>
            <a:off x="548640" y="4617720"/>
            <a:ext cx="2994660" cy="1051560"/>
          </a:xfrm>
          <a:prstGeom prst="roundRect">
            <a:avLst>
              <a:gd name="adj" fmla="val 10435"/>
            </a:avLst>
          </a:prstGeom>
          <a:solidFill>
            <a:schemeClr val="bg2"/>
          </a:solidFill>
          <a:ln/>
        </p:spPr>
      </p:sp>
      <p:sp>
        <p:nvSpPr>
          <p:cNvPr id="24" name="Text 20"/>
          <p:cNvSpPr txBox="1"/>
          <p:nvPr/>
        </p:nvSpPr>
        <p:spPr>
          <a:xfrm>
            <a:off x="713232" y="4736592"/>
            <a:ext cx="2665476" cy="27432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users</a:t>
            </a:r>
            <a:endParaRPr lang="en-US" sz="1150" dirty="0"/>
          </a:p>
        </p:txBody>
      </p:sp>
      <p:sp>
        <p:nvSpPr>
          <p:cNvPr id="25" name="Text 21"/>
          <p:cNvSpPr txBox="1"/>
          <p:nvPr/>
        </p:nvSpPr>
        <p:spPr>
          <a:xfrm>
            <a:off x="713232" y="5047488"/>
            <a:ext cx="2665476" cy="548640"/>
          </a:xfrm>
          <a:prstGeom prst="rect">
            <a:avLst/>
          </a:prstGeom>
          <a:noFill/>
          <a:ln/>
        </p:spPr>
        <p:txBody>
          <a:bodyPr wrap="square" lIns="0" tIns="0" rIns="0" bIns="0" rtlCol="0" anchor="t"/>
          <a:lstStyle/>
          <a:p>
            <a:pPr indent="0" marL="0">
              <a:buNone/>
            </a:pPr>
            <a:r>
              <a:rPr lang="en-US" sz="1100" dirty="0">
                <a:solidFill>
                  <a:schemeClr val="accent6"/>
                </a:solidFill>
              </a:rPr>
              <a:t>rollar: shifokor, admin, tadqiqotchi</a:t>
            </a:r>
            <a:endParaRPr lang="en-US" sz="1100" dirty="0"/>
          </a:p>
          <a:p>
            <a:pPr indent="0" marL="0">
              <a:buNone/>
            </a:pPr>
            <a:r>
              <a:rPr lang="en-US" sz="1100" dirty="0">
                <a:solidFill>
                  <a:schemeClr val="accent6"/>
                </a:solidFill>
              </a:rPr>
              <a:t>parol — scrypt xeshi</a:t>
            </a:r>
            <a:endParaRPr lang="en-US" sz="1100" dirty="0"/>
          </a:p>
        </p:txBody>
      </p:sp>
      <p:sp>
        <p:nvSpPr>
          <p:cNvPr id="26" name="tbl-audit_events"/>
          <p:cNvSpPr/>
          <p:nvPr/>
        </p:nvSpPr>
        <p:spPr>
          <a:xfrm>
            <a:off x="3726180" y="4617720"/>
            <a:ext cx="2994660" cy="1051560"/>
          </a:xfrm>
          <a:prstGeom prst="roundRect">
            <a:avLst>
              <a:gd name="adj" fmla="val 10435"/>
            </a:avLst>
          </a:prstGeom>
          <a:solidFill>
            <a:schemeClr val="bg2"/>
          </a:solidFill>
          <a:ln/>
        </p:spPr>
      </p:sp>
      <p:sp>
        <p:nvSpPr>
          <p:cNvPr id="27" name="Text 23"/>
          <p:cNvSpPr txBox="1"/>
          <p:nvPr/>
        </p:nvSpPr>
        <p:spPr>
          <a:xfrm>
            <a:off x="3890772" y="4736592"/>
            <a:ext cx="2665476" cy="274320"/>
          </a:xfrm>
          <a:prstGeom prst="rect">
            <a:avLst/>
          </a:prstGeom>
          <a:noFill/>
          <a:ln/>
        </p:spPr>
        <p:txBody>
          <a:bodyPr wrap="square" lIns="0" tIns="0" rIns="0" bIns="0" rtlCol="0" anchor="t"/>
          <a:lstStyle/>
          <a:p>
            <a:pPr indent="0" marL="0">
              <a:buNone/>
            </a:pPr>
            <a:r>
              <a:rPr lang="en-US" sz="1150" b="1" dirty="0">
                <a:solidFill>
                  <a:schemeClr val="tx1"/>
                </a:solidFill>
                <a:latin typeface="Courier New" pitchFamily="34" charset="0"/>
                <a:ea typeface="Courier New" pitchFamily="34" charset="-122"/>
                <a:cs typeface="Courier New" pitchFamily="34" charset="-120"/>
              </a:rPr>
              <a:t>audit_events</a:t>
            </a:r>
            <a:endParaRPr lang="en-US" sz="1150" dirty="0"/>
          </a:p>
        </p:txBody>
      </p:sp>
      <p:sp>
        <p:nvSpPr>
          <p:cNvPr id="28" name="Text 24"/>
          <p:cNvSpPr txBox="1"/>
          <p:nvPr/>
        </p:nvSpPr>
        <p:spPr>
          <a:xfrm>
            <a:off x="3890772" y="5047488"/>
            <a:ext cx="2665476" cy="548640"/>
          </a:xfrm>
          <a:prstGeom prst="rect">
            <a:avLst/>
          </a:prstGeom>
          <a:noFill/>
          <a:ln/>
        </p:spPr>
        <p:txBody>
          <a:bodyPr wrap="square" lIns="0" tIns="0" rIns="0" bIns="0" rtlCol="0" anchor="t"/>
          <a:lstStyle/>
          <a:p>
            <a:pPr indent="0" marL="0">
              <a:buNone/>
            </a:pPr>
            <a:r>
              <a:rPr lang="en-US" sz="1100" dirty="0">
                <a:solidFill>
                  <a:schemeClr val="accent6"/>
                </a:solidFill>
              </a:rPr>
              <a:t>kim, qachon, qaysi maydon — qiymatsiz</a:t>
            </a:r>
            <a:endParaRPr lang="en-US" sz="1100" dirty="0"/>
          </a:p>
        </p:txBody>
      </p:sp>
      <p:sp>
        <p:nvSpPr>
          <p:cNvPr id="29" name="Shape 25"/>
          <p:cNvSpPr/>
          <p:nvPr/>
        </p:nvSpPr>
        <p:spPr>
          <a:xfrm>
            <a:off x="7086600" y="1572768"/>
            <a:ext cx="475488" cy="475488"/>
          </a:xfrm>
          <a:prstGeom prst="roundRect">
            <a:avLst>
              <a:gd name="adj" fmla="val 24000"/>
            </a:avLst>
          </a:prstGeom>
          <a:solidFill>
            <a:schemeClr val="accent1"/>
          </a:solidFill>
          <a:ln/>
        </p:spPr>
      </p:sp>
      <p:pic>
        <p:nvPicPr>
          <p:cNvPr id="30" name="Image 1" descr="preencoded.png">    </p:cNvPr>
          <p:cNvPicPr>
            <a:picLocks noChangeAspect="1"/>
          </p:cNvPicPr>
          <p:nvPr/>
        </p:nvPicPr>
        <p:blipFill>
          <a:blip r:embed="rId2"/>
          <a:stretch>
            <a:fillRect/>
          </a:stretch>
        </p:blipFill>
        <p:spPr>
          <a:xfrm>
            <a:off x="7200717" y="1686885"/>
            <a:ext cx="247254" cy="247254"/>
          </a:xfrm>
          <a:prstGeom prst="rect">
            <a:avLst/>
          </a:prstGeom>
        </p:spPr>
      </p:pic>
      <p:sp>
        <p:nvSpPr>
          <p:cNvPr id="31" name="Text 26"/>
          <p:cNvSpPr txBox="1"/>
          <p:nvPr/>
        </p:nvSpPr>
        <p:spPr>
          <a:xfrm>
            <a:off x="7726680" y="1545336"/>
            <a:ext cx="3916375" cy="292608"/>
          </a:xfrm>
          <a:prstGeom prst="rect">
            <a:avLst/>
          </a:prstGeom>
          <a:noFill/>
          <a:ln/>
        </p:spPr>
        <p:txBody>
          <a:bodyPr wrap="square" lIns="0" tIns="0" rIns="0" bIns="0" rtlCol="0" anchor="t"/>
          <a:lstStyle/>
          <a:p>
            <a:pPr indent="0" marL="0">
              <a:buNone/>
            </a:pPr>
            <a:r>
              <a:rPr lang="en-US" sz="1350" b="1" dirty="0">
                <a:solidFill>
                  <a:schemeClr val="tx1"/>
                </a:solidFill>
              </a:rPr>
              <a:t>SQLite + Docker volume</a:t>
            </a:r>
            <a:endParaRPr lang="en-US" sz="1350" dirty="0"/>
          </a:p>
        </p:txBody>
      </p:sp>
      <p:sp>
        <p:nvSpPr>
          <p:cNvPr id="32" name="Text 27"/>
          <p:cNvSpPr txBox="1"/>
          <p:nvPr/>
        </p:nvSpPr>
        <p:spPr>
          <a:xfrm>
            <a:off x="7726680" y="1837944"/>
            <a:ext cx="3916375" cy="457200"/>
          </a:xfrm>
          <a:prstGeom prst="rect">
            <a:avLst/>
          </a:prstGeom>
          <a:noFill/>
          <a:ln/>
        </p:spPr>
        <p:txBody>
          <a:bodyPr wrap="square" lIns="0" tIns="0" rIns="0" bIns="0" rtlCol="0" anchor="t"/>
          <a:lstStyle/>
          <a:p>
            <a:pPr indent="0" marL="0">
              <a:buNone/>
            </a:pPr>
            <a:r>
              <a:rPr lang="en-US" sz="1100" dirty="0">
                <a:solidFill>
                  <a:schemeClr val="accent6"/>
                </a:solidFill>
              </a:rPr>
              <a:t>~40–200 MB xotira; PostgreSQL bazasiga koʻchish tayyor</a:t>
            </a:r>
            <a:endParaRPr lang="en-US" sz="1100" dirty="0"/>
          </a:p>
        </p:txBody>
      </p:sp>
      <p:sp>
        <p:nvSpPr>
          <p:cNvPr id="33" name="Shape 28"/>
          <p:cNvSpPr/>
          <p:nvPr/>
        </p:nvSpPr>
        <p:spPr>
          <a:xfrm>
            <a:off x="7086600" y="2459736"/>
            <a:ext cx="475488" cy="475488"/>
          </a:xfrm>
          <a:prstGeom prst="roundRect">
            <a:avLst>
              <a:gd name="adj" fmla="val 24000"/>
            </a:avLst>
          </a:prstGeom>
          <a:solidFill>
            <a:schemeClr val="accent1"/>
          </a:solidFill>
          <a:ln/>
        </p:spPr>
      </p:sp>
      <p:pic>
        <p:nvPicPr>
          <p:cNvPr id="34" name="Image 2" descr="preencoded.png">    </p:cNvPr>
          <p:cNvPicPr>
            <a:picLocks noChangeAspect="1"/>
          </p:cNvPicPr>
          <p:nvPr/>
        </p:nvPicPr>
        <p:blipFill>
          <a:blip r:embed="rId3"/>
          <a:stretch>
            <a:fillRect/>
          </a:stretch>
        </p:blipFill>
        <p:spPr>
          <a:xfrm>
            <a:off x="7200717" y="2573853"/>
            <a:ext cx="247254" cy="247254"/>
          </a:xfrm>
          <a:prstGeom prst="rect">
            <a:avLst/>
          </a:prstGeom>
        </p:spPr>
      </p:pic>
      <p:sp>
        <p:nvSpPr>
          <p:cNvPr id="35" name="Text 29"/>
          <p:cNvSpPr txBox="1"/>
          <p:nvPr/>
        </p:nvSpPr>
        <p:spPr>
          <a:xfrm>
            <a:off x="7726680" y="2432304"/>
            <a:ext cx="3916375" cy="292608"/>
          </a:xfrm>
          <a:prstGeom prst="rect">
            <a:avLst/>
          </a:prstGeom>
          <a:noFill/>
          <a:ln/>
        </p:spPr>
        <p:txBody>
          <a:bodyPr wrap="square" lIns="0" tIns="0" rIns="0" bIns="0" rtlCol="0" anchor="t"/>
          <a:lstStyle/>
          <a:p>
            <a:pPr indent="0" marL="0">
              <a:buNone/>
            </a:pPr>
            <a:r>
              <a:rPr lang="en-US" sz="1350" b="1" dirty="0">
                <a:solidFill>
                  <a:schemeClr val="tx1"/>
                </a:solidFill>
              </a:rPr>
              <a:t>Har kuni 02:30 zaxira nusxa</a:t>
            </a:r>
            <a:endParaRPr lang="en-US" sz="1350" dirty="0"/>
          </a:p>
        </p:txBody>
      </p:sp>
      <p:sp>
        <p:nvSpPr>
          <p:cNvPr id="36" name="Text 30"/>
          <p:cNvSpPr txBox="1"/>
          <p:nvPr/>
        </p:nvSpPr>
        <p:spPr>
          <a:xfrm>
            <a:off x="7726680" y="2724912"/>
            <a:ext cx="3916375" cy="457200"/>
          </a:xfrm>
          <a:prstGeom prst="rect">
            <a:avLst/>
          </a:prstGeom>
          <a:noFill/>
          <a:ln/>
        </p:spPr>
        <p:txBody>
          <a:bodyPr wrap="square" lIns="0" tIns="0" rIns="0" bIns="0" rtlCol="0" anchor="t"/>
          <a:lstStyle/>
          <a:p>
            <a:pPr indent="0" marL="0">
              <a:buNone/>
            </a:pPr>
            <a:r>
              <a:rPr lang="en-US" sz="1100" dirty="0">
                <a:solidFill>
                  <a:schemeClr val="accent6"/>
                </a:solidFill>
              </a:rPr>
              <a:t>Oxirgi 14 nusxa saqlanadi</a:t>
            </a:r>
            <a:endParaRPr lang="en-US" sz="1100" dirty="0"/>
          </a:p>
        </p:txBody>
      </p:sp>
      <p:sp>
        <p:nvSpPr>
          <p:cNvPr id="37" name="Shape 31"/>
          <p:cNvSpPr/>
          <p:nvPr/>
        </p:nvSpPr>
        <p:spPr>
          <a:xfrm>
            <a:off x="7086600" y="3346704"/>
            <a:ext cx="475488" cy="475488"/>
          </a:xfrm>
          <a:prstGeom prst="roundRect">
            <a:avLst>
              <a:gd name="adj" fmla="val 24000"/>
            </a:avLst>
          </a:prstGeom>
          <a:solidFill>
            <a:schemeClr val="accent1"/>
          </a:solidFill>
          <a:ln/>
        </p:spPr>
      </p:sp>
      <p:pic>
        <p:nvPicPr>
          <p:cNvPr id="38" name="Image 3" descr="preencoded.png">    </p:cNvPr>
          <p:cNvPicPr>
            <a:picLocks noChangeAspect="1"/>
          </p:cNvPicPr>
          <p:nvPr/>
        </p:nvPicPr>
        <p:blipFill>
          <a:blip r:embed="rId4"/>
          <a:stretch>
            <a:fillRect/>
          </a:stretch>
        </p:blipFill>
        <p:spPr>
          <a:xfrm>
            <a:off x="7200717" y="3460821"/>
            <a:ext cx="247254" cy="247254"/>
          </a:xfrm>
          <a:prstGeom prst="rect">
            <a:avLst/>
          </a:prstGeom>
        </p:spPr>
      </p:pic>
      <p:sp>
        <p:nvSpPr>
          <p:cNvPr id="39" name="Text 32"/>
          <p:cNvSpPr txBox="1"/>
          <p:nvPr/>
        </p:nvSpPr>
        <p:spPr>
          <a:xfrm>
            <a:off x="7726680" y="3319272"/>
            <a:ext cx="3916375" cy="292608"/>
          </a:xfrm>
          <a:prstGeom prst="rect">
            <a:avLst/>
          </a:prstGeom>
          <a:noFill/>
          <a:ln/>
        </p:spPr>
        <p:txBody>
          <a:bodyPr wrap="square" lIns="0" tIns="0" rIns="0" bIns="0" rtlCol="0" anchor="t"/>
          <a:lstStyle/>
          <a:p>
            <a:pPr indent="0" marL="0">
              <a:buNone/>
            </a:pPr>
            <a:r>
              <a:rPr lang="en-US" sz="1350" b="1" dirty="0">
                <a:solidFill>
                  <a:schemeClr val="tx1"/>
                </a:solidFill>
              </a:rPr>
              <a:t>Tadqiqot — faqat rozilik bilan</a:t>
            </a:r>
            <a:endParaRPr lang="en-US" sz="1350" dirty="0"/>
          </a:p>
        </p:txBody>
      </p:sp>
      <p:sp>
        <p:nvSpPr>
          <p:cNvPr id="40" name="Text 33"/>
          <p:cNvSpPr txBox="1"/>
          <p:nvPr/>
        </p:nvSpPr>
        <p:spPr>
          <a:xfrm>
            <a:off x="7726680" y="3611880"/>
            <a:ext cx="3916375" cy="457200"/>
          </a:xfrm>
          <a:prstGeom prst="rect">
            <a:avLst/>
          </a:prstGeom>
          <a:noFill/>
          <a:ln/>
        </p:spPr>
        <p:txBody>
          <a:bodyPr wrap="square" lIns="0" tIns="0" rIns="0" bIns="0" rtlCol="0" anchor="t"/>
          <a:lstStyle/>
          <a:p>
            <a:pPr indent="0" marL="0">
              <a:buNone/>
            </a:pPr>
            <a:r>
              <a:rPr lang="en-US" sz="1100" dirty="0">
                <a:solidFill>
                  <a:schemeClr val="accent6"/>
                </a:solidFill>
              </a:rPr>
              <a:t>Anonim eksport CSV / JSON: ism va telefonsiz</a:t>
            </a:r>
            <a:endParaRPr lang="en-US" sz="1100" dirty="0"/>
          </a:p>
        </p:txBody>
      </p:sp>
      <p:sp>
        <p:nvSpPr>
          <p:cNvPr id="41" name="Shape 34"/>
          <p:cNvSpPr/>
          <p:nvPr/>
        </p:nvSpPr>
        <p:spPr>
          <a:xfrm>
            <a:off x="7086600" y="4233672"/>
            <a:ext cx="475488" cy="475488"/>
          </a:xfrm>
          <a:prstGeom prst="roundRect">
            <a:avLst>
              <a:gd name="adj" fmla="val 24000"/>
            </a:avLst>
          </a:prstGeom>
          <a:solidFill>
            <a:schemeClr val="accent1"/>
          </a:solidFill>
          <a:ln/>
        </p:spPr>
      </p:sp>
      <p:pic>
        <p:nvPicPr>
          <p:cNvPr id="42" name="Image 4" descr="preencoded.png">    </p:cNvPr>
          <p:cNvPicPr>
            <a:picLocks noChangeAspect="1"/>
          </p:cNvPicPr>
          <p:nvPr/>
        </p:nvPicPr>
        <p:blipFill>
          <a:blip r:embed="rId5"/>
          <a:stretch>
            <a:fillRect/>
          </a:stretch>
        </p:blipFill>
        <p:spPr>
          <a:xfrm>
            <a:off x="7200717" y="4347789"/>
            <a:ext cx="247254" cy="247254"/>
          </a:xfrm>
          <a:prstGeom prst="rect">
            <a:avLst/>
          </a:prstGeom>
        </p:spPr>
      </p:pic>
      <p:sp>
        <p:nvSpPr>
          <p:cNvPr id="43" name="Text 35"/>
          <p:cNvSpPr txBox="1"/>
          <p:nvPr/>
        </p:nvSpPr>
        <p:spPr>
          <a:xfrm>
            <a:off x="7726680" y="4206240"/>
            <a:ext cx="3916375" cy="292608"/>
          </a:xfrm>
          <a:prstGeom prst="rect">
            <a:avLst/>
          </a:prstGeom>
          <a:noFill/>
          <a:ln/>
        </p:spPr>
        <p:txBody>
          <a:bodyPr wrap="square" lIns="0" tIns="0" rIns="0" bIns="0" rtlCol="0" anchor="t"/>
          <a:lstStyle/>
          <a:p>
            <a:pPr indent="0" marL="0">
              <a:buNone/>
            </a:pPr>
            <a:r>
              <a:rPr lang="en-US" sz="1350" b="1" dirty="0">
                <a:solidFill>
                  <a:schemeClr val="tx1"/>
                </a:solidFill>
              </a:rPr>
              <a:t>HTTPS · rollar · audit</a:t>
            </a:r>
            <a:endParaRPr lang="en-US" sz="1350" dirty="0"/>
          </a:p>
        </p:txBody>
      </p:sp>
      <p:sp>
        <p:nvSpPr>
          <p:cNvPr id="44" name="Text 36"/>
          <p:cNvSpPr txBox="1"/>
          <p:nvPr/>
        </p:nvSpPr>
        <p:spPr>
          <a:xfrm>
            <a:off x="7726680" y="4498848"/>
            <a:ext cx="3916375" cy="457200"/>
          </a:xfrm>
          <a:prstGeom prst="rect">
            <a:avLst/>
          </a:prstGeom>
          <a:noFill/>
          <a:ln/>
        </p:spPr>
        <p:txBody>
          <a:bodyPr wrap="square" lIns="0" tIns="0" rIns="0" bIns="0" rtlCol="0" anchor="t"/>
          <a:lstStyle/>
          <a:p>
            <a:pPr indent="0" marL="0">
              <a:buNone/>
            </a:pPr>
            <a:r>
              <a:rPr lang="en-US" sz="1100" dirty="0">
                <a:solidFill>
                  <a:schemeClr val="accent6"/>
                </a:solidFill>
              </a:rPr>
              <a:t>Loglarda shaxsiy maʼlumot yoʻq</a:t>
            </a:r>
            <a:endParaRPr lang="en-US" sz="1100" dirty="0"/>
          </a:p>
        </p:txBody>
      </p:sp>
      <p:sp>
        <p:nvSpPr>
          <p:cNvPr id="45" name="Shape 37"/>
          <p:cNvSpPr/>
          <p:nvPr/>
        </p:nvSpPr>
        <p:spPr>
          <a:xfrm>
            <a:off x="7086600" y="5120640"/>
            <a:ext cx="475488" cy="475488"/>
          </a:xfrm>
          <a:prstGeom prst="roundRect">
            <a:avLst>
              <a:gd name="adj" fmla="val 24000"/>
            </a:avLst>
          </a:prstGeom>
          <a:solidFill>
            <a:schemeClr val="accent3"/>
          </a:solidFill>
          <a:ln/>
        </p:spPr>
      </p:sp>
      <p:pic>
        <p:nvPicPr>
          <p:cNvPr id="46" name="Image 5" descr="preencoded.png">    </p:cNvPr>
          <p:cNvPicPr>
            <a:picLocks noChangeAspect="1"/>
          </p:cNvPicPr>
          <p:nvPr/>
        </p:nvPicPr>
        <p:blipFill>
          <a:blip r:embed="rId6"/>
          <a:stretch>
            <a:fillRect/>
          </a:stretch>
        </p:blipFill>
        <p:spPr>
          <a:xfrm>
            <a:off x="7200717" y="5234757"/>
            <a:ext cx="247254" cy="247254"/>
          </a:xfrm>
          <a:prstGeom prst="rect">
            <a:avLst/>
          </a:prstGeom>
        </p:spPr>
      </p:pic>
      <p:sp>
        <p:nvSpPr>
          <p:cNvPr id="47" name="Text 38"/>
          <p:cNvSpPr txBox="1"/>
          <p:nvPr/>
        </p:nvSpPr>
        <p:spPr>
          <a:xfrm>
            <a:off x="7726680" y="5093208"/>
            <a:ext cx="3916375" cy="292608"/>
          </a:xfrm>
          <a:prstGeom prst="rect">
            <a:avLst/>
          </a:prstGeom>
          <a:noFill/>
          <a:ln/>
        </p:spPr>
        <p:txBody>
          <a:bodyPr wrap="square" lIns="0" tIns="0" rIns="0" bIns="0" rtlCol="0" anchor="t"/>
          <a:lstStyle/>
          <a:p>
            <a:pPr indent="0" marL="0">
              <a:buNone/>
            </a:pPr>
            <a:r>
              <a:rPr lang="en-US" sz="1350" b="1" dirty="0">
                <a:solidFill>
                  <a:schemeClr val="tx1"/>
                </a:solidFill>
              </a:rPr>
              <a:t>Pilotdan oldin: server Oʻzbekistonda</a:t>
            </a:r>
            <a:endParaRPr lang="en-US" sz="1350" dirty="0"/>
          </a:p>
        </p:txBody>
      </p:sp>
      <p:sp>
        <p:nvSpPr>
          <p:cNvPr id="48" name="Text 39"/>
          <p:cNvSpPr txBox="1"/>
          <p:nvPr/>
        </p:nvSpPr>
        <p:spPr>
          <a:xfrm>
            <a:off x="7726680" y="5385816"/>
            <a:ext cx="3916375" cy="457200"/>
          </a:xfrm>
          <a:prstGeom prst="rect">
            <a:avLst/>
          </a:prstGeom>
          <a:noFill/>
          <a:ln/>
        </p:spPr>
        <p:txBody>
          <a:bodyPr wrap="square" lIns="0" tIns="0" rIns="0" bIns="0" rtlCol="0" anchor="t"/>
          <a:lstStyle/>
          <a:p>
            <a:pPr indent="0" marL="0">
              <a:buNone/>
            </a:pPr>
            <a:r>
              <a:rPr lang="en-US" sz="1100" dirty="0">
                <a:solidFill>
                  <a:schemeClr val="accent6"/>
                </a:solidFill>
              </a:rPr>
              <a:t>«Shaxsga doir maʼlumotlar toʻgʻrisida»gi qonun, 27¹-modda</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chemeClr val="accent5"/>
                </a:solidFill>
              </a:rPr>
              <a:t>TAYYORLIK VA SOʻROV</a:t>
            </a:r>
            <a:endParaRPr lang="en-US" sz="1100" dirty="0"/>
          </a:p>
        </p:txBody>
      </p:sp>
      <p:sp>
        <p:nvSpPr>
          <p:cNvPr id="3" name="Text 1"/>
          <p:cNvSpPr/>
          <p:nvPr>
            <p:ph idx="102" type="title" hasCustomPrompt="1"/>
          </p:nvPr>
        </p:nvSpPr>
        <p:spPr>
          <a:xfrm>
            <a:off x="548640" y="658368"/>
            <a:ext cx="11094415" cy="640080"/>
          </a:xfrm>
          <a:prstGeom prst="rect">
            <a:avLst/>
          </a:prstGeom>
          <a:noFill/>
          <a:ln/>
        </p:spPr>
        <p:txBody>
          <a:bodyPr wrap="square" lIns="0" tIns="0" rIns="0" bIns="0" rtlCol="0" anchor="t"/>
          <a:lstStyle/>
          <a:p>
            <a:pPr algn="l" indent="0" marL="0">
              <a:buNone/>
            </a:pPr>
            <a:r>
              <a:rPr lang="en-US" sz="2800" b="1" dirty="0">
                <a:solidFill>
                  <a:schemeClr val="bg1"/>
                </a:solidFill>
              </a:rPr>
              <a:t>Asos tayyor — pilot uchun hamkorlik kerak</a:t>
            </a:r>
            <a:endParaRPr lang="en-US" sz="2800" dirty="0"/>
          </a:p>
        </p:txBody>
      </p:sp>
      <p:sp>
        <p:nvSpPr>
          <p:cNvPr id="5" name="Text 2"/>
          <p:cNvSpPr txBox="1"/>
          <p:nvPr/>
        </p:nvSpPr>
        <p:spPr>
          <a:xfrm>
            <a:off x="548640" y="1554480"/>
            <a:ext cx="5303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BUGUN ISHLAYDI</a:t>
            </a:r>
            <a:endParaRPr lang="en-US" sz="1100" dirty="0"/>
          </a:p>
        </p:txBody>
      </p:sp>
      <p:pic>
        <p:nvPicPr>
          <p:cNvPr id="6" name="Image 0" descr="preencoded.png">    </p:cNvPr>
          <p:cNvPicPr>
            <a:picLocks noChangeAspect="1"/>
          </p:cNvPicPr>
          <p:nvPr/>
        </p:nvPicPr>
        <p:blipFill>
          <a:blip r:embed="rId1"/>
          <a:stretch>
            <a:fillRect/>
          </a:stretch>
        </p:blipFill>
        <p:spPr>
          <a:xfrm>
            <a:off x="548640" y="1984248"/>
            <a:ext cx="292608" cy="292608"/>
          </a:xfrm>
          <a:prstGeom prst="rect">
            <a:avLst/>
          </a:prstGeom>
        </p:spPr>
      </p:pic>
      <p:sp>
        <p:nvSpPr>
          <p:cNvPr id="7" name="Text 3"/>
          <p:cNvSpPr txBox="1"/>
          <p:nvPr/>
        </p:nvSpPr>
        <p:spPr>
          <a:xfrm>
            <a:off x="1005840" y="1965960"/>
            <a:ext cx="4937760" cy="347472"/>
          </a:xfrm>
          <a:prstGeom prst="rect">
            <a:avLst/>
          </a:prstGeom>
          <a:noFill/>
          <a:ln/>
        </p:spPr>
        <p:txBody>
          <a:bodyPr wrap="square" lIns="0" tIns="0" rIns="0" bIns="0" rtlCol="0" anchor="ctr"/>
          <a:lstStyle/>
          <a:p>
            <a:pPr indent="0" marL="0">
              <a:buNone/>
            </a:pPr>
            <a:r>
              <a:rPr lang="en-US" sz="1400" dirty="0">
                <a:solidFill>
                  <a:schemeClr val="bg1"/>
                </a:solidFill>
              </a:rPr>
              <a:t>19 ballik xavf modeli va ochiq izohi (/metodika)</a:t>
            </a:r>
            <a:endParaRPr lang="en-US" sz="1400" dirty="0"/>
          </a:p>
        </p:txBody>
      </p:sp>
      <p:pic>
        <p:nvPicPr>
          <p:cNvPr id="8" name="Image 1" descr="preencoded.png">    </p:cNvPr>
          <p:cNvPicPr>
            <a:picLocks noChangeAspect="1"/>
          </p:cNvPicPr>
          <p:nvPr/>
        </p:nvPicPr>
        <p:blipFill>
          <a:blip r:embed="rId2"/>
          <a:stretch>
            <a:fillRect/>
          </a:stretch>
        </p:blipFill>
        <p:spPr>
          <a:xfrm>
            <a:off x="548640" y="2532888"/>
            <a:ext cx="292608" cy="292608"/>
          </a:xfrm>
          <a:prstGeom prst="rect">
            <a:avLst/>
          </a:prstGeom>
        </p:spPr>
      </p:pic>
      <p:sp>
        <p:nvSpPr>
          <p:cNvPr id="9" name="Text 4"/>
          <p:cNvSpPr txBox="1"/>
          <p:nvPr/>
        </p:nvSpPr>
        <p:spPr>
          <a:xfrm>
            <a:off x="1005840" y="2514600"/>
            <a:ext cx="4937760" cy="347472"/>
          </a:xfrm>
          <a:prstGeom prst="rect">
            <a:avLst/>
          </a:prstGeom>
          <a:noFill/>
          <a:ln/>
        </p:spPr>
        <p:txBody>
          <a:bodyPr wrap="square" lIns="0" tIns="0" rIns="0" bIns="0" rtlCol="0" anchor="ctr"/>
          <a:lstStyle/>
          <a:p>
            <a:pPr indent="0" marL="0">
              <a:buNone/>
            </a:pPr>
            <a:r>
              <a:rPr lang="en-US" sz="1400" dirty="0">
                <a:solidFill>
                  <a:schemeClr val="bg1"/>
                </a:solidFill>
              </a:rPr>
              <a:t>Spirometriya talqini: GLI-2012, LLN, GOLD</a:t>
            </a:r>
            <a:endParaRPr lang="en-US" sz="1400" dirty="0"/>
          </a:p>
        </p:txBody>
      </p:sp>
      <p:pic>
        <p:nvPicPr>
          <p:cNvPr id="10" name="Image 2" descr="preencoded.png">    </p:cNvPr>
          <p:cNvPicPr>
            <a:picLocks noChangeAspect="1"/>
          </p:cNvPicPr>
          <p:nvPr/>
        </p:nvPicPr>
        <p:blipFill>
          <a:blip r:embed="rId3"/>
          <a:stretch>
            <a:fillRect/>
          </a:stretch>
        </p:blipFill>
        <p:spPr>
          <a:xfrm>
            <a:off x="548640" y="3081528"/>
            <a:ext cx="292608" cy="292608"/>
          </a:xfrm>
          <a:prstGeom prst="rect">
            <a:avLst/>
          </a:prstGeom>
        </p:spPr>
      </p:pic>
      <p:sp>
        <p:nvSpPr>
          <p:cNvPr id="11" name="Text 5"/>
          <p:cNvSpPr txBox="1"/>
          <p:nvPr/>
        </p:nvSpPr>
        <p:spPr>
          <a:xfrm>
            <a:off x="1005840" y="3063240"/>
            <a:ext cx="4937760" cy="347472"/>
          </a:xfrm>
          <a:prstGeom prst="rect">
            <a:avLst/>
          </a:prstGeom>
          <a:noFill/>
          <a:ln/>
        </p:spPr>
        <p:txBody>
          <a:bodyPr wrap="square" lIns="0" tIns="0" rIns="0" bIns="0" rtlCol="0" anchor="ctr"/>
          <a:lstStyle/>
          <a:p>
            <a:pPr indent="0" marL="0">
              <a:buNone/>
            </a:pPr>
            <a:r>
              <a:rPr lang="en-US" sz="1400" dirty="0">
                <a:solidFill>
                  <a:schemeClr val="bg1"/>
                </a:solidFill>
              </a:rPr>
              <a:t>Bemorlar paneli, kartasi, yoʻllanma va muddatlar</a:t>
            </a:r>
            <a:endParaRPr lang="en-US" sz="1400" dirty="0"/>
          </a:p>
        </p:txBody>
      </p:sp>
      <p:pic>
        <p:nvPicPr>
          <p:cNvPr id="12" name="Image 3" descr="preencoded.png">    </p:cNvPr>
          <p:cNvPicPr>
            <a:picLocks noChangeAspect="1"/>
          </p:cNvPicPr>
          <p:nvPr/>
        </p:nvPicPr>
        <p:blipFill>
          <a:blip r:embed="rId4"/>
          <a:stretch>
            <a:fillRect/>
          </a:stretch>
        </p:blipFill>
        <p:spPr>
          <a:xfrm>
            <a:off x="548640" y="3630168"/>
            <a:ext cx="292608" cy="292608"/>
          </a:xfrm>
          <a:prstGeom prst="rect">
            <a:avLst/>
          </a:prstGeom>
        </p:spPr>
      </p:pic>
      <p:sp>
        <p:nvSpPr>
          <p:cNvPr id="13" name="Text 6"/>
          <p:cNvSpPr txBox="1"/>
          <p:nvPr/>
        </p:nvSpPr>
        <p:spPr>
          <a:xfrm>
            <a:off x="1005840" y="3611880"/>
            <a:ext cx="4937760" cy="347472"/>
          </a:xfrm>
          <a:prstGeom prst="rect">
            <a:avLst/>
          </a:prstGeom>
          <a:noFill/>
          <a:ln/>
        </p:spPr>
        <p:txBody>
          <a:bodyPr wrap="square" lIns="0" tIns="0" rIns="0" bIns="0" rtlCol="0" anchor="ctr"/>
          <a:lstStyle/>
          <a:p>
            <a:pPr indent="0" marL="0">
              <a:buNone/>
            </a:pPr>
            <a:r>
              <a:rPr lang="en-US" sz="1400" dirty="0">
                <a:solidFill>
                  <a:schemeClr val="bg1"/>
                </a:solidFill>
              </a:rPr>
              <a:t>Rollar, audit jurnali, anonim tadqiqot eksporti</a:t>
            </a:r>
            <a:endParaRPr lang="en-US" sz="1400" dirty="0"/>
          </a:p>
        </p:txBody>
      </p:sp>
      <p:pic>
        <p:nvPicPr>
          <p:cNvPr id="14" name="Image 4" descr="preencoded.png">    </p:cNvPr>
          <p:cNvPicPr>
            <a:picLocks noChangeAspect="1"/>
          </p:cNvPicPr>
          <p:nvPr/>
        </p:nvPicPr>
        <p:blipFill>
          <a:blip r:embed="rId5"/>
          <a:stretch>
            <a:fillRect/>
          </a:stretch>
        </p:blipFill>
        <p:spPr>
          <a:xfrm>
            <a:off x="548640" y="4178808"/>
            <a:ext cx="292608" cy="292608"/>
          </a:xfrm>
          <a:prstGeom prst="rect">
            <a:avLst/>
          </a:prstGeom>
        </p:spPr>
      </p:pic>
      <p:sp>
        <p:nvSpPr>
          <p:cNvPr id="15" name="Text 7"/>
          <p:cNvSpPr txBox="1"/>
          <p:nvPr/>
        </p:nvSpPr>
        <p:spPr>
          <a:xfrm>
            <a:off x="1005840" y="4160520"/>
            <a:ext cx="4937760" cy="347472"/>
          </a:xfrm>
          <a:prstGeom prst="rect">
            <a:avLst/>
          </a:prstGeom>
          <a:noFill/>
          <a:ln/>
        </p:spPr>
        <p:txBody>
          <a:bodyPr wrap="square" lIns="0" tIns="0" rIns="0" bIns="0" rtlCol="0" anchor="ctr"/>
          <a:lstStyle/>
          <a:p>
            <a:pPr indent="0" marL="0">
              <a:buNone/>
            </a:pPr>
            <a:r>
              <a:rPr lang="en-US" sz="1400" dirty="0">
                <a:solidFill>
                  <a:schemeClr val="bg1"/>
                </a:solidFill>
              </a:rPr>
              <a:t>82 ta avtomatik test · HTTPS · kunlik zaxira</a:t>
            </a:r>
            <a:endParaRPr lang="en-US" sz="1400" dirty="0"/>
          </a:p>
        </p:txBody>
      </p:sp>
      <p:pic>
        <p:nvPicPr>
          <p:cNvPr id="16" name="Image 5" descr="preencoded.png">    </p:cNvPr>
          <p:cNvPicPr>
            <a:picLocks noChangeAspect="1"/>
          </p:cNvPicPr>
          <p:nvPr/>
        </p:nvPicPr>
        <p:blipFill>
          <a:blip r:embed="rId6"/>
          <a:stretch>
            <a:fillRect/>
          </a:stretch>
        </p:blipFill>
        <p:spPr>
          <a:xfrm>
            <a:off x="548640" y="4727448"/>
            <a:ext cx="292608" cy="292608"/>
          </a:xfrm>
          <a:prstGeom prst="rect">
            <a:avLst/>
          </a:prstGeom>
        </p:spPr>
      </p:pic>
      <p:sp>
        <p:nvSpPr>
          <p:cNvPr id="17" name="Text 8"/>
          <p:cNvSpPr txBox="1"/>
          <p:nvPr/>
        </p:nvSpPr>
        <p:spPr>
          <a:xfrm>
            <a:off x="1005840" y="4709160"/>
            <a:ext cx="4937760" cy="347472"/>
          </a:xfrm>
          <a:prstGeom prst="rect">
            <a:avLst/>
          </a:prstGeom>
          <a:noFill/>
          <a:ln/>
        </p:spPr>
        <p:txBody>
          <a:bodyPr wrap="square" lIns="0" tIns="0" rIns="0" bIns="0" rtlCol="0" anchor="ctr"/>
          <a:lstStyle/>
          <a:p>
            <a:pPr indent="0" marL="0">
              <a:buNone/>
            </a:pPr>
            <a:r>
              <a:rPr lang="en-US" sz="1400" dirty="0">
                <a:solidFill>
                  <a:schemeClr val="bg1"/>
                </a:solidFill>
              </a:rPr>
              <a:t>Jonli demo: nafas.plagiatx.uz — «Demoni koʻrish»</a:t>
            </a:r>
            <a:endParaRPr lang="en-US" sz="1400" dirty="0"/>
          </a:p>
        </p:txBody>
      </p:sp>
      <p:sp>
        <p:nvSpPr>
          <p:cNvPr id="18" name="Text 9"/>
          <p:cNvSpPr txBox="1"/>
          <p:nvPr/>
        </p:nvSpPr>
        <p:spPr>
          <a:xfrm>
            <a:off x="6355080" y="1554480"/>
            <a:ext cx="5303520" cy="274320"/>
          </a:xfrm>
          <a:prstGeom prst="rect">
            <a:avLst/>
          </a:prstGeom>
          <a:noFill/>
          <a:ln/>
        </p:spPr>
        <p:txBody>
          <a:bodyPr wrap="square" lIns="0" tIns="0" rIns="0" bIns="0" rtlCol="0" anchor="t"/>
          <a:lstStyle/>
          <a:p>
            <a:pPr indent="0" marL="0">
              <a:buNone/>
            </a:pPr>
            <a:r>
              <a:rPr lang="en-US" sz="1100" b="1" spc="200" kern="0" dirty="0">
                <a:solidFill>
                  <a:schemeClr val="accent5"/>
                </a:solidFill>
              </a:rPr>
              <a:t>BIZGA KERAK</a:t>
            </a:r>
            <a:endParaRPr lang="en-US" sz="1100" dirty="0"/>
          </a:p>
        </p:txBody>
      </p:sp>
      <p:sp>
        <p:nvSpPr>
          <p:cNvPr id="19" name="Shape 10"/>
          <p:cNvSpPr/>
          <p:nvPr/>
        </p:nvSpPr>
        <p:spPr>
          <a:xfrm>
            <a:off x="6355080" y="1938528"/>
            <a:ext cx="5287975" cy="960120"/>
          </a:xfrm>
          <a:prstGeom prst="roundRect">
            <a:avLst>
              <a:gd name="adj" fmla="val 11429"/>
            </a:avLst>
          </a:prstGeom>
          <a:solidFill>
            <a:schemeClr val="bg1">
              <a:alpha val="8000"/>
            </a:schemeClr>
          </a:solidFill>
          <a:ln w="9525">
            <a:solidFill>
              <a:schemeClr val="accent5">
                <a:alpha val="30000"/>
              </a:schemeClr>
            </a:solidFill>
            <a:prstDash val="solid"/>
          </a:ln>
        </p:spPr>
      </p:sp>
      <p:sp>
        <p:nvSpPr>
          <p:cNvPr id="20" name="Shape 11"/>
          <p:cNvSpPr/>
          <p:nvPr/>
        </p:nvSpPr>
        <p:spPr>
          <a:xfrm>
            <a:off x="6583680" y="2157984"/>
            <a:ext cx="521208" cy="521208"/>
          </a:xfrm>
          <a:prstGeom prst="roundRect">
            <a:avLst>
              <a:gd name="adj" fmla="val 24000"/>
            </a:avLst>
          </a:prstGeom>
          <a:solidFill>
            <a:schemeClr val="accent5"/>
          </a:solidFill>
          <a:ln/>
        </p:spPr>
      </p:sp>
      <p:pic>
        <p:nvPicPr>
          <p:cNvPr id="21" name="Image 6" descr="preencoded.png">    </p:cNvPr>
          <p:cNvPicPr>
            <a:picLocks noChangeAspect="1"/>
          </p:cNvPicPr>
          <p:nvPr/>
        </p:nvPicPr>
        <p:blipFill>
          <a:blip r:embed="rId7"/>
          <a:stretch>
            <a:fillRect/>
          </a:stretch>
        </p:blipFill>
        <p:spPr>
          <a:xfrm>
            <a:off x="6708770" y="2283074"/>
            <a:ext cx="271028" cy="271028"/>
          </a:xfrm>
          <a:prstGeom prst="rect">
            <a:avLst/>
          </a:prstGeom>
        </p:spPr>
      </p:pic>
      <p:sp>
        <p:nvSpPr>
          <p:cNvPr id="22" name="Text 12"/>
          <p:cNvSpPr txBox="1"/>
          <p:nvPr/>
        </p:nvSpPr>
        <p:spPr>
          <a:xfrm>
            <a:off x="7315200" y="2093976"/>
            <a:ext cx="4099255" cy="329184"/>
          </a:xfrm>
          <a:prstGeom prst="rect">
            <a:avLst/>
          </a:prstGeom>
          <a:noFill/>
          <a:ln/>
        </p:spPr>
        <p:txBody>
          <a:bodyPr wrap="square" lIns="0" tIns="0" rIns="0" bIns="0" rtlCol="0" anchor="t"/>
          <a:lstStyle/>
          <a:p>
            <a:pPr indent="0" marL="0">
              <a:buNone/>
            </a:pPr>
            <a:r>
              <a:rPr lang="en-US" sz="1700" b="1" dirty="0">
                <a:solidFill>
                  <a:schemeClr val="bg1"/>
                </a:solidFill>
              </a:rPr>
              <a:t>Pilot punktlar</a:t>
            </a:r>
            <a:endParaRPr lang="en-US" sz="1700" dirty="0"/>
          </a:p>
        </p:txBody>
      </p:sp>
      <p:sp>
        <p:nvSpPr>
          <p:cNvPr id="23" name="Text 13"/>
          <p:cNvSpPr txBox="1"/>
          <p:nvPr/>
        </p:nvSpPr>
        <p:spPr>
          <a:xfrm>
            <a:off x="7315200" y="2441448"/>
            <a:ext cx="4099255" cy="320040"/>
          </a:xfrm>
          <a:prstGeom prst="rect">
            <a:avLst/>
          </a:prstGeom>
          <a:noFill/>
          <a:ln/>
        </p:spPr>
        <p:txBody>
          <a:bodyPr wrap="square" lIns="0" tIns="0" rIns="0" bIns="0" rtlCol="0" anchor="t"/>
          <a:lstStyle/>
          <a:p>
            <a:pPr indent="0" marL="0">
              <a:buNone/>
            </a:pPr>
            <a:r>
              <a:rPr lang="en-US" sz="1200" dirty="0">
                <a:solidFill>
                  <a:schemeClr val="bg2"/>
                </a:solidFill>
              </a:rPr>
              <a:t>Oilaviy poliklinika va QVP — real bemorlarda sinov</a:t>
            </a:r>
            <a:endParaRPr lang="en-US" sz="1200" dirty="0"/>
          </a:p>
        </p:txBody>
      </p:sp>
      <p:sp>
        <p:nvSpPr>
          <p:cNvPr id="24" name="Shape 14"/>
          <p:cNvSpPr/>
          <p:nvPr/>
        </p:nvSpPr>
        <p:spPr>
          <a:xfrm>
            <a:off x="6355080" y="3054096"/>
            <a:ext cx="5287975" cy="960120"/>
          </a:xfrm>
          <a:prstGeom prst="roundRect">
            <a:avLst>
              <a:gd name="adj" fmla="val 11429"/>
            </a:avLst>
          </a:prstGeom>
          <a:solidFill>
            <a:schemeClr val="bg1">
              <a:alpha val="8000"/>
            </a:schemeClr>
          </a:solidFill>
          <a:ln w="9525">
            <a:solidFill>
              <a:schemeClr val="accent5">
                <a:alpha val="30000"/>
              </a:schemeClr>
            </a:solidFill>
            <a:prstDash val="solid"/>
          </a:ln>
        </p:spPr>
      </p:sp>
      <p:sp>
        <p:nvSpPr>
          <p:cNvPr id="25" name="Shape 15"/>
          <p:cNvSpPr/>
          <p:nvPr/>
        </p:nvSpPr>
        <p:spPr>
          <a:xfrm>
            <a:off x="6583680" y="3273552"/>
            <a:ext cx="521208" cy="521208"/>
          </a:xfrm>
          <a:prstGeom prst="roundRect">
            <a:avLst>
              <a:gd name="adj" fmla="val 24000"/>
            </a:avLst>
          </a:prstGeom>
          <a:solidFill>
            <a:schemeClr val="accent5"/>
          </a:solidFill>
          <a:ln/>
        </p:spPr>
      </p:sp>
      <p:pic>
        <p:nvPicPr>
          <p:cNvPr id="26" name="Image 7" descr="preencoded.png">    </p:cNvPr>
          <p:cNvPicPr>
            <a:picLocks noChangeAspect="1"/>
          </p:cNvPicPr>
          <p:nvPr/>
        </p:nvPicPr>
        <p:blipFill>
          <a:blip r:embed="rId8"/>
          <a:stretch>
            <a:fillRect/>
          </a:stretch>
        </p:blipFill>
        <p:spPr>
          <a:xfrm>
            <a:off x="6708770" y="3398642"/>
            <a:ext cx="271028" cy="271028"/>
          </a:xfrm>
          <a:prstGeom prst="rect">
            <a:avLst/>
          </a:prstGeom>
        </p:spPr>
      </p:pic>
      <p:sp>
        <p:nvSpPr>
          <p:cNvPr id="27" name="Text 16"/>
          <p:cNvSpPr txBox="1"/>
          <p:nvPr/>
        </p:nvSpPr>
        <p:spPr>
          <a:xfrm>
            <a:off x="7315200" y="3209544"/>
            <a:ext cx="4099255" cy="329184"/>
          </a:xfrm>
          <a:prstGeom prst="rect">
            <a:avLst/>
          </a:prstGeom>
          <a:noFill/>
          <a:ln/>
        </p:spPr>
        <p:txBody>
          <a:bodyPr wrap="square" lIns="0" tIns="0" rIns="0" bIns="0" rtlCol="0" anchor="t"/>
          <a:lstStyle/>
          <a:p>
            <a:pPr indent="0" marL="0">
              <a:buNone/>
            </a:pPr>
            <a:r>
              <a:rPr lang="en-US" sz="1700" b="1" dirty="0">
                <a:solidFill>
                  <a:schemeClr val="bg1"/>
                </a:solidFill>
              </a:rPr>
              <a:t>Pulmonolog</a:t>
            </a:r>
            <a:endParaRPr lang="en-US" sz="1700" dirty="0"/>
          </a:p>
        </p:txBody>
      </p:sp>
      <p:sp>
        <p:nvSpPr>
          <p:cNvPr id="28" name="Text 17"/>
          <p:cNvSpPr txBox="1"/>
          <p:nvPr/>
        </p:nvSpPr>
        <p:spPr>
          <a:xfrm>
            <a:off x="7315200" y="3557016"/>
            <a:ext cx="4099255" cy="320040"/>
          </a:xfrm>
          <a:prstGeom prst="rect">
            <a:avLst/>
          </a:prstGeom>
          <a:noFill/>
          <a:ln/>
        </p:spPr>
        <p:txBody>
          <a:bodyPr wrap="square" lIns="0" tIns="0" rIns="0" bIns="0" rtlCol="0" anchor="t"/>
          <a:lstStyle/>
          <a:p>
            <a:pPr indent="0" marL="0">
              <a:buNone/>
            </a:pPr>
            <a:r>
              <a:rPr lang="en-US" sz="1200" dirty="0">
                <a:solidFill>
                  <a:schemeClr val="bg2"/>
                </a:solidFill>
              </a:rPr>
              <a:t>Model ogʻirliklari va CAT tarjimasini klinik tasdiqlash</a:t>
            </a:r>
            <a:endParaRPr lang="en-US" sz="1200" dirty="0"/>
          </a:p>
        </p:txBody>
      </p:sp>
      <p:sp>
        <p:nvSpPr>
          <p:cNvPr id="29" name="Shape 18"/>
          <p:cNvSpPr/>
          <p:nvPr/>
        </p:nvSpPr>
        <p:spPr>
          <a:xfrm>
            <a:off x="6355080" y="4169664"/>
            <a:ext cx="5287975" cy="960120"/>
          </a:xfrm>
          <a:prstGeom prst="roundRect">
            <a:avLst>
              <a:gd name="adj" fmla="val 11429"/>
            </a:avLst>
          </a:prstGeom>
          <a:solidFill>
            <a:schemeClr val="bg1">
              <a:alpha val="8000"/>
            </a:schemeClr>
          </a:solidFill>
          <a:ln w="9525">
            <a:solidFill>
              <a:schemeClr val="accent5">
                <a:alpha val="30000"/>
              </a:schemeClr>
            </a:solidFill>
            <a:prstDash val="solid"/>
          </a:ln>
        </p:spPr>
      </p:sp>
      <p:sp>
        <p:nvSpPr>
          <p:cNvPr id="30" name="Shape 19"/>
          <p:cNvSpPr/>
          <p:nvPr/>
        </p:nvSpPr>
        <p:spPr>
          <a:xfrm>
            <a:off x="6583680" y="4389120"/>
            <a:ext cx="521208" cy="521208"/>
          </a:xfrm>
          <a:prstGeom prst="roundRect">
            <a:avLst>
              <a:gd name="adj" fmla="val 24000"/>
            </a:avLst>
          </a:prstGeom>
          <a:solidFill>
            <a:schemeClr val="accent5"/>
          </a:solidFill>
          <a:ln/>
        </p:spPr>
      </p:sp>
      <p:pic>
        <p:nvPicPr>
          <p:cNvPr id="31" name="Image 8" descr="preencoded.png">    </p:cNvPr>
          <p:cNvPicPr>
            <a:picLocks noChangeAspect="1"/>
          </p:cNvPicPr>
          <p:nvPr/>
        </p:nvPicPr>
        <p:blipFill>
          <a:blip r:embed="rId9"/>
          <a:stretch>
            <a:fillRect/>
          </a:stretch>
        </p:blipFill>
        <p:spPr>
          <a:xfrm>
            <a:off x="6708770" y="4514210"/>
            <a:ext cx="271028" cy="271028"/>
          </a:xfrm>
          <a:prstGeom prst="rect">
            <a:avLst/>
          </a:prstGeom>
        </p:spPr>
      </p:pic>
      <p:sp>
        <p:nvSpPr>
          <p:cNvPr id="32" name="Text 20"/>
          <p:cNvSpPr txBox="1"/>
          <p:nvPr/>
        </p:nvSpPr>
        <p:spPr>
          <a:xfrm>
            <a:off x="7315200" y="4325112"/>
            <a:ext cx="4099255" cy="329184"/>
          </a:xfrm>
          <a:prstGeom prst="rect">
            <a:avLst/>
          </a:prstGeom>
          <a:noFill/>
          <a:ln/>
        </p:spPr>
        <p:txBody>
          <a:bodyPr wrap="square" lIns="0" tIns="0" rIns="0" bIns="0" rtlCol="0" anchor="t"/>
          <a:lstStyle/>
          <a:p>
            <a:pPr indent="0" marL="0">
              <a:buNone/>
            </a:pPr>
            <a:r>
              <a:rPr lang="en-US" sz="1700" b="1" dirty="0">
                <a:solidFill>
                  <a:schemeClr val="bg1"/>
                </a:solidFill>
              </a:rPr>
              <a:t>Grant</a:t>
            </a:r>
            <a:endParaRPr lang="en-US" sz="1700" dirty="0"/>
          </a:p>
        </p:txBody>
      </p:sp>
      <p:sp>
        <p:nvSpPr>
          <p:cNvPr id="33" name="Text 21"/>
          <p:cNvSpPr txBox="1"/>
          <p:nvPr/>
        </p:nvSpPr>
        <p:spPr>
          <a:xfrm>
            <a:off x="7315200" y="4672584"/>
            <a:ext cx="4099255" cy="320040"/>
          </a:xfrm>
          <a:prstGeom prst="rect">
            <a:avLst/>
          </a:prstGeom>
          <a:noFill/>
          <a:ln/>
        </p:spPr>
        <p:txBody>
          <a:bodyPr wrap="square" lIns="0" tIns="0" rIns="0" bIns="0" rtlCol="0" anchor="t"/>
          <a:lstStyle/>
          <a:p>
            <a:pPr indent="0" marL="0">
              <a:buNone/>
            </a:pPr>
            <a:r>
              <a:rPr lang="en-US" sz="1200" dirty="0">
                <a:solidFill>
                  <a:schemeClr val="bg2"/>
                </a:solidFill>
              </a:rPr>
              <a:t>Portativ spirometrlar va validatsiya tadqiqoti</a:t>
            </a:r>
            <a:endParaRPr lang="en-US" sz="1200" dirty="0"/>
          </a:p>
        </p:txBody>
      </p:sp>
      <p:sp>
        <p:nvSpPr>
          <p:cNvPr id="34" name="Text 22"/>
          <p:cNvSpPr txBox="1"/>
          <p:nvPr/>
        </p:nvSpPr>
        <p:spPr>
          <a:xfrm>
            <a:off x="548640" y="5669280"/>
            <a:ext cx="6400800" cy="457200"/>
          </a:xfrm>
          <a:prstGeom prst="rect">
            <a:avLst/>
          </a:prstGeom>
          <a:noFill/>
          <a:ln/>
        </p:spPr>
        <p:txBody>
          <a:bodyPr wrap="square" lIns="0" tIns="0" rIns="0" bIns="0" rtlCol="0" anchor="ctr"/>
          <a:lstStyle/>
          <a:p>
            <a:pPr indent="0" marL="0">
              <a:buNone/>
            </a:pPr>
            <a:r>
              <a:rPr lang="en-US" sz="2200" b="1" dirty="0">
                <a:solidFill>
                  <a:schemeClr val="bg1"/>
                </a:solidFill>
              </a:rPr>
              <a:t>Rahmat! Savollaringizga tayyorman.</a:t>
            </a:r>
            <a:endParaRPr lang="en-US" sz="2200" dirty="0"/>
          </a:p>
        </p:txBody>
      </p:sp>
      <p:sp>
        <p:nvSpPr>
          <p:cNvPr id="35" name="Text 23"/>
          <p:cNvSpPr txBox="1"/>
          <p:nvPr/>
        </p:nvSpPr>
        <p:spPr>
          <a:xfrm>
            <a:off x="7985455" y="5669280"/>
            <a:ext cx="3657600" cy="457200"/>
          </a:xfrm>
          <a:prstGeom prst="rect">
            <a:avLst/>
          </a:prstGeom>
          <a:noFill/>
          <a:ln/>
        </p:spPr>
        <p:txBody>
          <a:bodyPr wrap="square" lIns="0" tIns="0" rIns="0" bIns="0" rtlCol="0" anchor="ctr"/>
          <a:lstStyle/>
          <a:p>
            <a:pPr algn="r" indent="0" marL="0">
              <a:buNone/>
            </a:pPr>
            <a:r>
              <a:rPr lang="en-US" sz="1600" b="1" dirty="0">
                <a:solidFill>
                  <a:schemeClr val="accent5"/>
                </a:solidFill>
              </a:rPr>
              <a:t>nafas.plagiatx.uz</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NafasNazorat">
  <a:themeElements>
    <a:clrScheme name="NafasNazorat">
      <a:dk1>
        <a:srgbClr val="0F172A"/>
      </a:dk1>
      <a:lt1>
        <a:srgbClr val="FFFFFF"/>
      </a:lt1>
      <a:dk2>
        <a:srgbClr val="0E1A2B"/>
      </a:dk2>
      <a:lt2>
        <a:srgbClr val="F1F5F8"/>
      </a:lt2>
      <a:accent1>
        <a:srgbClr val="0B6E7F"/>
      </a:accent1>
      <a:accent2>
        <a:srgbClr val="15803D"/>
      </a:accent2>
      <a:accent3>
        <a:srgbClr val="B45309"/>
      </a:accent3>
      <a:accent4>
        <a:srgbClr val="B91C1C"/>
      </a:accent4>
      <a:accent5>
        <a:srgbClr val="5EEAD4"/>
      </a:accent5>
      <a:accent6>
        <a:srgbClr val="5B6676"/>
      </a:accent6>
      <a:hlink>
        <a:srgbClr val="0B6E7F"/>
      </a:hlink>
      <a:folHlink>
        <a:srgbClr val="0E5563"/>
      </a:folHlink>
    </a:clrScheme>
    <a:fontScheme name="NafasNazora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NafasNazorat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NafasNazorat — loyiha taqdimoti</dc:title>
  <dc:subject>PptxGenJS Presentation</dc:subject>
  <dc:creator>NafasNazorat jamoasi</dc:creator>
  <cp:lastModifiedBy>NafasNazorat jamoasi</cp:lastModifiedBy>
  <cp:revision>1</cp:revision>
  <dcterms:created xsi:type="dcterms:W3CDTF">2026-10-19T09:44:03Z</dcterms:created>
  <dcterms:modified xsi:type="dcterms:W3CDTF">2026-10-19T09:44:03Z</dcterms:modified>
</cp:coreProperties>
</file>